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9"/>
  </p:notesMasterIdLst>
  <p:sldIdLst>
    <p:sldId id="261" r:id="rId2"/>
    <p:sldId id="257" r:id="rId3"/>
    <p:sldId id="280" r:id="rId4"/>
    <p:sldId id="289" r:id="rId5"/>
    <p:sldId id="295" r:id="rId6"/>
    <p:sldId id="263" r:id="rId7"/>
    <p:sldId id="291" r:id="rId8"/>
    <p:sldId id="293" r:id="rId9"/>
    <p:sldId id="288" r:id="rId10"/>
    <p:sldId id="279" r:id="rId11"/>
    <p:sldId id="298" r:id="rId12"/>
    <p:sldId id="299" r:id="rId13"/>
    <p:sldId id="297" r:id="rId14"/>
    <p:sldId id="260" r:id="rId15"/>
    <p:sldId id="281" r:id="rId16"/>
    <p:sldId id="282" r:id="rId17"/>
    <p:sldId id="25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71"/>
    <p:restoredTop sz="94807"/>
  </p:normalViewPr>
  <p:slideViewPr>
    <p:cSldViewPr snapToGrid="0">
      <p:cViewPr varScale="1">
        <p:scale>
          <a:sx n="68" d="100"/>
          <a:sy n="68" d="100"/>
        </p:scale>
        <p:origin x="192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23A16FB-5DE9-4596-8684-1B75F70141A5}" type="doc">
      <dgm:prSet loTypeId="urn:microsoft.com/office/officeart/2005/8/layout/cycle2" loCatId="cycle" qsTypeId="urn:microsoft.com/office/officeart/2005/8/quickstyle/simple2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9205AB9A-C7F9-4BDA-A876-179B297AEF0C}">
      <dgm:prSet phldrT="[Text]" custT="1"/>
      <dgm:spPr/>
      <dgm:t>
        <a:bodyPr/>
        <a:lstStyle/>
        <a:p>
          <a:r>
            <a:rPr lang="en-US" sz="2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Data-Acquistion Stage</a:t>
          </a:r>
          <a:endParaRPr lang="en-US" sz="2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4612B8B-1F8E-4125-B8C5-6527779D5EF8}" type="parTrans" cxnId="{9D5B4D75-0833-425B-9702-DD4FFB68D01D}">
      <dgm:prSet/>
      <dgm:spPr/>
      <dgm:t>
        <a:bodyPr/>
        <a:lstStyle/>
        <a:p>
          <a:endParaRPr lang="en-US"/>
        </a:p>
      </dgm:t>
    </dgm:pt>
    <dgm:pt modelId="{94947346-8133-4BBC-BBF5-3E897A8FE558}" type="sibTrans" cxnId="{9D5B4D75-0833-425B-9702-DD4FFB68D01D}">
      <dgm:prSet custT="1"/>
      <dgm:spPr/>
      <dgm:t>
        <a:bodyPr/>
        <a:lstStyle/>
        <a:p>
          <a:endParaRPr lang="en-US" sz="2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2EC35E7-7E93-4D51-AE53-2394B255862D}">
      <dgm:prSet phldrT="[Text]" custT="1"/>
      <dgm:spPr/>
      <dgm:t>
        <a:bodyPr/>
        <a:lstStyle/>
        <a:p>
          <a:r>
            <a:rPr lang="en-US" sz="2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Risk-Analysis Stage</a:t>
          </a:r>
          <a:endParaRPr lang="en-US" sz="2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02373D8-067D-4020-9FCE-14456B2CBD28}" type="parTrans" cxnId="{EE28C7F7-9947-4877-BBEC-90B35DB447EF}">
      <dgm:prSet/>
      <dgm:spPr/>
      <dgm:t>
        <a:bodyPr/>
        <a:lstStyle/>
        <a:p>
          <a:endParaRPr lang="en-US"/>
        </a:p>
      </dgm:t>
    </dgm:pt>
    <dgm:pt modelId="{EB95161A-E788-4B15-8D4E-FC3E9467F5B4}" type="sibTrans" cxnId="{EE28C7F7-9947-4877-BBEC-90B35DB447EF}">
      <dgm:prSet custT="1"/>
      <dgm:spPr/>
      <dgm:t>
        <a:bodyPr/>
        <a:lstStyle/>
        <a:p>
          <a:endParaRPr lang="en-US" sz="2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A99E05B-80B7-48F9-93A6-61D71E6C3C4D}">
      <dgm:prSet phldrT="[Text]" custT="1"/>
      <dgm:spPr/>
      <dgm:t>
        <a:bodyPr/>
        <a:lstStyle/>
        <a:p>
          <a:r>
            <a: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Prediction Stage</a:t>
          </a:r>
        </a:p>
      </dgm:t>
    </dgm:pt>
    <dgm:pt modelId="{B76554DB-8F30-4A28-A76A-4EB382044EEB}" type="parTrans" cxnId="{0F62D126-EDDA-4D4F-84A9-25DB332FC5DA}">
      <dgm:prSet/>
      <dgm:spPr/>
      <dgm:t>
        <a:bodyPr/>
        <a:lstStyle/>
        <a:p>
          <a:endParaRPr lang="en-US"/>
        </a:p>
      </dgm:t>
    </dgm:pt>
    <dgm:pt modelId="{B78D0678-6DEC-4480-ACC1-432A668C4717}" type="sibTrans" cxnId="{0F62D126-EDDA-4D4F-84A9-25DB332FC5DA}">
      <dgm:prSet custT="1"/>
      <dgm:spPr/>
      <dgm:t>
        <a:bodyPr/>
        <a:lstStyle/>
        <a:p>
          <a:endParaRPr lang="en-US" sz="2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D91A01F-698E-4965-B955-22CA174F5B0D}">
      <dgm:prSet phldrT="[Text]" custT="1"/>
      <dgm:spPr/>
      <dgm:t>
        <a:bodyPr/>
        <a:lstStyle/>
        <a:p>
          <a:r>
            <a:rPr lang="en-US" sz="2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Alert Stage</a:t>
          </a:r>
          <a:endParaRPr lang="en-US" sz="2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6F4514E-9104-43C7-A33E-5849ECEFE577}" type="parTrans" cxnId="{C8C02CD5-E3B1-4B33-B9D8-971D5D5F5A1C}">
      <dgm:prSet/>
      <dgm:spPr/>
      <dgm:t>
        <a:bodyPr/>
        <a:lstStyle/>
        <a:p>
          <a:endParaRPr lang="en-US"/>
        </a:p>
      </dgm:t>
    </dgm:pt>
    <dgm:pt modelId="{A27320A9-FC12-450B-B002-7FB4992EB78D}" type="sibTrans" cxnId="{C8C02CD5-E3B1-4B33-B9D8-971D5D5F5A1C}">
      <dgm:prSet custT="1"/>
      <dgm:spPr/>
      <dgm:t>
        <a:bodyPr/>
        <a:lstStyle/>
        <a:p>
          <a:endParaRPr lang="en-US" sz="2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9A028A5-5601-4EBF-8DD3-FC4C2420E78B}">
      <dgm:prSet phldrT="[Text]" custT="1"/>
      <dgm:spPr/>
      <dgm:t>
        <a:bodyPr/>
        <a:lstStyle/>
        <a:p>
          <a:r>
            <a:rPr lang="en-US" sz="2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Offline Synchronisation Stage</a:t>
          </a:r>
          <a:endParaRPr lang="en-US" sz="2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9378905-CECD-49A3-AC5E-3B3DF8264072}" type="parTrans" cxnId="{02C14DA0-A216-4767-9C0D-D8864F88F0C3}">
      <dgm:prSet/>
      <dgm:spPr/>
      <dgm:t>
        <a:bodyPr/>
        <a:lstStyle/>
        <a:p>
          <a:endParaRPr lang="en-US"/>
        </a:p>
      </dgm:t>
    </dgm:pt>
    <dgm:pt modelId="{1BE58905-815A-41F1-88D0-EAAF6C503148}" type="sibTrans" cxnId="{02C14DA0-A216-4767-9C0D-D8864F88F0C3}">
      <dgm:prSet custT="1"/>
      <dgm:spPr/>
      <dgm:t>
        <a:bodyPr/>
        <a:lstStyle/>
        <a:p>
          <a:endParaRPr lang="en-US" sz="2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319B96F-8225-4790-8DA8-26563FC146CC}" type="pres">
      <dgm:prSet presAssocID="{923A16FB-5DE9-4596-8684-1B75F70141A5}" presName="cycle" presStyleCnt="0">
        <dgm:presLayoutVars>
          <dgm:dir/>
          <dgm:resizeHandles val="exact"/>
        </dgm:presLayoutVars>
      </dgm:prSet>
      <dgm:spPr/>
    </dgm:pt>
    <dgm:pt modelId="{9BA893E5-90FD-4316-9B33-4F9DF4CB4965}" type="pres">
      <dgm:prSet presAssocID="{9205AB9A-C7F9-4BDA-A876-179B297AEF0C}" presName="node" presStyleLbl="node1" presStyleIdx="0" presStyleCnt="5" custScaleX="206593" custRadScaleRad="100056">
        <dgm:presLayoutVars>
          <dgm:bulletEnabled val="1"/>
        </dgm:presLayoutVars>
      </dgm:prSet>
      <dgm:spPr/>
    </dgm:pt>
    <dgm:pt modelId="{D145D15F-B50A-49E0-9EC6-04413E8231A0}" type="pres">
      <dgm:prSet presAssocID="{94947346-8133-4BBC-BBF5-3E897A8FE558}" presName="sibTrans" presStyleLbl="sibTrans2D1" presStyleIdx="0" presStyleCnt="5" custScaleX="206592"/>
      <dgm:spPr/>
    </dgm:pt>
    <dgm:pt modelId="{F4800AFD-284A-41B3-A469-D2288E525BC1}" type="pres">
      <dgm:prSet presAssocID="{94947346-8133-4BBC-BBF5-3E897A8FE558}" presName="connectorText" presStyleLbl="sibTrans2D1" presStyleIdx="0" presStyleCnt="5"/>
      <dgm:spPr/>
    </dgm:pt>
    <dgm:pt modelId="{55D43F6E-41CA-49A5-BA7D-B907ADBC5409}" type="pres">
      <dgm:prSet presAssocID="{82EC35E7-7E93-4D51-AE53-2394B255862D}" presName="node" presStyleLbl="node1" presStyleIdx="1" presStyleCnt="5" custScaleX="206593" custRadScaleRad="208262" custRadScaleInc="27860">
        <dgm:presLayoutVars>
          <dgm:bulletEnabled val="1"/>
        </dgm:presLayoutVars>
      </dgm:prSet>
      <dgm:spPr/>
    </dgm:pt>
    <dgm:pt modelId="{A56D5319-615B-43CB-BCE1-E71A126192C5}" type="pres">
      <dgm:prSet presAssocID="{EB95161A-E788-4B15-8D4E-FC3E9467F5B4}" presName="sibTrans" presStyleLbl="sibTrans2D1" presStyleIdx="1" presStyleCnt="5" custScaleX="206593"/>
      <dgm:spPr/>
    </dgm:pt>
    <dgm:pt modelId="{AAED0212-3340-4D14-B43E-9778C50E771F}" type="pres">
      <dgm:prSet presAssocID="{EB95161A-E788-4B15-8D4E-FC3E9467F5B4}" presName="connectorText" presStyleLbl="sibTrans2D1" presStyleIdx="1" presStyleCnt="5"/>
      <dgm:spPr/>
    </dgm:pt>
    <dgm:pt modelId="{17066ACC-B65B-423F-BD46-F6283707756F}" type="pres">
      <dgm:prSet presAssocID="{0A99E05B-80B7-48F9-93A6-61D71E6C3C4D}" presName="node" presStyleLbl="node1" presStyleIdx="2" presStyleCnt="5" custScaleX="206593" custRadScaleRad="154304" custRadScaleInc="-67846">
        <dgm:presLayoutVars>
          <dgm:bulletEnabled val="1"/>
        </dgm:presLayoutVars>
      </dgm:prSet>
      <dgm:spPr/>
    </dgm:pt>
    <dgm:pt modelId="{ED050BF6-6D0A-4BF7-8617-D734285474D5}" type="pres">
      <dgm:prSet presAssocID="{B78D0678-6DEC-4480-ACC1-432A668C4717}" presName="sibTrans" presStyleLbl="sibTrans2D1" presStyleIdx="2" presStyleCnt="5" custScaleX="206593"/>
      <dgm:spPr/>
    </dgm:pt>
    <dgm:pt modelId="{46727E26-BBB8-4E15-AF86-72E4C96CC21A}" type="pres">
      <dgm:prSet presAssocID="{B78D0678-6DEC-4480-ACC1-432A668C4717}" presName="connectorText" presStyleLbl="sibTrans2D1" presStyleIdx="2" presStyleCnt="5"/>
      <dgm:spPr/>
    </dgm:pt>
    <dgm:pt modelId="{3EA7F52D-9A0E-4C60-B849-BF830C49BC03}" type="pres">
      <dgm:prSet presAssocID="{4D91A01F-698E-4965-B955-22CA174F5B0D}" presName="node" presStyleLbl="node1" presStyleIdx="3" presStyleCnt="5" custScaleX="206593" custRadScaleRad="168524" custRadScaleInc="75369">
        <dgm:presLayoutVars>
          <dgm:bulletEnabled val="1"/>
        </dgm:presLayoutVars>
      </dgm:prSet>
      <dgm:spPr/>
    </dgm:pt>
    <dgm:pt modelId="{7F3339F9-A86C-4AAD-8A78-13B496AB1EC4}" type="pres">
      <dgm:prSet presAssocID="{A27320A9-FC12-450B-B002-7FB4992EB78D}" presName="sibTrans" presStyleLbl="sibTrans2D1" presStyleIdx="3" presStyleCnt="5" custScaleX="206593"/>
      <dgm:spPr/>
    </dgm:pt>
    <dgm:pt modelId="{02D33B93-99CE-4102-B9A4-774979A7C61B}" type="pres">
      <dgm:prSet presAssocID="{A27320A9-FC12-450B-B002-7FB4992EB78D}" presName="connectorText" presStyleLbl="sibTrans2D1" presStyleIdx="3" presStyleCnt="5"/>
      <dgm:spPr/>
    </dgm:pt>
    <dgm:pt modelId="{36F69390-E26A-40B8-8F74-04B705FF0FC8}" type="pres">
      <dgm:prSet presAssocID="{69A028A5-5601-4EBF-8DD3-FC4C2420E78B}" presName="node" presStyleLbl="node1" presStyleIdx="4" presStyleCnt="5" custScaleX="206593" custRadScaleRad="210442" custRadScaleInc="-22263">
        <dgm:presLayoutVars>
          <dgm:bulletEnabled val="1"/>
        </dgm:presLayoutVars>
      </dgm:prSet>
      <dgm:spPr/>
    </dgm:pt>
    <dgm:pt modelId="{B73E2B81-46B1-4921-BDEC-35F03AB8AECD}" type="pres">
      <dgm:prSet presAssocID="{1BE58905-815A-41F1-88D0-EAAF6C503148}" presName="sibTrans" presStyleLbl="sibTrans2D1" presStyleIdx="4" presStyleCnt="5" custScaleX="206592"/>
      <dgm:spPr/>
    </dgm:pt>
    <dgm:pt modelId="{50A0B7AC-88D3-4009-A795-D238BEDB4A9B}" type="pres">
      <dgm:prSet presAssocID="{1BE58905-815A-41F1-88D0-EAAF6C503148}" presName="connectorText" presStyleLbl="sibTrans2D1" presStyleIdx="4" presStyleCnt="5"/>
      <dgm:spPr/>
    </dgm:pt>
  </dgm:ptLst>
  <dgm:cxnLst>
    <dgm:cxn modelId="{F7403C09-F1FD-45D6-B0AC-2502BF74FCC5}" type="presOf" srcId="{1BE58905-815A-41F1-88D0-EAAF6C503148}" destId="{B73E2B81-46B1-4921-BDEC-35F03AB8AECD}" srcOrd="0" destOrd="0" presId="urn:microsoft.com/office/officeart/2005/8/layout/cycle2"/>
    <dgm:cxn modelId="{FC8E6E09-0AF8-44A6-9896-A478DF591641}" type="presOf" srcId="{69A028A5-5601-4EBF-8DD3-FC4C2420E78B}" destId="{36F69390-E26A-40B8-8F74-04B705FF0FC8}" srcOrd="0" destOrd="0" presId="urn:microsoft.com/office/officeart/2005/8/layout/cycle2"/>
    <dgm:cxn modelId="{789F251A-BDF4-45B0-A57F-485235312D20}" type="presOf" srcId="{B78D0678-6DEC-4480-ACC1-432A668C4717}" destId="{ED050BF6-6D0A-4BF7-8617-D734285474D5}" srcOrd="0" destOrd="0" presId="urn:microsoft.com/office/officeart/2005/8/layout/cycle2"/>
    <dgm:cxn modelId="{8E46F61F-EF5F-4199-9A5F-F9520525AA87}" type="presOf" srcId="{4D91A01F-698E-4965-B955-22CA174F5B0D}" destId="{3EA7F52D-9A0E-4C60-B849-BF830C49BC03}" srcOrd="0" destOrd="0" presId="urn:microsoft.com/office/officeart/2005/8/layout/cycle2"/>
    <dgm:cxn modelId="{0F62D126-EDDA-4D4F-84A9-25DB332FC5DA}" srcId="{923A16FB-5DE9-4596-8684-1B75F70141A5}" destId="{0A99E05B-80B7-48F9-93A6-61D71E6C3C4D}" srcOrd="2" destOrd="0" parTransId="{B76554DB-8F30-4A28-A76A-4EB382044EEB}" sibTransId="{B78D0678-6DEC-4480-ACC1-432A668C4717}"/>
    <dgm:cxn modelId="{0BC39F38-37F4-4574-BE90-E6DC852C6DA6}" type="presOf" srcId="{EB95161A-E788-4B15-8D4E-FC3E9467F5B4}" destId="{A56D5319-615B-43CB-BCE1-E71A126192C5}" srcOrd="0" destOrd="0" presId="urn:microsoft.com/office/officeart/2005/8/layout/cycle2"/>
    <dgm:cxn modelId="{7BDE5040-337A-41AC-9E89-63B3BEDC72B2}" type="presOf" srcId="{94947346-8133-4BBC-BBF5-3E897A8FE558}" destId="{F4800AFD-284A-41B3-A469-D2288E525BC1}" srcOrd="1" destOrd="0" presId="urn:microsoft.com/office/officeart/2005/8/layout/cycle2"/>
    <dgm:cxn modelId="{CFE94F6F-23F1-47D0-86DF-CB9A07F7CF8A}" type="presOf" srcId="{A27320A9-FC12-450B-B002-7FB4992EB78D}" destId="{02D33B93-99CE-4102-B9A4-774979A7C61B}" srcOrd="1" destOrd="0" presId="urn:microsoft.com/office/officeart/2005/8/layout/cycle2"/>
    <dgm:cxn modelId="{2D8F754F-327B-4095-B666-30B0FF0B9852}" type="presOf" srcId="{A27320A9-FC12-450B-B002-7FB4992EB78D}" destId="{7F3339F9-A86C-4AAD-8A78-13B496AB1EC4}" srcOrd="0" destOrd="0" presId="urn:microsoft.com/office/officeart/2005/8/layout/cycle2"/>
    <dgm:cxn modelId="{9D5B4D75-0833-425B-9702-DD4FFB68D01D}" srcId="{923A16FB-5DE9-4596-8684-1B75F70141A5}" destId="{9205AB9A-C7F9-4BDA-A876-179B297AEF0C}" srcOrd="0" destOrd="0" parTransId="{A4612B8B-1F8E-4125-B8C5-6527779D5EF8}" sibTransId="{94947346-8133-4BBC-BBF5-3E897A8FE558}"/>
    <dgm:cxn modelId="{38D5C355-5A9B-4A59-AAA1-F0EF11A4F156}" type="presOf" srcId="{EB95161A-E788-4B15-8D4E-FC3E9467F5B4}" destId="{AAED0212-3340-4D14-B43E-9778C50E771F}" srcOrd="1" destOrd="0" presId="urn:microsoft.com/office/officeart/2005/8/layout/cycle2"/>
    <dgm:cxn modelId="{7962CE9E-9A4A-41DB-8DDE-7003D6443639}" type="presOf" srcId="{82EC35E7-7E93-4D51-AE53-2394B255862D}" destId="{55D43F6E-41CA-49A5-BA7D-B907ADBC5409}" srcOrd="0" destOrd="0" presId="urn:microsoft.com/office/officeart/2005/8/layout/cycle2"/>
    <dgm:cxn modelId="{02C14DA0-A216-4767-9C0D-D8864F88F0C3}" srcId="{923A16FB-5DE9-4596-8684-1B75F70141A5}" destId="{69A028A5-5601-4EBF-8DD3-FC4C2420E78B}" srcOrd="4" destOrd="0" parTransId="{E9378905-CECD-49A3-AC5E-3B3DF8264072}" sibTransId="{1BE58905-815A-41F1-88D0-EAAF6C503148}"/>
    <dgm:cxn modelId="{003962A3-9CE1-4243-9F43-69D462DE0272}" type="presOf" srcId="{1BE58905-815A-41F1-88D0-EAAF6C503148}" destId="{50A0B7AC-88D3-4009-A795-D238BEDB4A9B}" srcOrd="1" destOrd="0" presId="urn:microsoft.com/office/officeart/2005/8/layout/cycle2"/>
    <dgm:cxn modelId="{50723BB3-CB3A-4FE2-9918-8FF95976359E}" type="presOf" srcId="{9205AB9A-C7F9-4BDA-A876-179B297AEF0C}" destId="{9BA893E5-90FD-4316-9B33-4F9DF4CB4965}" srcOrd="0" destOrd="0" presId="urn:microsoft.com/office/officeart/2005/8/layout/cycle2"/>
    <dgm:cxn modelId="{565B54B4-8A7D-4DA8-B321-EA7D2133DFEC}" type="presOf" srcId="{923A16FB-5DE9-4596-8684-1B75F70141A5}" destId="{E319B96F-8225-4790-8DA8-26563FC146CC}" srcOrd="0" destOrd="0" presId="urn:microsoft.com/office/officeart/2005/8/layout/cycle2"/>
    <dgm:cxn modelId="{214228D0-2B8A-4018-8DDF-6E35A9957C81}" type="presOf" srcId="{94947346-8133-4BBC-BBF5-3E897A8FE558}" destId="{D145D15F-B50A-49E0-9EC6-04413E8231A0}" srcOrd="0" destOrd="0" presId="urn:microsoft.com/office/officeart/2005/8/layout/cycle2"/>
    <dgm:cxn modelId="{D155A8D4-E2E9-49FB-B2FD-F483D6268FC6}" type="presOf" srcId="{B78D0678-6DEC-4480-ACC1-432A668C4717}" destId="{46727E26-BBB8-4E15-AF86-72E4C96CC21A}" srcOrd="1" destOrd="0" presId="urn:microsoft.com/office/officeart/2005/8/layout/cycle2"/>
    <dgm:cxn modelId="{C8C02CD5-E3B1-4B33-B9D8-971D5D5F5A1C}" srcId="{923A16FB-5DE9-4596-8684-1B75F70141A5}" destId="{4D91A01F-698E-4965-B955-22CA174F5B0D}" srcOrd="3" destOrd="0" parTransId="{36F4514E-9104-43C7-A33E-5849ECEFE577}" sibTransId="{A27320A9-FC12-450B-B002-7FB4992EB78D}"/>
    <dgm:cxn modelId="{5F0F30EA-59BD-4A14-AA53-C137B9A6B61F}" type="presOf" srcId="{0A99E05B-80B7-48F9-93A6-61D71E6C3C4D}" destId="{17066ACC-B65B-423F-BD46-F6283707756F}" srcOrd="0" destOrd="0" presId="urn:microsoft.com/office/officeart/2005/8/layout/cycle2"/>
    <dgm:cxn modelId="{EE28C7F7-9947-4877-BBEC-90B35DB447EF}" srcId="{923A16FB-5DE9-4596-8684-1B75F70141A5}" destId="{82EC35E7-7E93-4D51-AE53-2394B255862D}" srcOrd="1" destOrd="0" parTransId="{C02373D8-067D-4020-9FCE-14456B2CBD28}" sibTransId="{EB95161A-E788-4B15-8D4E-FC3E9467F5B4}"/>
    <dgm:cxn modelId="{4B7A5570-66D6-4BF5-BA91-65ACAAF12474}" type="presParOf" srcId="{E319B96F-8225-4790-8DA8-26563FC146CC}" destId="{9BA893E5-90FD-4316-9B33-4F9DF4CB4965}" srcOrd="0" destOrd="0" presId="urn:microsoft.com/office/officeart/2005/8/layout/cycle2"/>
    <dgm:cxn modelId="{6C9298AE-2568-400E-90FD-76958523CBC4}" type="presParOf" srcId="{E319B96F-8225-4790-8DA8-26563FC146CC}" destId="{D145D15F-B50A-49E0-9EC6-04413E8231A0}" srcOrd="1" destOrd="0" presId="urn:microsoft.com/office/officeart/2005/8/layout/cycle2"/>
    <dgm:cxn modelId="{AA757621-9DDB-4B45-9D9A-38C10B9ACF84}" type="presParOf" srcId="{D145D15F-B50A-49E0-9EC6-04413E8231A0}" destId="{F4800AFD-284A-41B3-A469-D2288E525BC1}" srcOrd="0" destOrd="0" presId="urn:microsoft.com/office/officeart/2005/8/layout/cycle2"/>
    <dgm:cxn modelId="{A9497DB1-F4DD-40C5-A7E0-6A6188C5B5A8}" type="presParOf" srcId="{E319B96F-8225-4790-8DA8-26563FC146CC}" destId="{55D43F6E-41CA-49A5-BA7D-B907ADBC5409}" srcOrd="2" destOrd="0" presId="urn:microsoft.com/office/officeart/2005/8/layout/cycle2"/>
    <dgm:cxn modelId="{147207A7-A0F8-4D4D-8D1E-16F5C663DAB9}" type="presParOf" srcId="{E319B96F-8225-4790-8DA8-26563FC146CC}" destId="{A56D5319-615B-43CB-BCE1-E71A126192C5}" srcOrd="3" destOrd="0" presId="urn:microsoft.com/office/officeart/2005/8/layout/cycle2"/>
    <dgm:cxn modelId="{1009A845-F204-417F-AA22-5951416F71D2}" type="presParOf" srcId="{A56D5319-615B-43CB-BCE1-E71A126192C5}" destId="{AAED0212-3340-4D14-B43E-9778C50E771F}" srcOrd="0" destOrd="0" presId="urn:microsoft.com/office/officeart/2005/8/layout/cycle2"/>
    <dgm:cxn modelId="{CAEC64EB-FC64-4F74-9733-BB53A9B54396}" type="presParOf" srcId="{E319B96F-8225-4790-8DA8-26563FC146CC}" destId="{17066ACC-B65B-423F-BD46-F6283707756F}" srcOrd="4" destOrd="0" presId="urn:microsoft.com/office/officeart/2005/8/layout/cycle2"/>
    <dgm:cxn modelId="{AB6B1317-442D-4738-9EA2-37319BDD8200}" type="presParOf" srcId="{E319B96F-8225-4790-8DA8-26563FC146CC}" destId="{ED050BF6-6D0A-4BF7-8617-D734285474D5}" srcOrd="5" destOrd="0" presId="urn:microsoft.com/office/officeart/2005/8/layout/cycle2"/>
    <dgm:cxn modelId="{96764874-62B9-4CE2-8475-B2B76FF72295}" type="presParOf" srcId="{ED050BF6-6D0A-4BF7-8617-D734285474D5}" destId="{46727E26-BBB8-4E15-AF86-72E4C96CC21A}" srcOrd="0" destOrd="0" presId="urn:microsoft.com/office/officeart/2005/8/layout/cycle2"/>
    <dgm:cxn modelId="{9EA1371C-A599-4C9D-838C-24FEBB87779B}" type="presParOf" srcId="{E319B96F-8225-4790-8DA8-26563FC146CC}" destId="{3EA7F52D-9A0E-4C60-B849-BF830C49BC03}" srcOrd="6" destOrd="0" presId="urn:microsoft.com/office/officeart/2005/8/layout/cycle2"/>
    <dgm:cxn modelId="{C95CE9DD-41F9-4D96-B725-6C7897536C7D}" type="presParOf" srcId="{E319B96F-8225-4790-8DA8-26563FC146CC}" destId="{7F3339F9-A86C-4AAD-8A78-13B496AB1EC4}" srcOrd="7" destOrd="0" presId="urn:microsoft.com/office/officeart/2005/8/layout/cycle2"/>
    <dgm:cxn modelId="{2FEBE0A5-7DF4-494A-842D-A1EFA97FE865}" type="presParOf" srcId="{7F3339F9-A86C-4AAD-8A78-13B496AB1EC4}" destId="{02D33B93-99CE-4102-B9A4-774979A7C61B}" srcOrd="0" destOrd="0" presId="urn:microsoft.com/office/officeart/2005/8/layout/cycle2"/>
    <dgm:cxn modelId="{620DF6CA-0485-49BA-88DD-C469765DBF02}" type="presParOf" srcId="{E319B96F-8225-4790-8DA8-26563FC146CC}" destId="{36F69390-E26A-40B8-8F74-04B705FF0FC8}" srcOrd="8" destOrd="0" presId="urn:microsoft.com/office/officeart/2005/8/layout/cycle2"/>
    <dgm:cxn modelId="{C5DA28A3-FC24-405F-A0F9-2EAF3953AB99}" type="presParOf" srcId="{E319B96F-8225-4790-8DA8-26563FC146CC}" destId="{B73E2B81-46B1-4921-BDEC-35F03AB8AECD}" srcOrd="9" destOrd="0" presId="urn:microsoft.com/office/officeart/2005/8/layout/cycle2"/>
    <dgm:cxn modelId="{2E9C7D5D-4D2B-49AF-8872-F958D2F9089A}" type="presParOf" srcId="{B73E2B81-46B1-4921-BDEC-35F03AB8AECD}" destId="{50A0B7AC-88D3-4009-A795-D238BEDB4A9B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4776E50-5A66-481C-9BB6-CF3A69271CA8}" type="doc">
      <dgm:prSet loTypeId="urn:microsoft.com/office/officeart/2009/3/layout/RandomtoResult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AC4B486-EC5F-4AC5-907E-C02DBB67A921}" type="pres">
      <dgm:prSet presAssocID="{A4776E50-5A66-481C-9BB6-CF3A69271CA8}" presName="Name0" presStyleCnt="0">
        <dgm:presLayoutVars>
          <dgm:dir/>
          <dgm:animOne val="branch"/>
          <dgm:animLvl val="lvl"/>
        </dgm:presLayoutVars>
      </dgm:prSet>
      <dgm:spPr/>
    </dgm:pt>
  </dgm:ptLst>
  <dgm:cxnLst>
    <dgm:cxn modelId="{5EBD08FE-C5C6-4B1F-9A5B-3A5611270F1B}" type="presOf" srcId="{A4776E50-5A66-481C-9BB6-CF3A69271CA8}" destId="{0AC4B486-EC5F-4AC5-907E-C02DBB67A921}" srcOrd="0" destOrd="0" presId="urn:microsoft.com/office/officeart/2009/3/layout/RandomtoResultProcess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A893E5-90FD-4316-9B33-4F9DF4CB4965}">
      <dsp:nvSpPr>
        <dsp:cNvPr id="0" name=""/>
        <dsp:cNvSpPr/>
      </dsp:nvSpPr>
      <dsp:spPr>
        <a:xfrm>
          <a:off x="3961378" y="1"/>
          <a:ext cx="2831411" cy="1370526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Data-Acquistion Stage</a:t>
          </a:r>
          <a:endParaRPr lang="en-US" sz="22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376029" y="200710"/>
        <a:ext cx="2002109" cy="969108"/>
      </dsp:txXfrm>
    </dsp:sp>
    <dsp:sp modelId="{D145D15F-B50A-49E0-9EC6-04413E8231A0}">
      <dsp:nvSpPr>
        <dsp:cNvPr id="0" name=""/>
        <dsp:cNvSpPr/>
      </dsp:nvSpPr>
      <dsp:spPr>
        <a:xfrm rot="1142390">
          <a:off x="6406647" y="1070750"/>
          <a:ext cx="1515211" cy="462552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410443" y="1140626"/>
        <a:ext cx="1376445" cy="277532"/>
      </dsp:txXfrm>
    </dsp:sp>
    <dsp:sp modelId="{55D43F6E-41CA-49A5-BA7D-B907ADBC5409}">
      <dsp:nvSpPr>
        <dsp:cNvPr id="0" name=""/>
        <dsp:cNvSpPr/>
      </dsp:nvSpPr>
      <dsp:spPr>
        <a:xfrm>
          <a:off x="7574959" y="1247068"/>
          <a:ext cx="2831411" cy="1370526"/>
        </a:xfrm>
        <a:prstGeom prst="ellipse">
          <a:avLst/>
        </a:prstGeom>
        <a:solidFill>
          <a:schemeClr val="accent5">
            <a:hueOff val="-1689636"/>
            <a:satOff val="-4355"/>
            <a:lumOff val="-294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Risk-Analysis Stage</a:t>
          </a:r>
          <a:endParaRPr lang="en-US" sz="22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989610" y="1447777"/>
        <a:ext cx="2002109" cy="969108"/>
      </dsp:txXfrm>
    </dsp:sp>
    <dsp:sp modelId="{A56D5319-615B-43CB-BCE1-E71A126192C5}">
      <dsp:nvSpPr>
        <dsp:cNvPr id="0" name=""/>
        <dsp:cNvSpPr/>
      </dsp:nvSpPr>
      <dsp:spPr>
        <a:xfrm rot="7466899">
          <a:off x="8006802" y="2613111"/>
          <a:ext cx="716469" cy="462552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1689636"/>
            <a:satOff val="-4355"/>
            <a:lumOff val="-294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8115432" y="2648405"/>
        <a:ext cx="577703" cy="277532"/>
      </dsp:txXfrm>
    </dsp:sp>
    <dsp:sp modelId="{17066ACC-B65B-423F-BD46-F6283707756F}">
      <dsp:nvSpPr>
        <dsp:cNvPr id="0" name=""/>
        <dsp:cNvSpPr/>
      </dsp:nvSpPr>
      <dsp:spPr>
        <a:xfrm>
          <a:off x="6312599" y="3087367"/>
          <a:ext cx="2831411" cy="1370526"/>
        </a:xfrm>
        <a:prstGeom prst="ellipse">
          <a:avLst/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Prediction Stage</a:t>
          </a:r>
        </a:p>
      </dsp:txBody>
      <dsp:txXfrm>
        <a:off x="6727250" y="3288076"/>
        <a:ext cx="2002109" cy="969108"/>
      </dsp:txXfrm>
    </dsp:sp>
    <dsp:sp modelId="{ED050BF6-6D0A-4BF7-8617-D734285474D5}">
      <dsp:nvSpPr>
        <dsp:cNvPr id="0" name=""/>
        <dsp:cNvSpPr/>
      </dsp:nvSpPr>
      <dsp:spPr>
        <a:xfrm rot="10799997">
          <a:off x="4088965" y="3541356"/>
          <a:ext cx="2358178" cy="462552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4227731" y="3633866"/>
        <a:ext cx="2219412" cy="277532"/>
      </dsp:txXfrm>
    </dsp:sp>
    <dsp:sp modelId="{3EA7F52D-9A0E-4C60-B849-BF830C49BC03}">
      <dsp:nvSpPr>
        <dsp:cNvPr id="0" name=""/>
        <dsp:cNvSpPr/>
      </dsp:nvSpPr>
      <dsp:spPr>
        <a:xfrm>
          <a:off x="1327487" y="3087372"/>
          <a:ext cx="2831411" cy="1370526"/>
        </a:xfrm>
        <a:prstGeom prst="ellipse">
          <a:avLst/>
        </a:prstGeom>
        <a:solidFill>
          <a:schemeClr val="accent5">
            <a:hueOff val="-5068907"/>
            <a:satOff val="-13064"/>
            <a:lumOff val="-882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Alert Stage</a:t>
          </a:r>
          <a:endParaRPr lang="en-US" sz="22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742138" y="3288081"/>
        <a:ext cx="2002109" cy="969108"/>
      </dsp:txXfrm>
    </dsp:sp>
    <dsp:sp modelId="{7F3339F9-A86C-4AAD-8A78-13B496AB1EC4}">
      <dsp:nvSpPr>
        <dsp:cNvPr id="0" name=""/>
        <dsp:cNvSpPr/>
      </dsp:nvSpPr>
      <dsp:spPr>
        <a:xfrm rot="14591566">
          <a:off x="1855388" y="2564161"/>
          <a:ext cx="788064" cy="462552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5068907"/>
            <a:satOff val="-13064"/>
            <a:lumOff val="-882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1956062" y="2718597"/>
        <a:ext cx="649298" cy="277532"/>
      </dsp:txXfrm>
    </dsp:sp>
    <dsp:sp modelId="{36F69390-E26A-40B8-8F74-04B705FF0FC8}">
      <dsp:nvSpPr>
        <dsp:cNvPr id="0" name=""/>
        <dsp:cNvSpPr/>
      </dsp:nvSpPr>
      <dsp:spPr>
        <a:xfrm>
          <a:off x="330204" y="1113706"/>
          <a:ext cx="2831411" cy="1370526"/>
        </a:xfrm>
        <a:prstGeom prst="ellipse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Offline Synchronisation Stage</a:t>
          </a:r>
          <a:endParaRPr lang="en-US" sz="22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44855" y="1314415"/>
        <a:ext cx="2002109" cy="969108"/>
      </dsp:txXfrm>
    </dsp:sp>
    <dsp:sp modelId="{B73E2B81-46B1-4921-BDEC-35F03AB8AECD}">
      <dsp:nvSpPr>
        <dsp:cNvPr id="0" name=""/>
        <dsp:cNvSpPr/>
      </dsp:nvSpPr>
      <dsp:spPr>
        <a:xfrm rot="20576933">
          <a:off x="2833135" y="1016543"/>
          <a:ext cx="1419538" cy="462552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836185" y="1129398"/>
        <a:ext cx="1280772" cy="27753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3/layout/RandomtoResultProcess">
  <dgm:title val=""/>
  <dgm:desc val=""/>
  <dgm:catLst>
    <dgm:cat type="process" pri="1275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41" srcId="1" destId="11" srcOrd="0" destOrd="0"/>
        <dgm:cxn modelId="5" srcId="0" destId="2" srcOrd="0" destOrd="0"/>
        <dgm:cxn modelId="51" srcId="2" destId="2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Name0">
    <dgm:varLst>
      <dgm:dir/>
      <dgm:animOne val="branch"/>
      <dgm:animLvl val="lvl"/>
    </dgm:varLst>
    <dgm:choose name="Name1">
      <dgm:if name="Name2" func="var" arg="dir" op="equ" val="norm">
        <dgm:alg type="lin">
          <dgm:param type="fallback" val="2D"/>
          <dgm:param type="nodeVertAlign" val="t"/>
        </dgm:alg>
      </dgm:if>
      <dgm:else name="Name3">
        <dgm:alg type="lin">
          <dgm:param type="fallback" val="2D"/>
          <dgm:param type="nodeVertAlign" val="t"/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userH" refType="h" fact="2"/>
      <dgm:constr type="w" for="ch" forName="chaos" refType="userH" fact="0.681"/>
      <dgm:constr type="h" for="ch" forName="chaos" refType="userH"/>
      <dgm:constr type="w" for="ch" forName="middle" refType="userH" fact="0.6"/>
      <dgm:constr type="h" for="ch" forName="middle" refType="userH"/>
      <dgm:constr type="w" for="ch" forName="last" refType="userH" fact="0.6"/>
      <dgm:constr type="h" for="ch" forName="last" refType="userH"/>
      <dgm:constr type="w" for="ch" forName="chevronComposite1" refType="userH" fact="0.22"/>
      <dgm:constr type="h" for="ch" forName="chevronComposite1" refType="userH" fact="0.52"/>
      <dgm:constr type="w" for="ch" forName="chevronComposite2" refType="userH" fact="0.22"/>
      <dgm:constr type="h" for="ch" forName="chevronComposite2" refType="userH" fact="0.52"/>
      <dgm:constr type="w" for="ch" forName="overlap" refType="userH" fact="-0.04"/>
      <dgm:constr type="h" for="ch" forName="overlap" refType="userH" fact="0.06"/>
      <dgm:constr type="primFontSz" for="des" forName="parTx1" op="equ" val="65"/>
      <dgm:constr type="primFontSz" for="des" forName="parTxMid" refType="primFontSz" refFor="des" refForName="parTx1" op="equ"/>
      <dgm:constr type="primFontSz" for="des" forName="circleTx" refType="primFontSz" refFor="des" refForName="parTx1" op="equ"/>
      <dgm:constr type="primFontSz" for="des" forName="desTx1" op="equ" val="65"/>
      <dgm:constr type="primFontSz" for="des" forName="desTxMid" refType="primFontSz" refFor="des" refForName="desTx1" op="equ"/>
      <dgm:constr type="primFontSz" for="des" forName="desTxN" refType="primFontSz" refFor="des" refForName="desTx1" op="equ"/>
    </dgm:constrLst>
    <dgm:forEach name="Name4" axis="ch" ptType="node">
      <dgm:choose name="Name5">
        <dgm:if name="Name6" axis="self" ptType="node" func="pos" op="equ" val="1">
          <dgm:layoutNode name="chaos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parTx1" refType="w" fact="0.5"/>
              <dgm:constr type="t" for="ch" forName="parTx1" refType="w" fact="0.32"/>
              <dgm:constr type="w" for="ch" forName="parTx1" refType="w" fact="0.88"/>
              <dgm:constr type="h" for="ch" forName="parTx1" refType="w" fact="0.29"/>
              <dgm:constr type="ctrX" for="ch" forName="desTx1" refType="w" fact="0.5"/>
              <dgm:constr type="b" for="ch" forName="desTx1" refType="h"/>
              <dgm:constr type="w" for="ch" forName="desTx1" refType="w" fact="0.88"/>
              <dgm:constr type="h" for="ch" forName="desTx1" refType="h" fact="0.37"/>
              <dgm:constr type="l" for="ch" forName="c1" refType="w" fact="0.05"/>
              <dgm:constr type="t" for="ch" forName="c1" refType="w" fact="0.23"/>
              <dgm:constr type="w" for="ch" forName="c1" refType="w" fact="0.07"/>
              <dgm:constr type="h" for="ch" forName="c1" refType="w" refFor="ch" refForName="c1"/>
              <dgm:constr type="l" for="ch" forName="c2" refType="w" fact="0.1"/>
              <dgm:constr type="t" for="ch" forName="c2" refType="w" fact="0.13"/>
              <dgm:constr type="w" for="ch" forName="c2" refType="w" fact="0.07"/>
              <dgm:constr type="h" for="ch" forName="c2" refType="w" refFor="ch" refForName="c2"/>
              <dgm:constr type="l" for="ch" forName="c3" refType="w" fact="0.22"/>
              <dgm:constr type="t" for="ch" forName="c3" refType="w" fact="0.15"/>
              <dgm:constr type="w" for="ch" forName="c3" refType="w" fact="0.11"/>
              <dgm:constr type="h" for="ch" forName="c3" refType="w" refFor="ch" refForName="c3"/>
              <dgm:constr type="l" for="ch" forName="c4" refType="w" fact="0.32"/>
              <dgm:constr type="t" for="ch" forName="c4" refType="w" fact="0.04"/>
              <dgm:constr type="w" for="ch" forName="c4" refType="w" fact="0.07"/>
              <dgm:constr type="h" for="ch" forName="c4" refType="w" refFor="ch" refForName="c4"/>
              <dgm:constr type="l" for="ch" forName="c5" refType="w" fact="0.45"/>
              <dgm:constr type="t" for="ch" forName="c5" refType="w" fact="0"/>
              <dgm:constr type="w" for="ch" forName="c5" refType="w" fact="0.07"/>
              <dgm:constr type="h" for="ch" forName="c5" refType="w" refFor="ch" refForName="c5"/>
              <dgm:constr type="l" for="ch" forName="c6" refType="w" fact="0.61"/>
              <dgm:constr type="t" for="ch" forName="c6" refType="w" fact="0.07"/>
              <dgm:constr type="w" for="ch" forName="c6" refType="w" fact="0.07"/>
              <dgm:constr type="h" for="ch" forName="c6" refType="w" refFor="ch" refForName="c6"/>
              <dgm:constr type="l" for="ch" forName="c7" refType="w" fact="0.71"/>
              <dgm:constr type="t" for="ch" forName="c7" refType="w" fact="0.12"/>
              <dgm:constr type="w" for="ch" forName="c7" refType="w" fact="0.11"/>
              <dgm:constr type="h" for="ch" forName="c7" refType="w" refFor="ch" refForName="c7"/>
              <dgm:constr type="l" for="ch" forName="c8" refType="w" fact="0.85"/>
              <dgm:constr type="t" for="ch" forName="c8" refType="w" fact="0.23"/>
              <dgm:constr type="w" for="ch" forName="c8" refType="w" fact="0.07"/>
              <dgm:constr type="h" for="ch" forName="c8" refType="w" refFor="ch" refForName="c8"/>
              <dgm:constr type="l" for="ch" forName="c9" refType="w" fact="0.91"/>
              <dgm:constr type="t" for="ch" forName="c9" refType="w" fact="0.34"/>
              <dgm:constr type="w" for="ch" forName="c9" refType="w" fact="0.07"/>
              <dgm:constr type="h" for="ch" forName="c9" refType="w" refFor="ch" refForName="c9"/>
              <dgm:constr type="l" for="ch" forName="c10" refType="w" fact="0.39"/>
              <dgm:constr type="t" for="ch" forName="c10" refType="w" fact="0.13"/>
              <dgm:constr type="w" for="ch" forName="c10" refType="w" fact="0.18"/>
              <dgm:constr type="h" for="ch" forName="c10" refType="w" refFor="ch" refForName="c10"/>
              <dgm:constr type="l" for="ch" forName="c11" refType="w" fact="0"/>
              <dgm:constr type="t" for="ch" forName="c11" refType="w" fact="0.51"/>
              <dgm:constr type="w" for="ch" forName="c11" refType="w" fact="0.07"/>
              <dgm:constr type="h" for="ch" forName="c11" refType="w" refFor="ch" refForName="c11"/>
              <dgm:constr type="l" for="ch" forName="c12" refType="w" fact="0.06"/>
              <dgm:constr type="t" for="ch" forName="c12" refType="w" fact="0.6"/>
              <dgm:constr type="w" for="ch" forName="c12" refType="w" fact="0.11"/>
              <dgm:constr type="h" for="ch" forName="c12" refType="w" refFor="ch" refForName="c12"/>
              <dgm:constr type="l" for="ch" forName="c13" refType="w" fact="0.21"/>
              <dgm:constr type="t" for="ch" forName="c13" refType="w" fact="0.68"/>
              <dgm:constr type="w" for="ch" forName="c13" refType="w" fact="0.16"/>
              <dgm:constr type="h" for="ch" forName="c13" refType="w" refFor="ch" refForName="c13"/>
              <dgm:constr type="l" for="ch" forName="c14" refType="w" fact="0.42"/>
              <dgm:constr type="t" for="ch" forName="c14" refType="w" fact="0.81"/>
              <dgm:constr type="w" for="ch" forName="c14" refType="w" fact="0.07"/>
              <dgm:constr type="h" for="ch" forName="c14" refType="w" refFor="ch" refForName="c14"/>
              <dgm:constr type="l" for="ch" forName="c15" refType="w" fact="0.46"/>
              <dgm:constr type="t" for="ch" forName="c15" refType="w" fact="0.68"/>
              <dgm:constr type="w" for="ch" forName="c15" refType="w" fact="0.11"/>
              <dgm:constr type="h" for="ch" forName="c15" refType="w" refFor="ch" refForName="c15"/>
              <dgm:constr type="l" for="ch" forName="c16" refType="w" fact="0.56"/>
              <dgm:constr type="t" for="ch" forName="c16" refType="w" fact="0.82"/>
              <dgm:constr type="w" for="ch" forName="c16" refType="w" fact="0.07"/>
              <dgm:constr type="h" for="ch" forName="c16" refType="w" refFor="ch" refForName="c16"/>
              <dgm:constr type="l" for="ch" forName="c17" refType="w" fact="0.65"/>
              <dgm:constr type="t" for="ch" forName="c17" refType="w" fact="0.66"/>
              <dgm:constr type="w" for="ch" forName="c17" refType="w" fact="0.16"/>
              <dgm:constr type="h" for="ch" forName="c17" refType="w" refFor="ch" refForName="c17"/>
              <dgm:constr type="l" for="ch" forName="c18" refType="w" fact="0.87"/>
              <dgm:constr type="t" for="ch" forName="c18" refType="w" fact="0.62"/>
              <dgm:constr type="w" for="ch" forName="c18" refType="w" fact="0.11"/>
              <dgm:constr type="h" for="ch" forName="c18" refType="w" refFor="ch" refForName="c18"/>
            </dgm:constrLst>
            <dgm:layoutNode name="parTx1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7">
              <dgm:if name="Name8" axis="ch" ptType="node" func="cnt" op="gte" val="1">
                <dgm:layoutNode name="desTx1" styleLbl="revTx">
                  <dgm:varLst>
                    <dgm:bulletEnabled val="1"/>
                  </dgm:varLst>
                  <dgm:choose name="Name9">
                    <dgm:if name="Name10" axis="ch" ptType="node" func="cnt" op="equ" val="1">
                      <dgm:alg type="tx">
                        <dgm:param type="shpTxLTRAlignCh" val="l"/>
                      </dgm:alg>
                    </dgm:if>
                    <dgm:else name="Name11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2"/>
            </dgm:choose>
            <dgm:layoutNode name="c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9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0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layoutNode>
        </dgm:if>
        <dgm:if name="Name13" axis="self" ptType="node" func="revPos" op="equ" val="1">
          <dgm:layoutNode name="last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circleTx" refType="w" fact="0.5"/>
              <dgm:constr type="t" for="ch" forName="circleTx" refType="w" fact="0.117"/>
              <dgm:constr type="w" for="ch" forName="circleTx" refType="h" refFor="ch" refForName="circleTx"/>
              <dgm:constr type="h" for="ch" forName="circleTx" refType="w" fact="0.85"/>
              <dgm:constr type="l" for="ch" forName="desTxN"/>
              <dgm:constr type="b" for="ch" forName="desTxN" refType="h"/>
              <dgm:constr type="w" for="ch" forName="desTxN" refType="w"/>
              <dgm:constr type="h" for="ch" forName="desTxN" refType="h" fact="0.37"/>
              <dgm:constr type="ctrX" for="ch" forName="spN" refType="w" fact="0.5"/>
              <dgm:constr type="t" for="ch" forName="spN"/>
              <dgm:constr type="w" for="ch" forName="spN" refType="w" fact="0.93"/>
              <dgm:constr type="h" for="ch" forName="spN" refType="h" fact="0.01"/>
            </dgm:constrLst>
            <dgm:layoutNode name="circleTx" styleLbl="node1">
              <dgm:alg type="tx"/>
              <dgm:shape xmlns:r="http://schemas.openxmlformats.org/officeDocument/2006/relationships" type="ellipse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  <dgm:choose name="Name14">
              <dgm:if name="Name15" axis="ch" ptType="node" func="cnt" op="gte" val="1">
                <dgm:layoutNode name="desTxN" styleLbl="revTx">
                  <dgm:varLst>
                    <dgm:bulletEnabled val="1"/>
                  </dgm:varLst>
                  <dgm:choose name="Name16">
                    <dgm:if name="Name17" axis="ch" ptType="node" func="cnt" op="equ" val="1">
                      <dgm:alg type="tx">
                        <dgm:param type="shpTxLTRAlignCh" val="l"/>
                      </dgm:alg>
                    </dgm:if>
                    <dgm:else name="Name18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  <dgm:layoutNode name="spN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if>
        <dgm:else name="Name20">
          <dgm:layoutNode name="middl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l" for="ch" forName="parTxMid"/>
              <dgm:constr type="t" for="ch" forName="parTxMid" refType="w" fact="0.167"/>
              <dgm:constr type="w" for="ch" forName="parTxMid" refType="w"/>
              <dgm:constr type="h" for="ch" forName="parTxMid" refType="w" fact="0.7"/>
              <dgm:constr type="l" for="ch" forName="desTxMid"/>
              <dgm:constr type="b" for="ch" forName="desTxMid" refType="h"/>
              <dgm:constr type="w" for="ch" forName="desTxMid" refType="w"/>
              <dgm:constr type="h" for="ch" forName="desTxMid" refType="h" fact="0.37"/>
              <dgm:constr type="ctrX" for="ch" forName="spMid" refType="w" fact="0.5"/>
              <dgm:constr type="t" for="ch" forName="spMid"/>
              <dgm:constr type="w" for="ch" forName="spMid" refType="w" fact="0.01"/>
              <dgm:constr type="h" for="ch" forName="spMid" refType="h" fact="0.01"/>
            </dgm:constrLst>
            <dgm:layoutNode name="parTxMid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21">
              <dgm:if name="Name22" axis="ch" ptType="node" func="cnt" op="gte" val="1">
                <dgm:layoutNode name="desTxMid" styleLbl="revTx">
                  <dgm:varLst>
                    <dgm:bulletEnabled val="1"/>
                  </dgm:varLst>
                  <dgm:choose name="Name23">
                    <dgm:if name="Name24" axis="ch" ptType="node" func="cnt" op="equ" val="1">
                      <dgm:alg type="tx">
                        <dgm:param type="shpTxLTRAlignCh" val="l"/>
                      </dgm:alg>
                    </dgm:if>
                    <dgm:else name="Name25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26"/>
            </dgm:choose>
            <dgm:layoutNode name="spMid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else>
      </dgm:choose>
      <dgm:forEach name="Name27" axis="followSib" ptType="sibTrans" cnt="1">
        <dgm:layoutNode name="chevronComposite1" styleLbl="alignImgPlace1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chevron1"/>
            <dgm:constr type="t" for="ch" forName="chevron1" refType="h" fact="0.1923"/>
            <dgm:constr type="w" for="ch" forName="chevron1" refType="w"/>
            <dgm:constr type="b" for="ch" forName="chevron1" refType="h"/>
            <dgm:constr type="l" for="ch" forName="spChevron1"/>
            <dgm:constr type="t" for="ch" forName="spChevron1"/>
            <dgm:constr type="w" for="ch" forName="spChevron1" refType="w" fact="0.01"/>
            <dgm:constr type="h" for="ch" forName="spChevron1" refType="h" fact="0.01"/>
          </dgm:constrLst>
          <dgm:layoutNode name="chevron1">
            <dgm:alg type="sp"/>
            <dgm:choose name="Name28">
              <dgm:if name="Name29" func="var" arg="dir" op="equ" val="norm">
                <dgm:shape xmlns:r="http://schemas.openxmlformats.org/officeDocument/2006/relationships" type="chevron" r:blip="">
                  <dgm:adjLst>
                    <dgm:adj idx="1" val="0.6231"/>
                  </dgm:adjLst>
                </dgm:shape>
              </dgm:if>
              <dgm:else name="Name30">
                <dgm:shape xmlns:r="http://schemas.openxmlformats.org/officeDocument/2006/relationships" rot="180" type="chevron" r:blip="">
                  <dgm:adjLst>
                    <dgm:adj idx="1" val="0.6231"/>
                  </dgm:adjLst>
                </dgm:shape>
              </dgm:else>
            </dgm:choose>
            <dgm:presOf/>
          </dgm:layoutNode>
          <dgm:layoutNode name="spChevron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  <dgm:choose name="Name31">
          <dgm:if name="Name32" axis="root ch" ptType="all node" func="cnt" op="equ" val="2">
            <dgm:layoutNode name="overlap">
              <dgm:alg type="sp"/>
              <dgm:shape xmlns:r="http://schemas.openxmlformats.org/officeDocument/2006/relationships" r:blip="">
                <dgm:adjLst/>
              </dgm:shape>
              <dgm:presOf/>
            </dgm:layoutNode>
            <dgm:layoutNode name="chevronComposite2" styleLbl="alignImgPlace1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l" for="ch" forName="chevron2"/>
                <dgm:constr type="t" for="ch" forName="chevron2" refType="h" fact="0.1923"/>
                <dgm:constr type="w" for="ch" forName="chevron2" refType="w"/>
                <dgm:constr type="b" for="ch" forName="chevron2" refType="h"/>
                <dgm:constr type="l" for="ch" forName="spChevron2"/>
                <dgm:constr type="t" for="ch" forName="spChevron2"/>
                <dgm:constr type="w" for="ch" forName="spChevron2" refType="w" fact="0.01"/>
                <dgm:constr type="h" for="ch" forName="spChevron2" refType="h" fact="0.01"/>
              </dgm:constrLst>
              <dgm:layoutNode name="chevron2">
                <dgm:alg type="sp"/>
                <dgm:choose name="Name33">
                  <dgm:if name="Name34" func="var" arg="dir" op="equ" val="norm">
                    <dgm:shape xmlns:r="http://schemas.openxmlformats.org/officeDocument/2006/relationships" type="chevron" r:blip="">
                      <dgm:adjLst>
                        <dgm:adj idx="1" val="0.6231"/>
                      </dgm:adjLst>
                    </dgm:shape>
                  </dgm:if>
                  <dgm:else name="Name35">
                    <dgm:shape xmlns:r="http://schemas.openxmlformats.org/officeDocument/2006/relationships" rot="180" type="chevron" r:blip="">
                      <dgm:adjLst>
                        <dgm:adj idx="1" val="0.6231"/>
                      </dgm:adjLst>
                    </dgm:shape>
                  </dgm:else>
                </dgm:choose>
                <dgm:presOf/>
              </dgm:layoutNode>
              <dgm:layoutNode name="spChevron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</dgm:layoutNode>
          </dgm:if>
          <dgm:else name="Name36"/>
        </dgm:choos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86681D-7503-4C80-A3BE-FFF690FE564A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3E86CB-CBCB-4DA2-9577-1F8468041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4822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3B340-7ED3-EFB8-A275-1E952B8377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C088C8-2CC6-6F89-C178-9430B345E6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A44163-56AA-3594-2F32-3659240D5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F1750-8C24-49F5-9016-B8F2876CEDD8}" type="datetime5">
              <a:rPr lang="en-US" smtClean="0"/>
              <a:t>30-Jul-26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08ABB0-D31F-AB31-91EA-029A7164F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368945-5910-C5E7-E57F-7C603CAC5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348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1131B-772A-512E-732E-F631288D8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4D00E1-0080-552C-E780-89F1ADF40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C85DD0-0C27-6863-7DB3-255B5473F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33798-0BE9-43ED-AC81-12BD4AB64487}" type="datetime5">
              <a:rPr lang="en-US" smtClean="0"/>
              <a:t>30-Jul-26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E0CA44-7710-58FC-AB67-7100A0AE1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7DAC2-6F3B-6D71-B9AD-21D5761A5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906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5F2F6-3E88-8451-BD41-BBF788B56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743E50-E408-7797-F89C-E20419CEE8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519DAF-D4A9-81A5-5E0B-D9CE1A3F8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EFAA5-B43E-4DD7-8EA7-6B032794BAA3}" type="datetime5">
              <a:rPr lang="en-US" smtClean="0"/>
              <a:t>30-Jul-26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41734B-D908-EBB0-16D8-42FFD94B1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277A44-DC1C-A7EC-4B74-7F8A26095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662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0E1E6-0582-CE75-E5D1-5943CA9C5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E5B96A-1C66-70D2-D8B0-9405C9A0E9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F4E488-0DD1-C197-6750-A7B38E8D31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134A54-344C-3517-0A05-0936A6C21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200DC-DA3E-4BF2-BC8A-EB519D7EBAAB}" type="datetime5">
              <a:rPr lang="en-US" smtClean="0"/>
              <a:t>30-Jul-26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D3D402-BBFC-BF5D-3C1E-ED2D4A591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EF903F-3FDE-495E-78E0-7FC95B942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50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B3912-6E6F-8912-9861-4520867C3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E15643-6370-5FFA-2C6D-7ACF4C57FD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02CF07-4D19-2340-7822-757A77F1F2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31555E-F458-F946-22B7-E4A04A619B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51E1E5-1674-0A63-4CE2-A06289D21E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278EC2-4AAF-5A68-6B0D-DB6DB2E60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A0490-8A37-41A9-8888-66BCEE09D009}" type="datetime5">
              <a:rPr lang="en-US" smtClean="0"/>
              <a:t>30-Jul-26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5FE90B-1F5E-28A1-2E18-AC5006487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6E1A41-8BCF-7114-9090-78DBF24F3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087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1B9A1-E543-9F76-88AF-F67CD5FFA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B6D779-5DE9-3042-8548-83336B1DB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3FE23-5B90-46E2-B161-1CF1010C2FF7}" type="datetime5">
              <a:rPr lang="en-US" smtClean="0"/>
              <a:t>30-Jul-26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3B6602-5A6A-7329-8112-8F74E787B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938D7F-01BC-4A51-77FC-B6882C4BF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100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6B6FD-AF85-CFF1-390C-E4A09943A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0AAB3-6026-40DD-AD1E-619B9934F05F}" type="datetime5">
              <a:rPr lang="en-US" smtClean="0"/>
              <a:t>30-Jul-26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96C8A6-F329-9E22-96C5-DCDB930EA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967A9D-CD44-DBC9-EC9C-D91550789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600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B3752-CCA2-3892-2C41-C28BDC674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81347-4D92-9ABF-1926-3A418BD2A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B1061D-7170-656D-6F2F-58C5181501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2E06B0-C9DD-A689-C2EA-40AEB4A0A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019EC-47E5-4BB3-B729-B20CF2085387}" type="datetime5">
              <a:rPr lang="en-US" smtClean="0"/>
              <a:t>30-Jul-26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5FA4F1-23B7-920C-F295-F366A43E7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F856CA-B708-A49C-4F88-CB8C32C02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3669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75300-4F14-2D75-7E90-8017E9FA5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D2A702-B311-A33B-F583-D4818BC542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B7CCA5-BA08-263C-8141-E32B7EA2C8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A73656-9453-5C13-508D-B6B5099BC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C63C1-9EB5-4BCF-9D4F-DC1CF5F78D83}" type="datetime5">
              <a:rPr lang="en-US" smtClean="0"/>
              <a:t>30-Jul-26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BF560E-4B9D-EEAB-F7AF-4FC2FA19B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5EB3EC-EF31-1C0D-B03B-9200173DB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525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C67F9-D924-1CB9-BFD0-2686604AA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007C56-F0CF-C8FB-1D77-A26756C339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75CA9-B1FF-45C6-0BB7-638502288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E6D09-20CD-4314-BBC5-3DB0F78EAA38}" type="datetime5">
              <a:rPr lang="en-US" smtClean="0"/>
              <a:t>30-Jul-26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DFAAE7-4AFC-31E0-2604-6F3445BA0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2FCE9-CA44-0DD1-853F-7590D3692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533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46FD15-E4FC-10D0-230B-BB440214ED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AABD07-6CA9-2943-77F7-62F0CDB023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546E24-F508-422C-1155-764686D2C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E5159-8A95-45A4-8BB8-B19D17D5F1AD}" type="datetime5">
              <a:rPr lang="en-US" smtClean="0"/>
              <a:t>30-Jul-26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44DAF3-E067-B45E-52E2-60F5ECCCA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835C18-2ACB-8566-87A1-79FCFDCC1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148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F9B02B-0E20-E958-8A7E-AEEC1EE1E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8AD715-C174-6B78-17F4-10D6EC398B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C078F9-57A2-39CF-B29A-9A367F88B9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005179-4F8E-41AA-B3D4-C73240EB2FAB}" type="datetime5">
              <a:rPr lang="en-US" smtClean="0"/>
              <a:t>30-Jul-26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01F574-34BB-8454-F281-AD23837223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ZEROTH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8DB143-6D95-866E-E6CE-AC4A2E24C7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ECA96C-9B8F-B941-9AF0-02B5F35F8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067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hyperlink" Target="https://ur.wikipedia.org/wiki/%D8%AC%D8%A7%D9%85%D8%B9%DB%81_%D8%A7%D9%86%D8%A7" TargetMode="External"/><Relationship Id="rId7" Type="http://schemas.openxmlformats.org/officeDocument/2006/relationships/diagramQuickStyle" Target="../diagrams/quickStyl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3.png"/><Relationship Id="rId9" Type="http://schemas.microsoft.com/office/2007/relationships/diagramDrawing" Target="../diagrams/drawing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hyperlink" Target="https://ur.wikipedia.org/wiki/%D8%AC%D8%A7%D9%85%D8%B9%DB%81_%D8%A7%D9%86%D8%A7" TargetMode="External"/><Relationship Id="rId7" Type="http://schemas.openxmlformats.org/officeDocument/2006/relationships/diagramQuickStyle" Target="../diagrams/quickStyle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4" Type="http://schemas.openxmlformats.org/officeDocument/2006/relationships/image" Target="../media/image2.jpeg"/><Relationship Id="rId9" Type="http://schemas.microsoft.com/office/2007/relationships/diagramDrawing" Target="../diagrams/drawing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ur.wikipedia.org/wiki/%D8%AC%D8%A7%D9%85%D8%B9%DB%81_%D8%A7%D9%86%D8%A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0D273-2383-949F-806D-D751F05136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4252" y="2142473"/>
            <a:ext cx="9092277" cy="1633073"/>
          </a:xfrm>
        </p:spPr>
        <p:txBody>
          <a:bodyPr>
            <a:noAutofit/>
          </a:bodyPr>
          <a:lstStyle/>
          <a:p>
            <a:pPr marL="0" marR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200" b="1" kern="1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DESIGN AND DEVELOPMENT OF AN IOT SYSTEM FOR COLD-CHAIN RISK AND SAFE HOLDOVER TIME PREDICTION FOR PHARMACETICAL PRODUCTS</a:t>
            </a:r>
            <a:endParaRPr lang="en-US" sz="2200" kern="10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1F9889-2C2E-EC39-2FC1-820173295E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4640" y="4294572"/>
            <a:ext cx="10829307" cy="2286941"/>
          </a:xfrm>
        </p:spPr>
        <p:txBody>
          <a:bodyPr>
            <a:normAutofit fontScale="55000" lnSpcReduction="20000"/>
          </a:bodyPr>
          <a:lstStyle/>
          <a:p>
            <a:pPr algn="just">
              <a:lnSpc>
                <a:spcPct val="120000"/>
              </a:lnSpc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Presented by:							Under the guidance of :</a:t>
            </a:r>
          </a:p>
          <a:p>
            <a:pPr algn="just">
              <a:lnSpc>
                <a:spcPct val="110000"/>
              </a:lnSpc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BARANITHARAN S (2025610033)					Dr. P. T. V. BHUVANESWARI</a:t>
            </a:r>
          </a:p>
          <a:p>
            <a:pPr algn="just">
              <a:lnSpc>
                <a:spcPct val="110000"/>
              </a:lnSpc>
            </a:pPr>
            <a:r>
              <a:rPr lang="en-US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M.E., Communication and Networking					Professor and Head,</a:t>
            </a:r>
          </a:p>
          <a:p>
            <a:pPr algn="just"/>
            <a:r>
              <a:rPr lang="en-US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                                                                                                Dept of Electronics Engineering,</a:t>
            </a:r>
          </a:p>
          <a:p>
            <a:pPr algn="just"/>
            <a:r>
              <a:rPr lang="en-US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                                                Madras Institute of Technology,</a:t>
            </a:r>
          </a:p>
          <a:p>
            <a:pPr algn="just"/>
            <a:r>
              <a:rPr lang="en-US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Anna University.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171950" lvl="8" indent="-514350" algn="just">
              <a:buAutoNum type="arabicParenR"/>
            </a:pP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buAutoNum type="arabicParenR"/>
            </a:pPr>
            <a:endParaRPr lang="en-US" sz="3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2B2B49-E6C8-0DD6-3778-340B5FD59A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35437" y="269855"/>
            <a:ext cx="1066540" cy="1058591"/>
          </a:xfrm>
          <a:prstGeom prst="rect">
            <a:avLst/>
          </a:prstGeom>
        </p:spPr>
      </p:pic>
      <p:pic>
        <p:nvPicPr>
          <p:cNvPr id="6" name="Picture 7">
            <a:extLst>
              <a:ext uri="{FF2B5EF4-FFF2-40B4-BE49-F238E27FC236}">
                <a16:creationId xmlns:a16="http://schemas.microsoft.com/office/drawing/2014/main" id="{7F31E10F-95F0-7A07-CA73-57D13D23ED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7713" y="242947"/>
            <a:ext cx="1638850" cy="111240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326F840-8897-05F9-BC4F-CF00838E71C1}"/>
              </a:ext>
            </a:extLst>
          </p:cNvPr>
          <p:cNvSpPr txBox="1"/>
          <p:nvPr/>
        </p:nvSpPr>
        <p:spPr>
          <a:xfrm>
            <a:off x="0" y="479976"/>
            <a:ext cx="12191998" cy="1444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ELECTRONICS ENGINEERING</a:t>
            </a:r>
          </a:p>
          <a:p>
            <a:pPr algn="ctr">
              <a:lnSpc>
                <a:spcPct val="150000"/>
              </a:lnSpc>
            </a:pP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MIT CAMPUS, ANNA UNIVERSITY</a:t>
            </a:r>
          </a:p>
          <a:p>
            <a:pPr algn="ctr">
              <a:lnSpc>
                <a:spcPct val="150000"/>
              </a:lnSpc>
            </a:pP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WORK I</a:t>
            </a:r>
          </a:p>
        </p:txBody>
      </p:sp>
    </p:spTree>
    <p:extLst>
      <p:ext uri="{BB962C8B-B14F-4D97-AF65-F5344CB8AC3E}">
        <p14:creationId xmlns:p14="http://schemas.microsoft.com/office/powerpoint/2010/main" val="3896406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2315352" y="601479"/>
            <a:ext cx="7493000" cy="512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00"/>
              </a:lnSpc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DB0687-CF1D-BACE-09DE-CFDCFB2FC5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09600" y="527670"/>
            <a:ext cx="1117600" cy="1109270"/>
          </a:xfrm>
          <a:prstGeom prst="rect">
            <a:avLst/>
          </a:prstGeom>
        </p:spPr>
      </p:pic>
      <p:sp>
        <p:nvSpPr>
          <p:cNvPr id="8" name="Freeform 5">
            <a:extLst>
              <a:ext uri="{FF2B5EF4-FFF2-40B4-BE49-F238E27FC236}">
                <a16:creationId xmlns:a16="http://schemas.microsoft.com/office/drawing/2014/main" id="{7D5F9C26-4945-5FE4-DDC4-33BD0FCC885E}"/>
              </a:ext>
            </a:extLst>
          </p:cNvPr>
          <p:cNvSpPr/>
          <p:nvPr/>
        </p:nvSpPr>
        <p:spPr>
          <a:xfrm>
            <a:off x="9828867" y="485658"/>
            <a:ext cx="1763501" cy="1151281"/>
          </a:xfrm>
          <a:custGeom>
            <a:avLst/>
            <a:gdLst/>
            <a:ahLst/>
            <a:cxnLst/>
            <a:rect l="l" t="t" r="r" b="b"/>
            <a:pathLst>
              <a:path w="2645251" h="1726922">
                <a:moveTo>
                  <a:pt x="0" y="0"/>
                </a:moveTo>
                <a:lnTo>
                  <a:pt x="2645251" y="0"/>
                </a:lnTo>
                <a:lnTo>
                  <a:pt x="2645251" y="1726922"/>
                </a:lnTo>
                <a:lnTo>
                  <a:pt x="0" y="17269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 sz="12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6B5DA-A58A-4DD0-9FB5-AF2B58A67481}" type="datetime5">
              <a:rPr lang="en-US" smtClean="0"/>
              <a:t>30-Jul-26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2</a:t>
            </a:fld>
            <a:endParaRPr lang="en-US"/>
          </a:p>
        </p:txBody>
      </p:sp>
      <p:sp>
        <p:nvSpPr>
          <p:cNvPr id="16" name="Arrow: Pentagon 15">
            <a:extLst>
              <a:ext uri="{FF2B5EF4-FFF2-40B4-BE49-F238E27FC236}">
                <a16:creationId xmlns:a16="http://schemas.microsoft.com/office/drawing/2014/main" id="{FE9CBA87-71AB-5638-97F6-E88BA7960966}"/>
              </a:ext>
            </a:extLst>
          </p:cNvPr>
          <p:cNvSpPr/>
          <p:nvPr/>
        </p:nvSpPr>
        <p:spPr>
          <a:xfrm>
            <a:off x="4038600" y="1482639"/>
            <a:ext cx="2311400" cy="421906"/>
          </a:xfrm>
          <a:prstGeom prst="homePlat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200" spc="11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200" b="1" spc="117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  <a:p>
            <a:pPr algn="ctr"/>
            <a:endParaRPr lang="en-US" sz="2200" dirty="0"/>
          </a:p>
        </p:txBody>
      </p:sp>
      <p:sp>
        <p:nvSpPr>
          <p:cNvPr id="17" name="Arrow: Pentagon 16">
            <a:extLst>
              <a:ext uri="{FF2B5EF4-FFF2-40B4-BE49-F238E27FC236}">
                <a16:creationId xmlns:a16="http://schemas.microsoft.com/office/drawing/2014/main" id="{63471BFB-4FE1-99DD-3646-C1EB6613670C}"/>
              </a:ext>
            </a:extLst>
          </p:cNvPr>
          <p:cNvSpPr/>
          <p:nvPr/>
        </p:nvSpPr>
        <p:spPr>
          <a:xfrm>
            <a:off x="6130586" y="1984793"/>
            <a:ext cx="2311400" cy="421906"/>
          </a:xfrm>
          <a:prstGeom prst="homePlat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200" spc="11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200" b="1" spc="117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algn="ctr"/>
            <a:endParaRPr lang="en-US" sz="2200" dirty="0"/>
          </a:p>
        </p:txBody>
      </p:sp>
      <p:sp>
        <p:nvSpPr>
          <p:cNvPr id="18" name="Arrow: Pentagon 17">
            <a:extLst>
              <a:ext uri="{FF2B5EF4-FFF2-40B4-BE49-F238E27FC236}">
                <a16:creationId xmlns:a16="http://schemas.microsoft.com/office/drawing/2014/main" id="{1CAEEF2B-E1BA-C430-9E71-CBD89C7113DA}"/>
              </a:ext>
            </a:extLst>
          </p:cNvPr>
          <p:cNvSpPr/>
          <p:nvPr/>
        </p:nvSpPr>
        <p:spPr>
          <a:xfrm>
            <a:off x="4038600" y="2545360"/>
            <a:ext cx="2657622" cy="421906"/>
          </a:xfrm>
          <a:prstGeom prst="homePlat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ts val="3267"/>
              </a:lnSpc>
            </a:pPr>
            <a:r>
              <a:rPr lang="en-US" sz="2200" b="1" spc="117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19" name="Arrow: Pentagon 18">
            <a:extLst>
              <a:ext uri="{FF2B5EF4-FFF2-40B4-BE49-F238E27FC236}">
                <a16:creationId xmlns:a16="http://schemas.microsoft.com/office/drawing/2014/main" id="{35FB201E-7F0F-6A86-B581-A22DF1433ED1}"/>
              </a:ext>
            </a:extLst>
          </p:cNvPr>
          <p:cNvSpPr/>
          <p:nvPr/>
        </p:nvSpPr>
        <p:spPr>
          <a:xfrm>
            <a:off x="6130586" y="3112173"/>
            <a:ext cx="2311400" cy="421906"/>
          </a:xfrm>
          <a:prstGeom prst="homePlat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200" spc="11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200" b="1" spc="117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 algn="ctr"/>
            <a:endParaRPr lang="en-US" sz="2200" dirty="0"/>
          </a:p>
        </p:txBody>
      </p:sp>
      <p:sp>
        <p:nvSpPr>
          <p:cNvPr id="20" name="Arrow: Pentagon 19">
            <a:extLst>
              <a:ext uri="{FF2B5EF4-FFF2-40B4-BE49-F238E27FC236}">
                <a16:creationId xmlns:a16="http://schemas.microsoft.com/office/drawing/2014/main" id="{AD40B4B0-05A4-B9AD-222F-01696FE5F7B5}"/>
              </a:ext>
            </a:extLst>
          </p:cNvPr>
          <p:cNvSpPr/>
          <p:nvPr/>
        </p:nvSpPr>
        <p:spPr>
          <a:xfrm>
            <a:off x="6130586" y="4239553"/>
            <a:ext cx="2311400" cy="421906"/>
          </a:xfrm>
          <a:prstGeom prst="homePlat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ts val="3267"/>
              </a:lnSpc>
            </a:pPr>
            <a:r>
              <a:rPr lang="en-US" sz="2200" b="1" spc="117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flow</a:t>
            </a:r>
          </a:p>
        </p:txBody>
      </p:sp>
      <p:sp>
        <p:nvSpPr>
          <p:cNvPr id="21" name="Arrow: Pentagon 20">
            <a:extLst>
              <a:ext uri="{FF2B5EF4-FFF2-40B4-BE49-F238E27FC236}">
                <a16:creationId xmlns:a16="http://schemas.microsoft.com/office/drawing/2014/main" id="{34CAB194-0DEB-366F-AAEE-52A7F9011F7A}"/>
              </a:ext>
            </a:extLst>
          </p:cNvPr>
          <p:cNvSpPr/>
          <p:nvPr/>
        </p:nvSpPr>
        <p:spPr>
          <a:xfrm>
            <a:off x="4069275" y="5923918"/>
            <a:ext cx="2311400" cy="421906"/>
          </a:xfrm>
          <a:prstGeom prst="homePlat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ts val="3267"/>
              </a:lnSpc>
            </a:pPr>
            <a:r>
              <a:rPr lang="en-US" sz="2200" b="1" spc="117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13" name="Arrow: Pentagon 12">
            <a:extLst>
              <a:ext uri="{FF2B5EF4-FFF2-40B4-BE49-F238E27FC236}">
                <a16:creationId xmlns:a16="http://schemas.microsoft.com/office/drawing/2014/main" id="{0DEB997A-12E8-4107-9D11-7417116940CB}"/>
              </a:ext>
            </a:extLst>
          </p:cNvPr>
          <p:cNvSpPr/>
          <p:nvPr/>
        </p:nvSpPr>
        <p:spPr>
          <a:xfrm>
            <a:off x="4070057" y="3675990"/>
            <a:ext cx="2311400" cy="421906"/>
          </a:xfrm>
          <a:prstGeom prst="homePlat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ts val="3267"/>
              </a:lnSpc>
            </a:pPr>
            <a:r>
              <a:rPr lang="en-US" sz="2200" b="1" spc="117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14" name="Arrow: Pentagon 13">
            <a:extLst>
              <a:ext uri="{FF2B5EF4-FFF2-40B4-BE49-F238E27FC236}">
                <a16:creationId xmlns:a16="http://schemas.microsoft.com/office/drawing/2014/main" id="{4356EB91-EE1C-409B-9702-278E9877CB22}"/>
              </a:ext>
            </a:extLst>
          </p:cNvPr>
          <p:cNvSpPr/>
          <p:nvPr/>
        </p:nvSpPr>
        <p:spPr>
          <a:xfrm>
            <a:off x="4070057" y="4803116"/>
            <a:ext cx="2311400" cy="421906"/>
          </a:xfrm>
          <a:prstGeom prst="homePlat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ts val="3267"/>
              </a:lnSpc>
            </a:pPr>
            <a:r>
              <a:rPr lang="en-US" sz="2200" b="1" spc="117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Diagram</a:t>
            </a:r>
          </a:p>
        </p:txBody>
      </p:sp>
      <p:sp>
        <p:nvSpPr>
          <p:cNvPr id="15" name="Arrow: Pentagon 14">
            <a:extLst>
              <a:ext uri="{FF2B5EF4-FFF2-40B4-BE49-F238E27FC236}">
                <a16:creationId xmlns:a16="http://schemas.microsoft.com/office/drawing/2014/main" id="{94A3F1F4-251F-4ADC-8537-022CC1BE800A}"/>
              </a:ext>
            </a:extLst>
          </p:cNvPr>
          <p:cNvSpPr/>
          <p:nvPr/>
        </p:nvSpPr>
        <p:spPr>
          <a:xfrm>
            <a:off x="6130586" y="5366679"/>
            <a:ext cx="2311400" cy="421906"/>
          </a:xfrm>
          <a:prstGeom prst="homePlat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ts val="3267"/>
              </a:lnSpc>
            </a:pPr>
            <a:r>
              <a:rPr lang="en-US" sz="2200" b="1" spc="117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6572A-C0FD-10C5-101D-CB7B092DDA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640" y="1603274"/>
            <a:ext cx="10624719" cy="4753076"/>
          </a:xfrm>
        </p:spPr>
        <p:txBody>
          <a:bodyPr>
            <a:normAutofit/>
          </a:bodyPr>
          <a:lstStyle/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Pharmaceutical products, vaccines and diagnostic materials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may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lose their effectiveness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when exposed to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unsuitable temperatures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caused by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power failure, prolonged door opening, refrigeration faults, improper placement or delays during transportation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Existing temperature-monitoring systems generally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record or report an excursion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after it occurs. Therefore, an offline-first, low-cost system is required to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detect developing cold-chain risks and estimate the time remaining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before the product reaches its configured unsafe temperature limit. </a:t>
            </a:r>
          </a:p>
          <a:p>
            <a:pPr>
              <a:lnSpc>
                <a:spcPct val="100000"/>
              </a:lnSpc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4CD470D-E591-41CF-D6F3-D8F506172B9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2B2B49-E6C8-0DD6-3778-340B5FD59A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70190" y="145180"/>
            <a:ext cx="1066540" cy="1058591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7F31E10F-95F0-7A07-CA73-57D13D23ED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7712" y="145180"/>
            <a:ext cx="1559567" cy="1058591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FB46D-483A-4F0E-AA37-0705732F113E}" type="datetime5">
              <a:rPr lang="en-US" smtClean="0"/>
              <a:t>30-Jul-26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9925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6572A-C0FD-10C5-101D-CB7B092DDA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481482"/>
            <a:ext cx="11125200" cy="4753076"/>
          </a:xfrm>
        </p:spPr>
        <p:txBody>
          <a:bodyPr>
            <a:normAutofit/>
          </a:bodyPr>
          <a:lstStyle/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continuously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monitors refrigerator air temperature, product-simulation temperature, humidity, door condition, mains-power status, compressor operation and backup-battery condition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using an ESP32-based IoT sensing unit.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 edge-based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thermal prediction model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analyses the </a:t>
            </a: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measured conditions, identifies the probable cause of risk and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estimates the Safe Holdover Time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Local alerts and offline data logging remain operational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during internet failure, while stored records are synchronised when communication is restored. </a:t>
            </a:r>
          </a:p>
          <a:p>
            <a:pPr>
              <a:lnSpc>
                <a:spcPct val="100000"/>
              </a:lnSpc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4CD470D-E591-41CF-D6F3-D8F506172B9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2B2B49-E6C8-0DD6-3778-340B5FD59A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70190" y="145180"/>
            <a:ext cx="1066540" cy="1058591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7F31E10F-95F0-7A07-CA73-57D13D23ED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7712" y="145180"/>
            <a:ext cx="1559567" cy="1058591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0D090-0BAE-4F4F-9DEB-434E7F08BDEE}" type="datetime5">
              <a:rPr lang="en-US" smtClean="0"/>
              <a:t>30-Jul-26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4530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6572A-C0FD-10C5-101D-CB7B092DDA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481482"/>
            <a:ext cx="11125200" cy="4753076"/>
          </a:xfrm>
        </p:spPr>
        <p:txBody>
          <a:bodyPr>
            <a:normAutofit lnSpcReduction="10000"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 Holdover Time: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estimated time remaining before the product-simulation temperature reaches a configured unsafe limit under the existing refrigerator or transport-box condition.</a:t>
            </a:r>
          </a:p>
          <a:p>
            <a:pPr marL="0" indent="0" algn="ctr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 Holdover Time = Remaining temperature margin ÷ (Estimated temperature - rise rate)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(or)</a:t>
            </a:r>
          </a:p>
          <a:p>
            <a:pPr marL="0" indent="0" algn="ctr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SHT = (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limit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−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÷ dT/dt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Where:</a:t>
            </a:r>
          </a:p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Estimated Safe Holdover Time</a:t>
            </a:r>
          </a:p>
          <a:p>
            <a:pPr marL="0" indent="0">
              <a:buNone/>
            </a:pP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Tlimit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Configured upper-temperature limit</a:t>
            </a:r>
          </a:p>
          <a:p>
            <a:pPr marL="0" indent="0">
              <a:buNone/>
            </a:pP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Tproduct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Present product-simulation temperature</a:t>
            </a:r>
          </a:p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dT/dt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Estimated temperature-rise rate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4CD470D-E591-41CF-D6F3-D8F506172B9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2B2B49-E6C8-0DD6-3778-340B5FD59A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70190" y="145180"/>
            <a:ext cx="1066540" cy="1058591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7F31E10F-95F0-7A07-CA73-57D13D23ED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7712" y="145180"/>
            <a:ext cx="1559567" cy="1058591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0D090-0BAE-4F4F-9DEB-434E7F08BDEE}" type="datetime5">
              <a:rPr lang="en-US" smtClean="0"/>
              <a:t>30-Jul-26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919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AFC50-5068-81E2-E880-D673D16DB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"/>
            <a:ext cx="12192001" cy="1483374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77D935-74CA-931B-B53F-F4DB6C8304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9181" y="27801"/>
            <a:ext cx="1066540" cy="1058591"/>
          </a:xfrm>
          <a:prstGeom prst="rect">
            <a:avLst/>
          </a:prstGeom>
        </p:spPr>
      </p:pic>
      <p:pic>
        <p:nvPicPr>
          <p:cNvPr id="6" name="Picture 7">
            <a:extLst>
              <a:ext uri="{FF2B5EF4-FFF2-40B4-BE49-F238E27FC236}">
                <a16:creationId xmlns:a16="http://schemas.microsoft.com/office/drawing/2014/main" id="{A0B86429-D583-EDAA-B004-524296F0A1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3969" y="27801"/>
            <a:ext cx="1638850" cy="1112406"/>
          </a:xfrm>
          <a:prstGeom prst="rect">
            <a:avLst/>
          </a:prstGeom>
        </p:spPr>
      </p:pic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D4C048DC-D39F-8DE8-2447-14FF63306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1636342"/>
              </p:ext>
            </p:extLst>
          </p:nvPr>
        </p:nvGraphicFramePr>
        <p:xfrm>
          <a:off x="345526" y="1601470"/>
          <a:ext cx="11500945" cy="4754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077">
                  <a:extLst>
                    <a:ext uri="{9D8B030D-6E8A-4147-A177-3AD203B41FA5}">
                      <a16:colId xmlns:a16="http://schemas.microsoft.com/office/drawing/2014/main" val="4223420500"/>
                    </a:ext>
                  </a:extLst>
                </a:gridCol>
                <a:gridCol w="2381638">
                  <a:extLst>
                    <a:ext uri="{9D8B030D-6E8A-4147-A177-3AD203B41FA5}">
                      <a16:colId xmlns:a16="http://schemas.microsoft.com/office/drawing/2014/main" val="3791239157"/>
                    </a:ext>
                  </a:extLst>
                </a:gridCol>
                <a:gridCol w="2489982">
                  <a:extLst>
                    <a:ext uri="{9D8B030D-6E8A-4147-A177-3AD203B41FA5}">
                      <a16:colId xmlns:a16="http://schemas.microsoft.com/office/drawing/2014/main" val="1202851857"/>
                    </a:ext>
                  </a:extLst>
                </a:gridCol>
                <a:gridCol w="1979346">
                  <a:extLst>
                    <a:ext uri="{9D8B030D-6E8A-4147-A177-3AD203B41FA5}">
                      <a16:colId xmlns:a16="http://schemas.microsoft.com/office/drawing/2014/main" val="3058503411"/>
                    </a:ext>
                  </a:extLst>
                </a:gridCol>
                <a:gridCol w="4038902">
                  <a:extLst>
                    <a:ext uri="{9D8B030D-6E8A-4147-A177-3AD203B41FA5}">
                      <a16:colId xmlns:a16="http://schemas.microsoft.com/office/drawing/2014/main" val="2990266944"/>
                    </a:ext>
                  </a:extLst>
                </a:gridCol>
              </a:tblGrid>
              <a:tr h="1146897">
                <a:tc>
                  <a:txBody>
                    <a:bodyPr/>
                    <a:lstStyle/>
                    <a:p>
                      <a:pPr algn="l"/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JOURNAL DETAILS WITH YEAR</a:t>
                      </a:r>
                    </a:p>
                    <a:p>
                      <a:pPr algn="l"/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SIGNIFICANT CONTRIBUTION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1721468"/>
                  </a:ext>
                </a:extLst>
              </a:tr>
              <a:tr h="2081560">
                <a:tc>
                  <a:txBody>
                    <a:bodyPr/>
                    <a:lstStyle/>
                    <a:p>
                      <a:pPr algn="l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N. A.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Pambudi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A.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Sarifudin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I. M.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Gandidi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and R.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Romadhon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Vaccine Cold Chain Management and Cold Storage Technology to Address the Challenges of Vaccination Programs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Energy Reports, Volume 8, November (2022), Pages 955-972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16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Inference:</a:t>
                      </a: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Cold-chain monitoring must consider power availability, refrigeration performance and storage conditions together instead of monitoring temperature alone.</a:t>
                      </a: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endParaRPr lang="en-US" sz="1600" b="1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r>
                        <a:rPr lang="en-US" sz="16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Problem Identified:</a:t>
                      </a: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work primarily reviews existing cold-storage technologies and does not implement an offline system capable of predicting the time remaining before an unsafe temperature is reached.</a:t>
                      </a:r>
                      <a:endParaRPr lang="en-US" sz="1600" b="0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3285539"/>
                  </a:ext>
                </a:extLst>
              </a:tr>
            </a:tbl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36243-37F6-4CE1-A1D3-B66846E2935A}" type="datetime5">
              <a:rPr lang="en-US" smtClean="0"/>
              <a:t>30-Jul-26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3821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AFC50-5068-81E2-E880-D673D16DB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"/>
            <a:ext cx="12192001" cy="1483374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77D935-74CA-931B-B53F-F4DB6C8304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9181" y="27801"/>
            <a:ext cx="1066540" cy="1058591"/>
          </a:xfrm>
          <a:prstGeom prst="rect">
            <a:avLst/>
          </a:prstGeom>
        </p:spPr>
      </p:pic>
      <p:pic>
        <p:nvPicPr>
          <p:cNvPr id="6" name="Picture 7">
            <a:extLst>
              <a:ext uri="{FF2B5EF4-FFF2-40B4-BE49-F238E27FC236}">
                <a16:creationId xmlns:a16="http://schemas.microsoft.com/office/drawing/2014/main" id="{A0B86429-D583-EDAA-B004-524296F0A1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3969" y="27801"/>
            <a:ext cx="1638850" cy="1112406"/>
          </a:xfrm>
          <a:prstGeom prst="rect">
            <a:avLst/>
          </a:prstGeom>
        </p:spPr>
      </p:pic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D4C048DC-D39F-8DE8-2447-14FF63306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8969646"/>
              </p:ext>
            </p:extLst>
          </p:nvPr>
        </p:nvGraphicFramePr>
        <p:xfrm>
          <a:off x="345526" y="1643293"/>
          <a:ext cx="11500945" cy="443873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5145">
                  <a:extLst>
                    <a:ext uri="{9D8B030D-6E8A-4147-A177-3AD203B41FA5}">
                      <a16:colId xmlns:a16="http://schemas.microsoft.com/office/drawing/2014/main" val="4223420500"/>
                    </a:ext>
                  </a:extLst>
                </a:gridCol>
                <a:gridCol w="2697301">
                  <a:extLst>
                    <a:ext uri="{9D8B030D-6E8A-4147-A177-3AD203B41FA5}">
                      <a16:colId xmlns:a16="http://schemas.microsoft.com/office/drawing/2014/main" val="3791239157"/>
                    </a:ext>
                  </a:extLst>
                </a:gridCol>
                <a:gridCol w="2440190">
                  <a:extLst>
                    <a:ext uri="{9D8B030D-6E8A-4147-A177-3AD203B41FA5}">
                      <a16:colId xmlns:a16="http://schemas.microsoft.com/office/drawing/2014/main" val="1202851857"/>
                    </a:ext>
                  </a:extLst>
                </a:gridCol>
                <a:gridCol w="1910423">
                  <a:extLst>
                    <a:ext uri="{9D8B030D-6E8A-4147-A177-3AD203B41FA5}">
                      <a16:colId xmlns:a16="http://schemas.microsoft.com/office/drawing/2014/main" val="3058503411"/>
                    </a:ext>
                  </a:extLst>
                </a:gridCol>
                <a:gridCol w="3827886">
                  <a:extLst>
                    <a:ext uri="{9D8B030D-6E8A-4147-A177-3AD203B41FA5}">
                      <a16:colId xmlns:a16="http://schemas.microsoft.com/office/drawing/2014/main" val="2990266944"/>
                    </a:ext>
                  </a:extLst>
                </a:gridCol>
              </a:tblGrid>
              <a:tr h="1146897">
                <a:tc>
                  <a:txBody>
                    <a:bodyPr/>
                    <a:lstStyle/>
                    <a:p>
                      <a:pPr algn="l"/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JOURNAL DETAILS WITH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SIGNIFICANT CONTRIBUTION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1721468"/>
                  </a:ext>
                </a:extLst>
              </a:tr>
              <a:tr h="2081560">
                <a:tc>
                  <a:txBody>
                    <a:bodyPr/>
                    <a:lstStyle/>
                    <a:p>
                      <a:pPr algn="just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P.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Badia-Melis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U. Mc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Carthy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L. Ruiz-Garcia, J. Garcia-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Hierro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and J. I. R.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Villalba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New Trends in Cold Chain Monitoring Applications—A Review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Food Control, Volume 86, (2018)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r>
                        <a:rPr lang="en-US" sz="16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Inference:</a:t>
                      </a: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Wireless sensing can improve cold-chain visibility, but local processing and offline storage are required when internet connectivity is unavailable.</a:t>
                      </a: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endParaRPr lang="en-US" sz="1600" b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r>
                        <a:rPr lang="en-US" sz="16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Problem Identified:</a:t>
                      </a: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Most systems concentrate on detecting or recording temperature excursions and provide limited prediction of developing equipment faults or available response time.</a:t>
                      </a:r>
                      <a:endParaRPr lang="en-US" sz="1600" b="0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85539"/>
                  </a:ext>
                </a:extLst>
              </a:tr>
            </a:tbl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A5F6E-4D48-46B3-A04A-692E5DCA3B63}" type="datetime5">
              <a:rPr lang="en-US" smtClean="0"/>
              <a:t>30-Jul-26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9071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0DC3B-2DA7-DFCD-847D-71E5D5C2A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B034B-FEA1-3935-D4B4-381DB4DAA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"/>
            <a:ext cx="12192001" cy="1483374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7DE8B5-9774-F353-1A7C-FDD77D925B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9181" y="27801"/>
            <a:ext cx="1066540" cy="1058591"/>
          </a:xfrm>
          <a:prstGeom prst="rect">
            <a:avLst/>
          </a:prstGeom>
        </p:spPr>
      </p:pic>
      <p:pic>
        <p:nvPicPr>
          <p:cNvPr id="6" name="Picture 7">
            <a:extLst>
              <a:ext uri="{FF2B5EF4-FFF2-40B4-BE49-F238E27FC236}">
                <a16:creationId xmlns:a16="http://schemas.microsoft.com/office/drawing/2014/main" id="{234EB4CA-2432-C04D-A011-5DFE268DC0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3969" y="27801"/>
            <a:ext cx="1638850" cy="1112406"/>
          </a:xfrm>
          <a:prstGeom prst="rect">
            <a:avLst/>
          </a:prstGeom>
        </p:spPr>
      </p:pic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E5BF7EA3-DC55-043F-51E2-0BC386160B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4211873"/>
              </p:ext>
            </p:extLst>
          </p:nvPr>
        </p:nvGraphicFramePr>
        <p:xfrm>
          <a:off x="345526" y="1847998"/>
          <a:ext cx="11500945" cy="443873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33452">
                  <a:extLst>
                    <a:ext uri="{9D8B030D-6E8A-4147-A177-3AD203B41FA5}">
                      <a16:colId xmlns:a16="http://schemas.microsoft.com/office/drawing/2014/main" val="4223420500"/>
                    </a:ext>
                  </a:extLst>
                </a:gridCol>
                <a:gridCol w="2488994">
                  <a:extLst>
                    <a:ext uri="{9D8B030D-6E8A-4147-A177-3AD203B41FA5}">
                      <a16:colId xmlns:a16="http://schemas.microsoft.com/office/drawing/2014/main" val="3791239157"/>
                    </a:ext>
                  </a:extLst>
                </a:gridCol>
                <a:gridCol w="2440190">
                  <a:extLst>
                    <a:ext uri="{9D8B030D-6E8A-4147-A177-3AD203B41FA5}">
                      <a16:colId xmlns:a16="http://schemas.microsoft.com/office/drawing/2014/main" val="1202851857"/>
                    </a:ext>
                  </a:extLst>
                </a:gridCol>
                <a:gridCol w="1942756">
                  <a:extLst>
                    <a:ext uri="{9D8B030D-6E8A-4147-A177-3AD203B41FA5}">
                      <a16:colId xmlns:a16="http://schemas.microsoft.com/office/drawing/2014/main" val="3058503411"/>
                    </a:ext>
                  </a:extLst>
                </a:gridCol>
                <a:gridCol w="3795553">
                  <a:extLst>
                    <a:ext uri="{9D8B030D-6E8A-4147-A177-3AD203B41FA5}">
                      <a16:colId xmlns:a16="http://schemas.microsoft.com/office/drawing/2014/main" val="2990266944"/>
                    </a:ext>
                  </a:extLst>
                </a:gridCol>
              </a:tblGrid>
              <a:tr h="1146897">
                <a:tc>
                  <a:txBody>
                    <a:bodyPr/>
                    <a:lstStyle/>
                    <a:p>
                      <a:pPr algn="l"/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JOURNAL DETAILS WITH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SIGNIFICANT CONTRIBUTION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1721468"/>
                  </a:ext>
                </a:extLst>
              </a:tr>
              <a:tr h="2081560">
                <a:tc>
                  <a:txBody>
                    <a:bodyPr/>
                    <a:lstStyle/>
                    <a:p>
                      <a:pPr algn="just"/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D. M. Matthias, J. Robertson, M. M. Garrison, S. Newland and C. Nelson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Freezing Temperatures in the Vaccine Cold Chain: A Systematic Literature Review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Vaccine, Volume 25, Issue 20, (2007)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r>
                        <a:rPr lang="en-US" sz="16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Inference</a:t>
                      </a: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proposed system must detect both high-temperature and low-temperature risks and must account for the placement of products within the refrigerator.</a:t>
                      </a: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endParaRPr lang="en-US" sz="1600" b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r>
                        <a:rPr lang="en-US" sz="16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Problem Identified</a:t>
                      </a: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study identifies the occurrence of freezing exposure but does not provide real-time equipment-fault identification or predictive warning..</a:t>
                      </a:r>
                      <a:endParaRPr lang="en-US" sz="1600" b="0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285539"/>
                  </a:ext>
                </a:extLst>
              </a:tr>
            </a:tbl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F3CB0A-B871-C956-DC22-278E089EC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A5F6E-4D48-46B3-A04A-692E5DCA3B63}" type="datetime5">
              <a:rPr lang="en-US" smtClean="0"/>
              <a:t>30-Jul-26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F289FB-F1D1-9443-291D-F2C40F8AC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C494A1-AADE-776B-804B-A1B93CD24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3566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EDFA7-1D52-DEB5-4294-77A19F8B3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BD261C15-5C80-E6D8-45BB-9C94CBDA10DB}"/>
              </a:ext>
            </a:extLst>
          </p:cNvPr>
          <p:cNvSpPr txBox="1"/>
          <p:nvPr/>
        </p:nvSpPr>
        <p:spPr>
          <a:xfrm>
            <a:off x="1833369" y="880534"/>
            <a:ext cx="8525262" cy="512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00"/>
              </a:lnSpc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60BF0B7-43AB-090D-EDF4-C9F242D22895}"/>
              </a:ext>
            </a:extLst>
          </p:cNvPr>
          <p:cNvSpPr txBox="1"/>
          <p:nvPr/>
        </p:nvSpPr>
        <p:spPr>
          <a:xfrm>
            <a:off x="685799" y="1993900"/>
            <a:ext cx="10699955" cy="40018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develop a low-cost, offline-first IoT system that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continuously monitors the thermal and operational conditions of pharmaceutical cold-storage units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 detects risks such as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power failure, prolonged door opening, abnormal temperature rise, excessive compressor cycling, low backup battery and communication loss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and validate an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edge-based thermal prediction model that estimates Safe Holdover Time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generates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prioritised local and remote alerts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before the product-simulation temperature reaches its configured unsafe limit.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233190-5FDB-C95D-4559-1E0252BAAF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09600" y="527670"/>
            <a:ext cx="1117600" cy="1109270"/>
          </a:xfrm>
          <a:prstGeom prst="rect">
            <a:avLst/>
          </a:prstGeom>
        </p:spPr>
      </p:pic>
      <p:sp>
        <p:nvSpPr>
          <p:cNvPr id="8" name="Freeform 5">
            <a:extLst>
              <a:ext uri="{FF2B5EF4-FFF2-40B4-BE49-F238E27FC236}">
                <a16:creationId xmlns:a16="http://schemas.microsoft.com/office/drawing/2014/main" id="{A2EB724D-01FF-427C-B4BC-C0225A6B093D}"/>
              </a:ext>
            </a:extLst>
          </p:cNvPr>
          <p:cNvSpPr/>
          <p:nvPr/>
        </p:nvSpPr>
        <p:spPr>
          <a:xfrm>
            <a:off x="9828867" y="485658"/>
            <a:ext cx="1763501" cy="1151281"/>
          </a:xfrm>
          <a:custGeom>
            <a:avLst/>
            <a:gdLst/>
            <a:ahLst/>
            <a:cxnLst/>
            <a:rect l="l" t="t" r="r" b="b"/>
            <a:pathLst>
              <a:path w="2645251" h="1726922">
                <a:moveTo>
                  <a:pt x="0" y="0"/>
                </a:moveTo>
                <a:lnTo>
                  <a:pt x="2645251" y="0"/>
                </a:lnTo>
                <a:lnTo>
                  <a:pt x="2645251" y="1726922"/>
                </a:lnTo>
                <a:lnTo>
                  <a:pt x="0" y="17269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 sz="12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06E4A-8847-4173-912D-37B63497B199}" type="datetime5">
              <a:rPr lang="en-US" smtClean="0"/>
              <a:t>30-Jul-26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722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9A0ED-0611-4239-3554-1825955BF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8093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1C12A2-3AE2-DB49-EBEC-6DD61243FD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73444" y="138217"/>
            <a:ext cx="1066540" cy="1058591"/>
          </a:xfrm>
          <a:prstGeom prst="rect">
            <a:avLst/>
          </a:prstGeom>
        </p:spPr>
      </p:pic>
      <p:pic>
        <p:nvPicPr>
          <p:cNvPr id="6" name="Picture 7">
            <a:extLst>
              <a:ext uri="{FF2B5EF4-FFF2-40B4-BE49-F238E27FC236}">
                <a16:creationId xmlns:a16="http://schemas.microsoft.com/office/drawing/2014/main" id="{5C2033C7-F3A3-D1AB-0B9B-6D949C17C7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9706" y="106332"/>
            <a:ext cx="1638850" cy="1112406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4A4DC-3EBB-4775-9883-95427EA86BF3}" type="datetime5">
              <a:rPr lang="en-US" smtClean="0"/>
              <a:t>30-Jul-26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10</a:t>
            </a:fld>
            <a:endParaRPr lang="en-US"/>
          </a:p>
        </p:txBody>
      </p:sp>
      <p:sp>
        <p:nvSpPr>
          <p:cNvPr id="9" name="TextBox 5">
            <a:extLst>
              <a:ext uri="{FF2B5EF4-FFF2-40B4-BE49-F238E27FC236}">
                <a16:creationId xmlns:a16="http://schemas.microsoft.com/office/drawing/2014/main" id="{ED2C394A-FDEA-4D51-BB6E-31BB301AA349}"/>
              </a:ext>
            </a:extLst>
          </p:cNvPr>
          <p:cNvSpPr txBox="1"/>
          <p:nvPr/>
        </p:nvSpPr>
        <p:spPr>
          <a:xfrm>
            <a:off x="806714" y="1335024"/>
            <a:ext cx="10699955" cy="45096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continuously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analyse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171700" lvl="4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 product-simulation temperature</a:t>
            </a:r>
          </a:p>
          <a:p>
            <a:pPr marL="2171700" lvl="4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Refrigerator air temperature</a:t>
            </a:r>
          </a:p>
          <a:p>
            <a:pPr marL="2171700" lvl="4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Rate of temperature increase or decrease</a:t>
            </a:r>
          </a:p>
          <a:p>
            <a:pPr marL="2171700" lvl="4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Duration of door opening</a:t>
            </a:r>
          </a:p>
          <a:p>
            <a:pPr marL="2171700" lvl="4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Mains-power availability</a:t>
            </a:r>
          </a:p>
          <a:p>
            <a:pPr marL="2171700" lvl="4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Compressor operating pattern</a:t>
            </a:r>
          </a:p>
          <a:p>
            <a:pPr marL="2171700" lvl="4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Backup-battery condition</a:t>
            </a:r>
          </a:p>
          <a:p>
            <a:pPr marL="2171700" lvl="4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availability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1E68F32-8264-4F81-85D7-242257AD6170}"/>
              </a:ext>
            </a:extLst>
          </p:cNvPr>
          <p:cNvSpPr/>
          <p:nvPr/>
        </p:nvSpPr>
        <p:spPr>
          <a:xfrm>
            <a:off x="8895471" y="1620017"/>
            <a:ext cx="2545080" cy="68931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5EB0E0E-1D50-42F1-A021-CD7E8E612B65}"/>
              </a:ext>
            </a:extLst>
          </p:cNvPr>
          <p:cNvSpPr/>
          <p:nvPr/>
        </p:nvSpPr>
        <p:spPr>
          <a:xfrm>
            <a:off x="8895471" y="2751009"/>
            <a:ext cx="2545080" cy="689317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ADVISORY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8008291-E00D-4DFE-A862-6AD8E8240410}"/>
              </a:ext>
            </a:extLst>
          </p:cNvPr>
          <p:cNvSpPr/>
          <p:nvPr/>
        </p:nvSpPr>
        <p:spPr>
          <a:xfrm>
            <a:off x="8895471" y="3951956"/>
            <a:ext cx="2545080" cy="68931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WARNING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CF32607-AC22-4F0C-BB83-C0E1D86FEEF3}"/>
              </a:ext>
            </a:extLst>
          </p:cNvPr>
          <p:cNvSpPr/>
          <p:nvPr/>
        </p:nvSpPr>
        <p:spPr>
          <a:xfrm>
            <a:off x="8895471" y="5131086"/>
            <a:ext cx="2545080" cy="68931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CRITICAL</a:t>
            </a:r>
          </a:p>
        </p:txBody>
      </p:sp>
    </p:spTree>
    <p:extLst>
      <p:ext uri="{BB962C8B-B14F-4D97-AF65-F5344CB8AC3E}">
        <p14:creationId xmlns:p14="http://schemas.microsoft.com/office/powerpoint/2010/main" val="14090752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EDFA7-1D52-DEB5-4294-77A19F8B3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BD261C15-5C80-E6D8-45BB-9C94CBDA10DB}"/>
              </a:ext>
            </a:extLst>
          </p:cNvPr>
          <p:cNvSpPr txBox="1"/>
          <p:nvPr/>
        </p:nvSpPr>
        <p:spPr>
          <a:xfrm>
            <a:off x="1833369" y="880534"/>
            <a:ext cx="8525262" cy="512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00"/>
              </a:lnSpc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60BF0B7-43AB-090D-EDF4-C9F242D22895}"/>
              </a:ext>
            </a:extLst>
          </p:cNvPr>
          <p:cNvSpPr txBox="1"/>
          <p:nvPr/>
        </p:nvSpPr>
        <p:spPr>
          <a:xfrm>
            <a:off x="653845" y="1741796"/>
            <a:ext cx="10699955" cy="45096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Multiple sensors will acquire air temperature, product-simulation temperature, humidity, refrigerator-door state, mains-power status, compressor activity and battery voltage. The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ESP32 will filter the measurements, extract risk-related features and store timestamped records using a DS3231 RTC and microSD card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ESP32 will classify the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probable cold-chain risk, predict Safe Holdover Time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 generate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local alerts through an OLED, buzzer and LED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Remote alerts will be delivered through an available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Wi-Fi, Bluetooth, LoRa or GSM link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while records collected during connectivity failure will be synchronised after reconnection.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233190-5FDB-C95D-4559-1E0252BAAF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09600" y="527670"/>
            <a:ext cx="1117600" cy="1109270"/>
          </a:xfrm>
          <a:prstGeom prst="rect">
            <a:avLst/>
          </a:prstGeom>
        </p:spPr>
      </p:pic>
      <p:sp>
        <p:nvSpPr>
          <p:cNvPr id="8" name="Freeform 5">
            <a:extLst>
              <a:ext uri="{FF2B5EF4-FFF2-40B4-BE49-F238E27FC236}">
                <a16:creationId xmlns:a16="http://schemas.microsoft.com/office/drawing/2014/main" id="{A2EB724D-01FF-427C-B4BC-C0225A6B093D}"/>
              </a:ext>
            </a:extLst>
          </p:cNvPr>
          <p:cNvSpPr/>
          <p:nvPr/>
        </p:nvSpPr>
        <p:spPr>
          <a:xfrm>
            <a:off x="9828867" y="485658"/>
            <a:ext cx="1763501" cy="1151281"/>
          </a:xfrm>
          <a:custGeom>
            <a:avLst/>
            <a:gdLst/>
            <a:ahLst/>
            <a:cxnLst/>
            <a:rect l="l" t="t" r="r" b="b"/>
            <a:pathLst>
              <a:path w="2645251" h="1726922">
                <a:moveTo>
                  <a:pt x="0" y="0"/>
                </a:moveTo>
                <a:lnTo>
                  <a:pt x="2645251" y="0"/>
                </a:lnTo>
                <a:lnTo>
                  <a:pt x="2645251" y="1726922"/>
                </a:lnTo>
                <a:lnTo>
                  <a:pt x="0" y="17269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 sz="12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06E4A-8847-4173-912D-37B63497B199}" type="datetime5">
              <a:rPr lang="en-US" smtClean="0"/>
              <a:t>30-Jul-26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8206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EDFA7-1D52-DEB5-4294-77A19F8B3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BD261C15-5C80-E6D8-45BB-9C94CBDA10DB}"/>
              </a:ext>
            </a:extLst>
          </p:cNvPr>
          <p:cNvSpPr txBox="1"/>
          <p:nvPr/>
        </p:nvSpPr>
        <p:spPr>
          <a:xfrm>
            <a:off x="1833369" y="880534"/>
            <a:ext cx="8525262" cy="512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00"/>
              </a:lnSpc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DIAGRAM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233190-5FDB-C95D-4559-1E0252BAAF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09600" y="527670"/>
            <a:ext cx="1117600" cy="1109270"/>
          </a:xfrm>
          <a:prstGeom prst="rect">
            <a:avLst/>
          </a:prstGeom>
        </p:spPr>
      </p:pic>
      <p:sp>
        <p:nvSpPr>
          <p:cNvPr id="8" name="Freeform 5">
            <a:extLst>
              <a:ext uri="{FF2B5EF4-FFF2-40B4-BE49-F238E27FC236}">
                <a16:creationId xmlns:a16="http://schemas.microsoft.com/office/drawing/2014/main" id="{A2EB724D-01FF-427C-B4BC-C0225A6B093D}"/>
              </a:ext>
            </a:extLst>
          </p:cNvPr>
          <p:cNvSpPr/>
          <p:nvPr/>
        </p:nvSpPr>
        <p:spPr>
          <a:xfrm>
            <a:off x="9828867" y="485658"/>
            <a:ext cx="1763501" cy="1151281"/>
          </a:xfrm>
          <a:custGeom>
            <a:avLst/>
            <a:gdLst/>
            <a:ahLst/>
            <a:cxnLst/>
            <a:rect l="l" t="t" r="r" b="b"/>
            <a:pathLst>
              <a:path w="2645251" h="1726922">
                <a:moveTo>
                  <a:pt x="0" y="0"/>
                </a:moveTo>
                <a:lnTo>
                  <a:pt x="2645251" y="0"/>
                </a:lnTo>
                <a:lnTo>
                  <a:pt x="2645251" y="1726922"/>
                </a:lnTo>
                <a:lnTo>
                  <a:pt x="0" y="17269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 sz="12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06E4A-8847-4173-912D-37B63497B199}" type="datetime5">
              <a:rPr lang="en-US" smtClean="0"/>
              <a:t>30-Jul-26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12</a:t>
            </a:fld>
            <a:endParaRPr lang="en-US"/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04108E0B-CE8A-44D3-AD5A-71269EA16FB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90768248"/>
              </p:ext>
            </p:extLst>
          </p:nvPr>
        </p:nvGraphicFramePr>
        <p:xfrm>
          <a:off x="838200" y="1788370"/>
          <a:ext cx="10754168" cy="45419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40473156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9A0ED-0611-4239-3554-1825955BF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8093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1C12A2-3AE2-DB49-EBEC-6DD61243FD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73444" y="138217"/>
            <a:ext cx="1066540" cy="1058591"/>
          </a:xfrm>
          <a:prstGeom prst="rect">
            <a:avLst/>
          </a:prstGeom>
        </p:spPr>
      </p:pic>
      <p:pic>
        <p:nvPicPr>
          <p:cNvPr id="6" name="Picture 7">
            <a:extLst>
              <a:ext uri="{FF2B5EF4-FFF2-40B4-BE49-F238E27FC236}">
                <a16:creationId xmlns:a16="http://schemas.microsoft.com/office/drawing/2014/main" id="{5C2033C7-F3A3-D1AB-0B9B-6D949C17C7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9706" y="106332"/>
            <a:ext cx="1638850" cy="1112406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4A4DC-3EBB-4775-9883-95427EA86BF3}" type="datetime5">
              <a:rPr lang="en-US" smtClean="0"/>
              <a:t>30-Jul-26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13</a:t>
            </a:fld>
            <a:endParaRPr lang="en-US"/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5F372A0C-8824-1BB9-F032-4A6A3632962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97737677"/>
              </p:ext>
            </p:extLst>
          </p:nvPr>
        </p:nvGraphicFramePr>
        <p:xfrm>
          <a:off x="136721" y="1461004"/>
          <a:ext cx="11905223" cy="48152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EC38BD0-5CF4-45FF-B20D-E9CBB6B133A6}"/>
              </a:ext>
            </a:extLst>
          </p:cNvPr>
          <p:cNvSpPr/>
          <p:nvPr/>
        </p:nvSpPr>
        <p:spPr>
          <a:xfrm>
            <a:off x="3432517" y="1161111"/>
            <a:ext cx="4720883" cy="43964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Pharmaceutical Cold Storage Unit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A7FE0F9-A0D2-4192-81CE-813227A3663F}"/>
              </a:ext>
            </a:extLst>
          </p:cNvPr>
          <p:cNvSpPr/>
          <p:nvPr/>
        </p:nvSpPr>
        <p:spPr>
          <a:xfrm>
            <a:off x="338599" y="1772252"/>
            <a:ext cx="4360010" cy="53787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and Product Sensors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903E942-83F9-48ED-A9A8-EDA5DA5AE98B}"/>
              </a:ext>
            </a:extLst>
          </p:cNvPr>
          <p:cNvSpPr/>
          <p:nvPr/>
        </p:nvSpPr>
        <p:spPr>
          <a:xfrm>
            <a:off x="466452" y="2661408"/>
            <a:ext cx="2800419" cy="365490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CONTROLLER FUNCTION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Sensory Data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Acquistion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Calibration and Filtering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Classification Thermal Prediction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 Holdover Time Estimation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14A2407-89F8-4172-991C-2EAED72E1B60}"/>
              </a:ext>
            </a:extLst>
          </p:cNvPr>
          <p:cNvSpPr/>
          <p:nvPr/>
        </p:nvSpPr>
        <p:spPr>
          <a:xfrm>
            <a:off x="6953135" y="1772251"/>
            <a:ext cx="4915088" cy="53787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Equipment, Door and Power Monitoring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07F32E8-276B-41C9-80DE-BBBCF27479C7}"/>
              </a:ext>
            </a:extLst>
          </p:cNvPr>
          <p:cNvSpPr/>
          <p:nvPr/>
        </p:nvSpPr>
        <p:spPr>
          <a:xfrm>
            <a:off x="3548658" y="3365631"/>
            <a:ext cx="4473691" cy="53787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Time, Storage and Connectivity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67F9EF9-0766-4EFF-8342-4EF89FA2BD25}"/>
              </a:ext>
            </a:extLst>
          </p:cNvPr>
          <p:cNvSpPr/>
          <p:nvPr/>
        </p:nvSpPr>
        <p:spPr>
          <a:xfrm>
            <a:off x="8882294" y="2665969"/>
            <a:ext cx="2794823" cy="361508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OLED Display – Temperature Status and Predicted SHT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Gateway and Dashboard- Graphs and Audit Logs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or SMS Alert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Buzzer and LED – Local Alarm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FA8C030-BCFE-42C0-9395-CD24C18AEFEC}"/>
              </a:ext>
            </a:extLst>
          </p:cNvPr>
          <p:cNvSpPr/>
          <p:nvPr/>
        </p:nvSpPr>
        <p:spPr>
          <a:xfrm>
            <a:off x="3548657" y="4296856"/>
            <a:ext cx="4473691" cy="92282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and Forward System – Synchronization after Reconnection 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1CFE970-B318-4400-BD03-CCAABC85FD9B}"/>
              </a:ext>
            </a:extLst>
          </p:cNvPr>
          <p:cNvSpPr/>
          <p:nvPr/>
        </p:nvSpPr>
        <p:spPr>
          <a:xfrm>
            <a:off x="3999512" y="2434406"/>
            <a:ext cx="3571989" cy="53787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 Controller 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A5B7815-61B4-430A-861D-A7C16503D389}"/>
              </a:ext>
            </a:extLst>
          </p:cNvPr>
          <p:cNvSpPr/>
          <p:nvPr/>
        </p:nvSpPr>
        <p:spPr>
          <a:xfrm>
            <a:off x="3991430" y="5757554"/>
            <a:ext cx="3588149" cy="4572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and Remote Outputs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070A85D-A650-48F3-93D8-B8B444857F92}"/>
              </a:ext>
            </a:extLst>
          </p:cNvPr>
          <p:cNvCxnSpPr>
            <a:cxnSpLocks/>
            <a:stCxn id="8" idx="2"/>
            <a:endCxn id="18" idx="0"/>
          </p:cNvCxnSpPr>
          <p:nvPr/>
        </p:nvCxnSpPr>
        <p:spPr>
          <a:xfrm flipH="1">
            <a:off x="5785507" y="1600751"/>
            <a:ext cx="7452" cy="8336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4863528-FD72-40FC-9890-12539DB6F6FF}"/>
              </a:ext>
            </a:extLst>
          </p:cNvPr>
          <p:cNvCxnSpPr>
            <a:cxnSpLocks/>
            <a:stCxn id="18" idx="2"/>
            <a:endCxn id="15" idx="0"/>
          </p:cNvCxnSpPr>
          <p:nvPr/>
        </p:nvCxnSpPr>
        <p:spPr>
          <a:xfrm flipH="1">
            <a:off x="5785504" y="2972277"/>
            <a:ext cx="3" cy="3933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B9944F7-4EC4-4867-B393-F3088E8B41AD}"/>
              </a:ext>
            </a:extLst>
          </p:cNvPr>
          <p:cNvCxnSpPr>
            <a:cxnSpLocks/>
            <a:stCxn id="15" idx="2"/>
            <a:endCxn id="17" idx="0"/>
          </p:cNvCxnSpPr>
          <p:nvPr/>
        </p:nvCxnSpPr>
        <p:spPr>
          <a:xfrm flipH="1">
            <a:off x="5785503" y="3903502"/>
            <a:ext cx="1" cy="3933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ED82429-A069-47A4-B47F-5B9BB8027833}"/>
              </a:ext>
            </a:extLst>
          </p:cNvPr>
          <p:cNvCxnSpPr>
            <a:cxnSpLocks/>
            <a:stCxn id="17" idx="2"/>
            <a:endCxn id="19" idx="0"/>
          </p:cNvCxnSpPr>
          <p:nvPr/>
        </p:nvCxnSpPr>
        <p:spPr>
          <a:xfrm>
            <a:off x="5785503" y="5219683"/>
            <a:ext cx="2" cy="5378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4F298A33-006B-4386-9912-AB8C66C857DE}"/>
              </a:ext>
            </a:extLst>
          </p:cNvPr>
          <p:cNvCxnSpPr>
            <a:cxnSpLocks/>
            <a:stCxn id="8" idx="1"/>
            <a:endCxn id="12" idx="0"/>
          </p:cNvCxnSpPr>
          <p:nvPr/>
        </p:nvCxnSpPr>
        <p:spPr>
          <a:xfrm rot="10800000" flipV="1">
            <a:off x="2518605" y="1380930"/>
            <a:ext cx="913913" cy="39132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31E72C2D-A3DF-47B5-89DC-5D89AC845DA7}"/>
              </a:ext>
            </a:extLst>
          </p:cNvPr>
          <p:cNvCxnSpPr>
            <a:cxnSpLocks/>
            <a:stCxn id="8" idx="3"/>
            <a:endCxn id="14" idx="0"/>
          </p:cNvCxnSpPr>
          <p:nvPr/>
        </p:nvCxnSpPr>
        <p:spPr>
          <a:xfrm>
            <a:off x="8153400" y="1380931"/>
            <a:ext cx="1257279" cy="39132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34262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D770B-D78A-E0E7-3694-92698CE24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WORK FLOW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DD7ADF-5DC6-7A84-7542-71002F4930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69697" y="340348"/>
            <a:ext cx="1066540" cy="1058591"/>
          </a:xfrm>
          <a:prstGeom prst="rect">
            <a:avLst/>
          </a:prstGeom>
        </p:spPr>
      </p:pic>
      <p:pic>
        <p:nvPicPr>
          <p:cNvPr id="5" name="Picture 7">
            <a:extLst>
              <a:ext uri="{FF2B5EF4-FFF2-40B4-BE49-F238E27FC236}">
                <a16:creationId xmlns:a16="http://schemas.microsoft.com/office/drawing/2014/main" id="{5C2033C7-F3A3-D1AB-0B9B-6D949C17C7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9706" y="349973"/>
            <a:ext cx="1638850" cy="1112406"/>
          </a:xfrm>
          <a:prstGeom prst="rect">
            <a:avLst/>
          </a:prstGeom>
        </p:spPr>
      </p:pic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869160"/>
              </p:ext>
            </p:extLst>
          </p:nvPr>
        </p:nvGraphicFramePr>
        <p:xfrm>
          <a:off x="838200" y="1825623"/>
          <a:ext cx="10515600" cy="3363104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34665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90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90968">
                <a:tc>
                  <a:txBody>
                    <a:bodyPr/>
                    <a:lstStyle/>
                    <a:p>
                      <a:pPr algn="ctr"/>
                      <a:r>
                        <a:rPr lang="en-IN" sz="2200" b="1" dirty="0">
                          <a:latin typeface="Times New Roman" pitchFamily="18" charset="0"/>
                          <a:cs typeface="Times New Roman" pitchFamily="18" charset="0"/>
                        </a:rPr>
                        <a:t>Review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Work to be Done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4137">
                <a:tc>
                  <a:txBody>
                    <a:bodyPr/>
                    <a:lstStyle/>
                    <a:p>
                      <a:pPr algn="just"/>
                      <a:r>
                        <a:rPr lang="en-IN" sz="2200" b="0" dirty="0">
                          <a:latin typeface="Times New Roman" pitchFamily="18" charset="0"/>
                          <a:cs typeface="Times New Roman" pitchFamily="18" charset="0"/>
                        </a:rPr>
                        <a:t>                    Review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>
                          <a:latin typeface="Times New Roman" pitchFamily="18" charset="0"/>
                          <a:cs typeface="Times New Roman" pitchFamily="18" charset="0"/>
                        </a:rPr>
                        <a:t>System Design and Sensor Development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7983">
                <a:tc>
                  <a:txBody>
                    <a:bodyPr/>
                    <a:lstStyle/>
                    <a:p>
                      <a:r>
                        <a:rPr lang="en-IN" sz="2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</a:t>
                      </a:r>
                      <a:r>
                        <a:rPr lang="en-IN" sz="2200" b="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2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>
                          <a:latin typeface="Times New Roman" pitchFamily="18" charset="0"/>
                          <a:cs typeface="Times New Roman" pitchFamily="18" charset="0"/>
                        </a:rPr>
                        <a:t>Offline IOT and Prediction </a:t>
                      </a:r>
                      <a:r>
                        <a:rPr lang="en-IN" sz="2200" dirty="0" err="1">
                          <a:latin typeface="Times New Roman" pitchFamily="18" charset="0"/>
                          <a:cs typeface="Times New Roman" pitchFamily="18" charset="0"/>
                        </a:rPr>
                        <a:t>Developement</a:t>
                      </a:r>
                      <a:endParaRPr lang="en-IN" sz="2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0016">
                <a:tc>
                  <a:txBody>
                    <a:bodyPr/>
                    <a:lstStyle/>
                    <a:p>
                      <a:r>
                        <a:rPr lang="en-IN" sz="22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Review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>
                          <a:latin typeface="Times New Roman" pitchFamily="18" charset="0"/>
                          <a:cs typeface="Times New Roman" pitchFamily="18" charset="0"/>
                        </a:rPr>
                        <a:t>Complete Integration and Validation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00D94-E088-47FB-B83E-80CCEF6E85A5}" type="datetime5">
              <a:rPr lang="en-US" smtClean="0"/>
              <a:t>30-Jul-26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0236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4544" y="1847891"/>
            <a:ext cx="10862912" cy="4508459"/>
          </a:xfrm>
        </p:spPr>
        <p:txBody>
          <a:bodyPr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[1] N. A. 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Pambudi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A. 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Sarifudin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I. M. 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Gandidi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R. 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Romadhon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“Vaccine Cold Chain Management and Cold Storage Technology to Address the Challenges of Vaccination Programs,” Energy Reports, vol. 8, pp. 955–972, 2022.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[2] P. 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Badia-Melis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U. Mc 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Carthy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L. Ruiz-Garcia, J. Garcia-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Hierro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J. I. R. 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Villalba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“New Trends in Cold Chain Monitoring Applications—A Review,” Food Control, vol. 86, pp. 170–182, 2018.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[3] Y. P. Tsang, K. L. Choy, C. H. Wu, G. T. S. Ho, H. Y. Lam and P. S. Koo, “An Internet of Things-Based Risk Monitoring System for Managing Cold Supply Chain Risks,” Industrial Management &amp; Data Systems, vol. 118, no. 7, pp. 1432–1462, 2018.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[4] D. M. Matthias, J. Robertson, M. M. Garrison, S. Newland and C. Nelson, “Freezing Temperatures in the Vaccine Cold Chain: A Systematic Literature Review,” Vaccine, vol. 25, no. 20, pp. 3980–3986, 2007.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U. 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Kartoglu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J. 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Milstien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“Tools and Approaches to Ensure Quality of Vaccines Throughout the Cold Chain,” Expert Review of Vaccines, vol. 13, no. 7, pp. 843–854, 2014.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DD7ADF-5DC6-7A84-7542-71002F4930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73444" y="263345"/>
            <a:ext cx="1066540" cy="1058591"/>
          </a:xfrm>
          <a:prstGeom prst="rect">
            <a:avLst/>
          </a:prstGeom>
        </p:spPr>
      </p:pic>
      <p:pic>
        <p:nvPicPr>
          <p:cNvPr id="5" name="Picture 7">
            <a:extLst>
              <a:ext uri="{FF2B5EF4-FFF2-40B4-BE49-F238E27FC236}">
                <a16:creationId xmlns:a16="http://schemas.microsoft.com/office/drawing/2014/main" id="{5C2033C7-F3A3-D1AB-0B9B-6D949C17C7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5327" y="207922"/>
            <a:ext cx="1638850" cy="1112406"/>
          </a:xfrm>
          <a:prstGeom prst="rect">
            <a:avLst/>
          </a:prstGeom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1444E-FE59-45DC-BB9B-AAC024F00222}" type="datetime5">
              <a:rPr lang="en-US" smtClean="0"/>
              <a:t>30-Jul-26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ZEROTH REVIEW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8268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REFERENCES(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Cntd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[6] C. M. Hanson et al., “Is Freezing in the Vaccine Cold Chain an Ongoing Issue? A Literature Review,” Vaccine, vol. 35, no. 17, 2017.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 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J. Lloyd and J. Cheyne, “The Origins of the Vaccine Cold Chain and a Glimpse of the Future,” Vaccine, vol. 35, no. 17, pp. 2115–2120, 2017.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[8] O. S. 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Kumru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S. B. Joshi, D. E. Smith, C. R. Middaugh, T. Prusik and D. B. </a:t>
            </a:r>
            <a:r>
              <a:rPr kumimoji="0" lang="en-US" altLang="en-US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Volkin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“Vaccine Instability in the Cold Chain: Mechanisms, Analysis and Formulation Strategies,” Biologicals, vol. 42, no. 5, pp. 237–259, 2014.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[9</a:t>
            </a:r>
            <a:r>
              <a:rPr lang="en-US" alt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World Health Organization, Immunization in Practice: A Practical Guide for Health Staff, 2015.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[10] World Health Organization, How to Monitor Temperatures in the Vaccine Supply Chain, Vaccine Management Handbook, 2015.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DD7ADF-5DC6-7A84-7542-71002F4930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79322" y="426975"/>
            <a:ext cx="1066540" cy="1058591"/>
          </a:xfrm>
          <a:prstGeom prst="rect">
            <a:avLst/>
          </a:prstGeom>
        </p:spPr>
      </p:pic>
      <p:pic>
        <p:nvPicPr>
          <p:cNvPr id="5" name="Picture 7">
            <a:extLst>
              <a:ext uri="{FF2B5EF4-FFF2-40B4-BE49-F238E27FC236}">
                <a16:creationId xmlns:a16="http://schemas.microsoft.com/office/drawing/2014/main" id="{5C2033C7-F3A3-D1AB-0B9B-6D949C17C7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9824" y="373160"/>
            <a:ext cx="1638850" cy="1112406"/>
          </a:xfrm>
          <a:prstGeom prst="rect">
            <a:avLst/>
          </a:prstGeom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2D49A-224E-41CF-A14E-748916EE6FD7}" type="datetime5">
              <a:rPr lang="en-US" smtClean="0"/>
              <a:t>30-Jul-26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8671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8F96A-A9EC-483A-238D-F38DBD8FE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8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4BF58-157B-4866-9A02-7CA9EAA54E89}" type="datetime5">
              <a:rPr lang="en-US" smtClean="0"/>
              <a:t>30-Jul-26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ZEROTH REVIEW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CA96C-9B8F-B941-9AF0-02B5F35F80A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1855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2991</TotalTime>
  <Words>1551</Words>
  <Application>Microsoft Office PowerPoint</Application>
  <PresentationFormat>Widescreen</PresentationFormat>
  <Paragraphs>209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Times New Roman</vt:lpstr>
      <vt:lpstr>Office Theme</vt:lpstr>
      <vt:lpstr>DESIGN AND DEVELOPMENT OF AN IOT SYSTEM FOR COLD-CHAIN RISK AND SAFE HOLDOVER TIME PREDICTION FOR PHARMACETICAL PRODUCTS</vt:lpstr>
      <vt:lpstr>PowerPoint Presentation</vt:lpstr>
      <vt:lpstr>PowerPoint Presentation</vt:lpstr>
      <vt:lpstr>PowerPoint Presentation</vt:lpstr>
      <vt:lpstr>PowerPoint Presentation</vt:lpstr>
      <vt:lpstr>LITERATURE SURVEY</vt:lpstr>
      <vt:lpstr>LITERATURE SURVEY</vt:lpstr>
      <vt:lpstr>LITERATURE SURVEY</vt:lpstr>
      <vt:lpstr>PowerPoint Presentation</vt:lpstr>
      <vt:lpstr>OBJECTIVE</vt:lpstr>
      <vt:lpstr>PowerPoint Presentation</vt:lpstr>
      <vt:lpstr>PowerPoint Presentation</vt:lpstr>
      <vt:lpstr>BLOCK DIAGRAM</vt:lpstr>
      <vt:lpstr>WORK FLOW</vt:lpstr>
      <vt:lpstr>REFERENCES</vt:lpstr>
      <vt:lpstr> REFERENCES(Cntd.)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 time adaptive beam prediction for V2V Communication</dc:title>
  <dc:creator>Microsoft Office User</dc:creator>
  <cp:lastModifiedBy>BARANITHARAN S</cp:lastModifiedBy>
  <cp:revision>112</cp:revision>
  <dcterms:created xsi:type="dcterms:W3CDTF">2024-08-14T09:59:13Z</dcterms:created>
  <dcterms:modified xsi:type="dcterms:W3CDTF">2026-07-30T15:49:40Z</dcterms:modified>
</cp:coreProperties>
</file>