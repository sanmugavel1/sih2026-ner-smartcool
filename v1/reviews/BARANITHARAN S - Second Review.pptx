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sldIdLst>
    <p:sldId id="261" r:id="rId2"/>
    <p:sldId id="257" r:id="rId3"/>
    <p:sldId id="288" r:id="rId4"/>
    <p:sldId id="317" r:id="rId5"/>
    <p:sldId id="300" r:id="rId6"/>
    <p:sldId id="299" r:id="rId7"/>
    <p:sldId id="310" r:id="rId8"/>
    <p:sldId id="301" r:id="rId9"/>
    <p:sldId id="303" r:id="rId10"/>
    <p:sldId id="298" r:id="rId11"/>
    <p:sldId id="314" r:id="rId12"/>
    <p:sldId id="315" r:id="rId13"/>
    <p:sldId id="318" r:id="rId14"/>
    <p:sldId id="319" r:id="rId15"/>
    <p:sldId id="321" r:id="rId16"/>
    <p:sldId id="316" r:id="rId17"/>
    <p:sldId id="313" r:id="rId18"/>
    <p:sldId id="311" r:id="rId19"/>
    <p:sldId id="312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3" autoAdjust="0"/>
    <p:restoredTop sz="94404" autoAdjust="0"/>
  </p:normalViewPr>
  <p:slideViewPr>
    <p:cSldViewPr snapToGrid="0">
      <p:cViewPr varScale="1">
        <p:scale>
          <a:sx n="82" d="100"/>
          <a:sy n="82" d="100"/>
        </p:scale>
        <p:origin x="70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3A16FB-5DE9-4596-8684-1B75F70141A5}" type="doc">
      <dgm:prSet loTypeId="urn:microsoft.com/office/officeart/2005/8/layout/cycle2" loCatId="cycle" qsTypeId="urn:microsoft.com/office/officeart/2005/8/quickstyle/simple2#1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9205AB9A-C7F9-4BDA-A876-179B297AEF0C}">
      <dgm:prSet phldrT="[Text]" custT="1"/>
      <dgm:spPr/>
      <dgm:t>
        <a:bodyPr/>
        <a:lstStyle/>
        <a:p>
          <a:r>
            <a: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Data-Acquisition Stage</a:t>
          </a:r>
        </a:p>
      </dgm:t>
    </dgm:pt>
    <dgm:pt modelId="{A4612B8B-1F8E-4125-B8C5-6527779D5EF8}" type="parTrans" cxnId="{9D5B4D75-0833-425B-9702-DD4FFB68D01D}">
      <dgm:prSet/>
      <dgm:spPr/>
      <dgm:t>
        <a:bodyPr/>
        <a:lstStyle/>
        <a:p>
          <a:endParaRPr lang="en-US"/>
        </a:p>
      </dgm:t>
    </dgm:pt>
    <dgm:pt modelId="{94947346-8133-4BBC-BBF5-3E897A8FE558}" type="sibTrans" cxnId="{9D5B4D75-0833-425B-9702-DD4FFB68D01D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EC35E7-7E93-4D51-AE53-2394B255862D}">
      <dgm:prSet phldrT="[Text]" custT="1"/>
      <dgm:spPr/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Risk-Analysis Stage</a:t>
          </a:r>
          <a:endParaRPr lang="en-US" sz="2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2373D8-067D-4020-9FCE-14456B2CBD28}" type="parTrans" cxnId="{EE28C7F7-9947-4877-BBEC-90B35DB447EF}">
      <dgm:prSet/>
      <dgm:spPr/>
      <dgm:t>
        <a:bodyPr/>
        <a:lstStyle/>
        <a:p>
          <a:endParaRPr lang="en-US"/>
        </a:p>
      </dgm:t>
    </dgm:pt>
    <dgm:pt modelId="{EB95161A-E788-4B15-8D4E-FC3E9467F5B4}" type="sibTrans" cxnId="{EE28C7F7-9947-4877-BBEC-90B35DB447EF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99E05B-80B7-48F9-93A6-61D71E6C3C4D}">
      <dgm:prSet phldrT="[Text]" custT="1"/>
      <dgm:spPr/>
      <dgm:t>
        <a:bodyPr/>
        <a:lstStyle/>
        <a:p>
          <a:r>
            <a: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Prediction Stage</a:t>
          </a:r>
        </a:p>
      </dgm:t>
    </dgm:pt>
    <dgm:pt modelId="{B76554DB-8F30-4A28-A76A-4EB382044EEB}" type="parTrans" cxnId="{0F62D126-EDDA-4D4F-84A9-25DB332FC5DA}">
      <dgm:prSet/>
      <dgm:spPr/>
      <dgm:t>
        <a:bodyPr/>
        <a:lstStyle/>
        <a:p>
          <a:endParaRPr lang="en-US"/>
        </a:p>
      </dgm:t>
    </dgm:pt>
    <dgm:pt modelId="{B78D0678-6DEC-4480-ACC1-432A668C4717}" type="sibTrans" cxnId="{0F62D126-EDDA-4D4F-84A9-25DB332FC5DA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91A01F-698E-4965-B955-22CA174F5B0D}">
      <dgm:prSet phldrT="[Text]" custT="1"/>
      <dgm:spPr/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Alert Stage</a:t>
          </a:r>
          <a:endParaRPr lang="en-US" sz="2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F4514E-9104-43C7-A33E-5849ECEFE577}" type="parTrans" cxnId="{C8C02CD5-E3B1-4B33-B9D8-971D5D5F5A1C}">
      <dgm:prSet/>
      <dgm:spPr/>
      <dgm:t>
        <a:bodyPr/>
        <a:lstStyle/>
        <a:p>
          <a:endParaRPr lang="en-US"/>
        </a:p>
      </dgm:t>
    </dgm:pt>
    <dgm:pt modelId="{A27320A9-FC12-450B-B002-7FB4992EB78D}" type="sibTrans" cxnId="{C8C02CD5-E3B1-4B33-B9D8-971D5D5F5A1C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A028A5-5601-4EBF-8DD3-FC4C2420E78B}">
      <dgm:prSet phldrT="[Text]" custT="1"/>
      <dgm:spPr/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Offline Synchronisation Stage</a:t>
          </a:r>
          <a:endParaRPr lang="en-US" sz="2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378905-CECD-49A3-AC5E-3B3DF8264072}" type="parTrans" cxnId="{02C14DA0-A216-4767-9C0D-D8864F88F0C3}">
      <dgm:prSet/>
      <dgm:spPr/>
      <dgm:t>
        <a:bodyPr/>
        <a:lstStyle/>
        <a:p>
          <a:endParaRPr lang="en-US"/>
        </a:p>
      </dgm:t>
    </dgm:pt>
    <dgm:pt modelId="{1BE58905-815A-41F1-88D0-EAAF6C503148}" type="sibTrans" cxnId="{02C14DA0-A216-4767-9C0D-D8864F88F0C3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19B96F-8225-4790-8DA8-26563FC146CC}" type="pres">
      <dgm:prSet presAssocID="{923A16FB-5DE9-4596-8684-1B75F70141A5}" presName="cycle" presStyleCnt="0">
        <dgm:presLayoutVars>
          <dgm:dir/>
          <dgm:resizeHandles val="exact"/>
        </dgm:presLayoutVars>
      </dgm:prSet>
      <dgm:spPr/>
    </dgm:pt>
    <dgm:pt modelId="{9BA893E5-90FD-4316-9B33-4F9DF4CB4965}" type="pres">
      <dgm:prSet presAssocID="{9205AB9A-C7F9-4BDA-A876-179B297AEF0C}" presName="node" presStyleLbl="node1" presStyleIdx="0" presStyleCnt="5" custScaleX="206593" custRadScaleRad="100056">
        <dgm:presLayoutVars>
          <dgm:bulletEnabled val="1"/>
        </dgm:presLayoutVars>
      </dgm:prSet>
      <dgm:spPr/>
    </dgm:pt>
    <dgm:pt modelId="{D145D15F-B50A-49E0-9EC6-04413E8231A0}" type="pres">
      <dgm:prSet presAssocID="{94947346-8133-4BBC-BBF5-3E897A8FE558}" presName="sibTrans" presStyleLbl="sibTrans2D1" presStyleIdx="0" presStyleCnt="5" custScaleX="206592"/>
      <dgm:spPr/>
    </dgm:pt>
    <dgm:pt modelId="{F4800AFD-284A-41B3-A469-D2288E525BC1}" type="pres">
      <dgm:prSet presAssocID="{94947346-8133-4BBC-BBF5-3E897A8FE558}" presName="connectorText" presStyleLbl="sibTrans2D1" presStyleIdx="0" presStyleCnt="5"/>
      <dgm:spPr/>
    </dgm:pt>
    <dgm:pt modelId="{55D43F6E-41CA-49A5-BA7D-B907ADBC5409}" type="pres">
      <dgm:prSet presAssocID="{82EC35E7-7E93-4D51-AE53-2394B255862D}" presName="node" presStyleLbl="node1" presStyleIdx="1" presStyleCnt="5" custScaleX="206593" custRadScaleRad="208262" custRadScaleInc="27860">
        <dgm:presLayoutVars>
          <dgm:bulletEnabled val="1"/>
        </dgm:presLayoutVars>
      </dgm:prSet>
      <dgm:spPr/>
    </dgm:pt>
    <dgm:pt modelId="{A56D5319-615B-43CB-BCE1-E71A126192C5}" type="pres">
      <dgm:prSet presAssocID="{EB95161A-E788-4B15-8D4E-FC3E9467F5B4}" presName="sibTrans" presStyleLbl="sibTrans2D1" presStyleIdx="1" presStyleCnt="5" custScaleX="206593"/>
      <dgm:spPr/>
    </dgm:pt>
    <dgm:pt modelId="{AAED0212-3340-4D14-B43E-9778C50E771F}" type="pres">
      <dgm:prSet presAssocID="{EB95161A-E788-4B15-8D4E-FC3E9467F5B4}" presName="connectorText" presStyleLbl="sibTrans2D1" presStyleIdx="1" presStyleCnt="5"/>
      <dgm:spPr/>
    </dgm:pt>
    <dgm:pt modelId="{17066ACC-B65B-423F-BD46-F6283707756F}" type="pres">
      <dgm:prSet presAssocID="{0A99E05B-80B7-48F9-93A6-61D71E6C3C4D}" presName="node" presStyleLbl="node1" presStyleIdx="2" presStyleCnt="5" custScaleX="206593" custRadScaleRad="154304" custRadScaleInc="-67846">
        <dgm:presLayoutVars>
          <dgm:bulletEnabled val="1"/>
        </dgm:presLayoutVars>
      </dgm:prSet>
      <dgm:spPr/>
    </dgm:pt>
    <dgm:pt modelId="{ED050BF6-6D0A-4BF7-8617-D734285474D5}" type="pres">
      <dgm:prSet presAssocID="{B78D0678-6DEC-4480-ACC1-432A668C4717}" presName="sibTrans" presStyleLbl="sibTrans2D1" presStyleIdx="2" presStyleCnt="5" custScaleX="206593"/>
      <dgm:spPr/>
    </dgm:pt>
    <dgm:pt modelId="{46727E26-BBB8-4E15-AF86-72E4C96CC21A}" type="pres">
      <dgm:prSet presAssocID="{B78D0678-6DEC-4480-ACC1-432A668C4717}" presName="connectorText" presStyleLbl="sibTrans2D1" presStyleIdx="2" presStyleCnt="5"/>
      <dgm:spPr/>
    </dgm:pt>
    <dgm:pt modelId="{3EA7F52D-9A0E-4C60-B849-BF830C49BC03}" type="pres">
      <dgm:prSet presAssocID="{4D91A01F-698E-4965-B955-22CA174F5B0D}" presName="node" presStyleLbl="node1" presStyleIdx="3" presStyleCnt="5" custScaleX="206593" custRadScaleRad="168524" custRadScaleInc="75369">
        <dgm:presLayoutVars>
          <dgm:bulletEnabled val="1"/>
        </dgm:presLayoutVars>
      </dgm:prSet>
      <dgm:spPr/>
    </dgm:pt>
    <dgm:pt modelId="{7F3339F9-A86C-4AAD-8A78-13B496AB1EC4}" type="pres">
      <dgm:prSet presAssocID="{A27320A9-FC12-450B-B002-7FB4992EB78D}" presName="sibTrans" presStyleLbl="sibTrans2D1" presStyleIdx="3" presStyleCnt="5" custScaleX="206593"/>
      <dgm:spPr/>
    </dgm:pt>
    <dgm:pt modelId="{02D33B93-99CE-4102-B9A4-774979A7C61B}" type="pres">
      <dgm:prSet presAssocID="{A27320A9-FC12-450B-B002-7FB4992EB78D}" presName="connectorText" presStyleLbl="sibTrans2D1" presStyleIdx="3" presStyleCnt="5"/>
      <dgm:spPr/>
    </dgm:pt>
    <dgm:pt modelId="{36F69390-E26A-40B8-8F74-04B705FF0FC8}" type="pres">
      <dgm:prSet presAssocID="{69A028A5-5601-4EBF-8DD3-FC4C2420E78B}" presName="node" presStyleLbl="node1" presStyleIdx="4" presStyleCnt="5" custScaleX="206593" custRadScaleRad="210442" custRadScaleInc="-22263">
        <dgm:presLayoutVars>
          <dgm:bulletEnabled val="1"/>
        </dgm:presLayoutVars>
      </dgm:prSet>
      <dgm:spPr/>
    </dgm:pt>
    <dgm:pt modelId="{B73E2B81-46B1-4921-BDEC-35F03AB8AECD}" type="pres">
      <dgm:prSet presAssocID="{1BE58905-815A-41F1-88D0-EAAF6C503148}" presName="sibTrans" presStyleLbl="sibTrans2D1" presStyleIdx="4" presStyleCnt="5" custScaleX="206592"/>
      <dgm:spPr/>
    </dgm:pt>
    <dgm:pt modelId="{50A0B7AC-88D3-4009-A795-D238BEDB4A9B}" type="pres">
      <dgm:prSet presAssocID="{1BE58905-815A-41F1-88D0-EAAF6C503148}" presName="connectorText" presStyleLbl="sibTrans2D1" presStyleIdx="4" presStyleCnt="5"/>
      <dgm:spPr/>
    </dgm:pt>
  </dgm:ptLst>
  <dgm:cxnLst>
    <dgm:cxn modelId="{F7403C09-F1FD-45D6-B0AC-2502BF74FCC5}" type="presOf" srcId="{1BE58905-815A-41F1-88D0-EAAF6C503148}" destId="{B73E2B81-46B1-4921-BDEC-35F03AB8AECD}" srcOrd="0" destOrd="0" presId="urn:microsoft.com/office/officeart/2005/8/layout/cycle2"/>
    <dgm:cxn modelId="{FC8E6E09-0AF8-44A6-9896-A478DF591641}" type="presOf" srcId="{69A028A5-5601-4EBF-8DD3-FC4C2420E78B}" destId="{36F69390-E26A-40B8-8F74-04B705FF0FC8}" srcOrd="0" destOrd="0" presId="urn:microsoft.com/office/officeart/2005/8/layout/cycle2"/>
    <dgm:cxn modelId="{789F251A-BDF4-45B0-A57F-485235312D20}" type="presOf" srcId="{B78D0678-6DEC-4480-ACC1-432A668C4717}" destId="{ED050BF6-6D0A-4BF7-8617-D734285474D5}" srcOrd="0" destOrd="0" presId="urn:microsoft.com/office/officeart/2005/8/layout/cycle2"/>
    <dgm:cxn modelId="{8E46F61F-EF5F-4199-9A5F-F9520525AA87}" type="presOf" srcId="{4D91A01F-698E-4965-B955-22CA174F5B0D}" destId="{3EA7F52D-9A0E-4C60-B849-BF830C49BC03}" srcOrd="0" destOrd="0" presId="urn:microsoft.com/office/officeart/2005/8/layout/cycle2"/>
    <dgm:cxn modelId="{0F62D126-EDDA-4D4F-84A9-25DB332FC5DA}" srcId="{923A16FB-5DE9-4596-8684-1B75F70141A5}" destId="{0A99E05B-80B7-48F9-93A6-61D71E6C3C4D}" srcOrd="2" destOrd="0" parTransId="{B76554DB-8F30-4A28-A76A-4EB382044EEB}" sibTransId="{B78D0678-6DEC-4480-ACC1-432A668C4717}"/>
    <dgm:cxn modelId="{0BC39F38-37F4-4574-BE90-E6DC852C6DA6}" type="presOf" srcId="{EB95161A-E788-4B15-8D4E-FC3E9467F5B4}" destId="{A56D5319-615B-43CB-BCE1-E71A126192C5}" srcOrd="0" destOrd="0" presId="urn:microsoft.com/office/officeart/2005/8/layout/cycle2"/>
    <dgm:cxn modelId="{7BDE5040-337A-41AC-9E89-63B3BEDC72B2}" type="presOf" srcId="{94947346-8133-4BBC-BBF5-3E897A8FE558}" destId="{F4800AFD-284A-41B3-A469-D2288E525BC1}" srcOrd="1" destOrd="0" presId="urn:microsoft.com/office/officeart/2005/8/layout/cycle2"/>
    <dgm:cxn modelId="{CFE94F6F-23F1-47D0-86DF-CB9A07F7CF8A}" type="presOf" srcId="{A27320A9-FC12-450B-B002-7FB4992EB78D}" destId="{02D33B93-99CE-4102-B9A4-774979A7C61B}" srcOrd="1" destOrd="0" presId="urn:microsoft.com/office/officeart/2005/8/layout/cycle2"/>
    <dgm:cxn modelId="{2D8F754F-327B-4095-B666-30B0FF0B9852}" type="presOf" srcId="{A27320A9-FC12-450B-B002-7FB4992EB78D}" destId="{7F3339F9-A86C-4AAD-8A78-13B496AB1EC4}" srcOrd="0" destOrd="0" presId="urn:microsoft.com/office/officeart/2005/8/layout/cycle2"/>
    <dgm:cxn modelId="{9D5B4D75-0833-425B-9702-DD4FFB68D01D}" srcId="{923A16FB-5DE9-4596-8684-1B75F70141A5}" destId="{9205AB9A-C7F9-4BDA-A876-179B297AEF0C}" srcOrd="0" destOrd="0" parTransId="{A4612B8B-1F8E-4125-B8C5-6527779D5EF8}" sibTransId="{94947346-8133-4BBC-BBF5-3E897A8FE558}"/>
    <dgm:cxn modelId="{38D5C355-5A9B-4A59-AAA1-F0EF11A4F156}" type="presOf" srcId="{EB95161A-E788-4B15-8D4E-FC3E9467F5B4}" destId="{AAED0212-3340-4D14-B43E-9778C50E771F}" srcOrd="1" destOrd="0" presId="urn:microsoft.com/office/officeart/2005/8/layout/cycle2"/>
    <dgm:cxn modelId="{7962CE9E-9A4A-41DB-8DDE-7003D6443639}" type="presOf" srcId="{82EC35E7-7E93-4D51-AE53-2394B255862D}" destId="{55D43F6E-41CA-49A5-BA7D-B907ADBC5409}" srcOrd="0" destOrd="0" presId="urn:microsoft.com/office/officeart/2005/8/layout/cycle2"/>
    <dgm:cxn modelId="{02C14DA0-A216-4767-9C0D-D8864F88F0C3}" srcId="{923A16FB-5DE9-4596-8684-1B75F70141A5}" destId="{69A028A5-5601-4EBF-8DD3-FC4C2420E78B}" srcOrd="4" destOrd="0" parTransId="{E9378905-CECD-49A3-AC5E-3B3DF8264072}" sibTransId="{1BE58905-815A-41F1-88D0-EAAF6C503148}"/>
    <dgm:cxn modelId="{003962A3-9CE1-4243-9F43-69D462DE0272}" type="presOf" srcId="{1BE58905-815A-41F1-88D0-EAAF6C503148}" destId="{50A0B7AC-88D3-4009-A795-D238BEDB4A9B}" srcOrd="1" destOrd="0" presId="urn:microsoft.com/office/officeart/2005/8/layout/cycle2"/>
    <dgm:cxn modelId="{50723BB3-CB3A-4FE2-9918-8FF95976359E}" type="presOf" srcId="{9205AB9A-C7F9-4BDA-A876-179B297AEF0C}" destId="{9BA893E5-90FD-4316-9B33-4F9DF4CB4965}" srcOrd="0" destOrd="0" presId="urn:microsoft.com/office/officeart/2005/8/layout/cycle2"/>
    <dgm:cxn modelId="{565B54B4-8A7D-4DA8-B321-EA7D2133DFEC}" type="presOf" srcId="{923A16FB-5DE9-4596-8684-1B75F70141A5}" destId="{E319B96F-8225-4790-8DA8-26563FC146CC}" srcOrd="0" destOrd="0" presId="urn:microsoft.com/office/officeart/2005/8/layout/cycle2"/>
    <dgm:cxn modelId="{214228D0-2B8A-4018-8DDF-6E35A9957C81}" type="presOf" srcId="{94947346-8133-4BBC-BBF5-3E897A8FE558}" destId="{D145D15F-B50A-49E0-9EC6-04413E8231A0}" srcOrd="0" destOrd="0" presId="urn:microsoft.com/office/officeart/2005/8/layout/cycle2"/>
    <dgm:cxn modelId="{D155A8D4-E2E9-49FB-B2FD-F483D6268FC6}" type="presOf" srcId="{B78D0678-6DEC-4480-ACC1-432A668C4717}" destId="{46727E26-BBB8-4E15-AF86-72E4C96CC21A}" srcOrd="1" destOrd="0" presId="urn:microsoft.com/office/officeart/2005/8/layout/cycle2"/>
    <dgm:cxn modelId="{C8C02CD5-E3B1-4B33-B9D8-971D5D5F5A1C}" srcId="{923A16FB-5DE9-4596-8684-1B75F70141A5}" destId="{4D91A01F-698E-4965-B955-22CA174F5B0D}" srcOrd="3" destOrd="0" parTransId="{36F4514E-9104-43C7-A33E-5849ECEFE577}" sibTransId="{A27320A9-FC12-450B-B002-7FB4992EB78D}"/>
    <dgm:cxn modelId="{5F0F30EA-59BD-4A14-AA53-C137B9A6B61F}" type="presOf" srcId="{0A99E05B-80B7-48F9-93A6-61D71E6C3C4D}" destId="{17066ACC-B65B-423F-BD46-F6283707756F}" srcOrd="0" destOrd="0" presId="urn:microsoft.com/office/officeart/2005/8/layout/cycle2"/>
    <dgm:cxn modelId="{EE28C7F7-9947-4877-BBEC-90B35DB447EF}" srcId="{923A16FB-5DE9-4596-8684-1B75F70141A5}" destId="{82EC35E7-7E93-4D51-AE53-2394B255862D}" srcOrd="1" destOrd="0" parTransId="{C02373D8-067D-4020-9FCE-14456B2CBD28}" sibTransId="{EB95161A-E788-4B15-8D4E-FC3E9467F5B4}"/>
    <dgm:cxn modelId="{4B7A5570-66D6-4BF5-BA91-65ACAAF12474}" type="presParOf" srcId="{E319B96F-8225-4790-8DA8-26563FC146CC}" destId="{9BA893E5-90FD-4316-9B33-4F9DF4CB4965}" srcOrd="0" destOrd="0" presId="urn:microsoft.com/office/officeart/2005/8/layout/cycle2"/>
    <dgm:cxn modelId="{6C9298AE-2568-400E-90FD-76958523CBC4}" type="presParOf" srcId="{E319B96F-8225-4790-8DA8-26563FC146CC}" destId="{D145D15F-B50A-49E0-9EC6-04413E8231A0}" srcOrd="1" destOrd="0" presId="urn:microsoft.com/office/officeart/2005/8/layout/cycle2"/>
    <dgm:cxn modelId="{AA757621-9DDB-4B45-9D9A-38C10B9ACF84}" type="presParOf" srcId="{D145D15F-B50A-49E0-9EC6-04413E8231A0}" destId="{F4800AFD-284A-41B3-A469-D2288E525BC1}" srcOrd="0" destOrd="0" presId="urn:microsoft.com/office/officeart/2005/8/layout/cycle2"/>
    <dgm:cxn modelId="{A9497DB1-F4DD-40C5-A7E0-6A6188C5B5A8}" type="presParOf" srcId="{E319B96F-8225-4790-8DA8-26563FC146CC}" destId="{55D43F6E-41CA-49A5-BA7D-B907ADBC5409}" srcOrd="2" destOrd="0" presId="urn:microsoft.com/office/officeart/2005/8/layout/cycle2"/>
    <dgm:cxn modelId="{147207A7-A0F8-4D4D-8D1E-16F5C663DAB9}" type="presParOf" srcId="{E319B96F-8225-4790-8DA8-26563FC146CC}" destId="{A56D5319-615B-43CB-BCE1-E71A126192C5}" srcOrd="3" destOrd="0" presId="urn:microsoft.com/office/officeart/2005/8/layout/cycle2"/>
    <dgm:cxn modelId="{1009A845-F204-417F-AA22-5951416F71D2}" type="presParOf" srcId="{A56D5319-615B-43CB-BCE1-E71A126192C5}" destId="{AAED0212-3340-4D14-B43E-9778C50E771F}" srcOrd="0" destOrd="0" presId="urn:microsoft.com/office/officeart/2005/8/layout/cycle2"/>
    <dgm:cxn modelId="{CAEC64EB-FC64-4F74-9733-BB53A9B54396}" type="presParOf" srcId="{E319B96F-8225-4790-8DA8-26563FC146CC}" destId="{17066ACC-B65B-423F-BD46-F6283707756F}" srcOrd="4" destOrd="0" presId="urn:microsoft.com/office/officeart/2005/8/layout/cycle2"/>
    <dgm:cxn modelId="{AB6B1317-442D-4738-9EA2-37319BDD8200}" type="presParOf" srcId="{E319B96F-8225-4790-8DA8-26563FC146CC}" destId="{ED050BF6-6D0A-4BF7-8617-D734285474D5}" srcOrd="5" destOrd="0" presId="urn:microsoft.com/office/officeart/2005/8/layout/cycle2"/>
    <dgm:cxn modelId="{96764874-62B9-4CE2-8475-B2B76FF72295}" type="presParOf" srcId="{ED050BF6-6D0A-4BF7-8617-D734285474D5}" destId="{46727E26-BBB8-4E15-AF86-72E4C96CC21A}" srcOrd="0" destOrd="0" presId="urn:microsoft.com/office/officeart/2005/8/layout/cycle2"/>
    <dgm:cxn modelId="{9EA1371C-A599-4C9D-838C-24FEBB87779B}" type="presParOf" srcId="{E319B96F-8225-4790-8DA8-26563FC146CC}" destId="{3EA7F52D-9A0E-4C60-B849-BF830C49BC03}" srcOrd="6" destOrd="0" presId="urn:microsoft.com/office/officeart/2005/8/layout/cycle2"/>
    <dgm:cxn modelId="{C95CE9DD-41F9-4D96-B725-6C7897536C7D}" type="presParOf" srcId="{E319B96F-8225-4790-8DA8-26563FC146CC}" destId="{7F3339F9-A86C-4AAD-8A78-13B496AB1EC4}" srcOrd="7" destOrd="0" presId="urn:microsoft.com/office/officeart/2005/8/layout/cycle2"/>
    <dgm:cxn modelId="{2FEBE0A5-7DF4-494A-842D-A1EFA97FE865}" type="presParOf" srcId="{7F3339F9-A86C-4AAD-8A78-13B496AB1EC4}" destId="{02D33B93-99CE-4102-B9A4-774979A7C61B}" srcOrd="0" destOrd="0" presId="urn:microsoft.com/office/officeart/2005/8/layout/cycle2"/>
    <dgm:cxn modelId="{620DF6CA-0485-49BA-88DD-C469765DBF02}" type="presParOf" srcId="{E319B96F-8225-4790-8DA8-26563FC146CC}" destId="{36F69390-E26A-40B8-8F74-04B705FF0FC8}" srcOrd="8" destOrd="0" presId="urn:microsoft.com/office/officeart/2005/8/layout/cycle2"/>
    <dgm:cxn modelId="{C5DA28A3-FC24-405F-A0F9-2EAF3953AB99}" type="presParOf" srcId="{E319B96F-8225-4790-8DA8-26563FC146CC}" destId="{B73E2B81-46B1-4921-BDEC-35F03AB8AECD}" srcOrd="9" destOrd="0" presId="urn:microsoft.com/office/officeart/2005/8/layout/cycle2"/>
    <dgm:cxn modelId="{2E9C7D5D-4D2B-49AF-8872-F958D2F9089A}" type="presParOf" srcId="{B73E2B81-46B1-4921-BDEC-35F03AB8AECD}" destId="{50A0B7AC-88D3-4009-A795-D238BEDB4A9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A893E5-90FD-4316-9B33-4F9DF4CB4965}">
      <dsp:nvSpPr>
        <dsp:cNvPr id="0" name=""/>
        <dsp:cNvSpPr/>
      </dsp:nvSpPr>
      <dsp:spPr>
        <a:xfrm>
          <a:off x="3961378" y="1"/>
          <a:ext cx="2831411" cy="137052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Data-Acquisition Stage</a:t>
          </a:r>
        </a:p>
      </dsp:txBody>
      <dsp:txXfrm>
        <a:off x="4376029" y="200710"/>
        <a:ext cx="2002109" cy="969108"/>
      </dsp:txXfrm>
    </dsp:sp>
    <dsp:sp modelId="{D145D15F-B50A-49E0-9EC6-04413E8231A0}">
      <dsp:nvSpPr>
        <dsp:cNvPr id="0" name=""/>
        <dsp:cNvSpPr/>
      </dsp:nvSpPr>
      <dsp:spPr>
        <a:xfrm rot="1142390">
          <a:off x="6406647" y="1070750"/>
          <a:ext cx="1515211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10443" y="1140626"/>
        <a:ext cx="1376445" cy="277532"/>
      </dsp:txXfrm>
    </dsp:sp>
    <dsp:sp modelId="{55D43F6E-41CA-49A5-BA7D-B907ADBC5409}">
      <dsp:nvSpPr>
        <dsp:cNvPr id="0" name=""/>
        <dsp:cNvSpPr/>
      </dsp:nvSpPr>
      <dsp:spPr>
        <a:xfrm>
          <a:off x="7574959" y="1247068"/>
          <a:ext cx="2831411" cy="1370526"/>
        </a:xfrm>
        <a:prstGeom prst="ellipse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Risk-Analysis Stage</a:t>
          </a:r>
          <a:endParaRPr lang="en-US" sz="2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989610" y="1447777"/>
        <a:ext cx="2002109" cy="969108"/>
      </dsp:txXfrm>
    </dsp:sp>
    <dsp:sp modelId="{A56D5319-615B-43CB-BCE1-E71A126192C5}">
      <dsp:nvSpPr>
        <dsp:cNvPr id="0" name=""/>
        <dsp:cNvSpPr/>
      </dsp:nvSpPr>
      <dsp:spPr>
        <a:xfrm rot="7466899">
          <a:off x="8006802" y="2613111"/>
          <a:ext cx="716469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8115432" y="2648405"/>
        <a:ext cx="577703" cy="277532"/>
      </dsp:txXfrm>
    </dsp:sp>
    <dsp:sp modelId="{17066ACC-B65B-423F-BD46-F6283707756F}">
      <dsp:nvSpPr>
        <dsp:cNvPr id="0" name=""/>
        <dsp:cNvSpPr/>
      </dsp:nvSpPr>
      <dsp:spPr>
        <a:xfrm>
          <a:off x="6312599" y="3087367"/>
          <a:ext cx="2831411" cy="1370526"/>
        </a:xfrm>
        <a:prstGeom prst="ellips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Prediction Stage</a:t>
          </a:r>
        </a:p>
      </dsp:txBody>
      <dsp:txXfrm>
        <a:off x="6727250" y="3288076"/>
        <a:ext cx="2002109" cy="969108"/>
      </dsp:txXfrm>
    </dsp:sp>
    <dsp:sp modelId="{ED050BF6-6D0A-4BF7-8617-D734285474D5}">
      <dsp:nvSpPr>
        <dsp:cNvPr id="0" name=""/>
        <dsp:cNvSpPr/>
      </dsp:nvSpPr>
      <dsp:spPr>
        <a:xfrm rot="10799997">
          <a:off x="4088965" y="3541356"/>
          <a:ext cx="2358178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4227731" y="3633866"/>
        <a:ext cx="2219412" cy="277532"/>
      </dsp:txXfrm>
    </dsp:sp>
    <dsp:sp modelId="{3EA7F52D-9A0E-4C60-B849-BF830C49BC03}">
      <dsp:nvSpPr>
        <dsp:cNvPr id="0" name=""/>
        <dsp:cNvSpPr/>
      </dsp:nvSpPr>
      <dsp:spPr>
        <a:xfrm>
          <a:off x="1327487" y="3087372"/>
          <a:ext cx="2831411" cy="1370526"/>
        </a:xfrm>
        <a:prstGeom prst="ellipse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Alert Stage</a:t>
          </a:r>
          <a:endParaRPr lang="en-US" sz="2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42138" y="3288081"/>
        <a:ext cx="2002109" cy="969108"/>
      </dsp:txXfrm>
    </dsp:sp>
    <dsp:sp modelId="{7F3339F9-A86C-4AAD-8A78-13B496AB1EC4}">
      <dsp:nvSpPr>
        <dsp:cNvPr id="0" name=""/>
        <dsp:cNvSpPr/>
      </dsp:nvSpPr>
      <dsp:spPr>
        <a:xfrm rot="14591566">
          <a:off x="1855388" y="2564161"/>
          <a:ext cx="788064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956062" y="2718597"/>
        <a:ext cx="649298" cy="277532"/>
      </dsp:txXfrm>
    </dsp:sp>
    <dsp:sp modelId="{36F69390-E26A-40B8-8F74-04B705FF0FC8}">
      <dsp:nvSpPr>
        <dsp:cNvPr id="0" name=""/>
        <dsp:cNvSpPr/>
      </dsp:nvSpPr>
      <dsp:spPr>
        <a:xfrm>
          <a:off x="330204" y="1113706"/>
          <a:ext cx="2831411" cy="1370526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Offline Synchronisation Stage</a:t>
          </a:r>
          <a:endParaRPr lang="en-US" sz="2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4855" y="1314415"/>
        <a:ext cx="2002109" cy="969108"/>
      </dsp:txXfrm>
    </dsp:sp>
    <dsp:sp modelId="{B73E2B81-46B1-4921-BDEC-35F03AB8AECD}">
      <dsp:nvSpPr>
        <dsp:cNvPr id="0" name=""/>
        <dsp:cNvSpPr/>
      </dsp:nvSpPr>
      <dsp:spPr>
        <a:xfrm rot="20576933">
          <a:off x="2833135" y="1016543"/>
          <a:ext cx="1419538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36185" y="1129398"/>
        <a:ext cx="1280772" cy="2775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6681D-7503-4C80-A3BE-FFF690FE564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E86CB-CBCB-4DA2-9577-1F846804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8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B340-7ED3-EFB8-A275-1E952B837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088C8-2CC6-6F89-C178-9430B345E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4163-56AA-3594-2F32-3659240D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1750-8C24-49F5-9016-B8F2876CEDD8}" type="datetime5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8ABB0-D31F-AB31-91EA-029A7164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68945-5910-C5E7-E57F-7C603CAC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4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131B-772A-512E-732E-F631288D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D00E1-0080-552C-E780-89F1ADF4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5DD0-0C27-6863-7DB3-255B5473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3798-0BE9-43ED-AC81-12BD4AB64487}" type="datetime5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0CA44-7710-58FC-AB67-7100A0AE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7DAC2-6F3B-6D71-B9AD-21D5761A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0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F2F6-3E88-8451-BD41-BBF788B5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43E50-E408-7797-F89C-E20419CEE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19DAF-D4A9-81A5-5E0B-D9CE1A3F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FAA5-B43E-4DD7-8EA7-6B032794BAA3}" type="datetime5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734B-D908-EBB0-16D8-42FFD94B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77A44-DC1C-A7EC-4B74-7F8A2609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6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E1E6-0582-CE75-E5D1-5943CA9C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B96A-1C66-70D2-D8B0-9405C9A0E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4E488-0DD1-C197-6750-A7B38E8D3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34A54-344C-3517-0A05-0936A6C2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200DC-DA3E-4BF2-BC8A-EB519D7EBAAB}" type="datetime5">
              <a:rPr lang="en-US" smtClean="0"/>
              <a:t>16-Sep-26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3D402-BBFC-BF5D-3C1E-ED2D4A59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F903F-3FDE-495E-78E0-7FC95B9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3912-6E6F-8912-9861-4520867C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15643-6370-5FFA-2C6D-7ACF4C57F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2CF07-4D19-2340-7822-757A77F1F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1555E-F458-F946-22B7-E4A04A619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1E1E5-1674-0A63-4CE2-A06289D21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78EC2-4AAF-5A68-6B0D-DB6DB2E6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90-8A37-41A9-8888-66BCEE09D009}" type="datetime5">
              <a:rPr lang="en-US" smtClean="0"/>
              <a:t>16-Sep-26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FE90B-1F5E-28A1-2E18-AC500648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E1A41-8BCF-7114-9090-78DBF24F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8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B9A1-E543-9F76-88AF-F67CD5FF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6D779-5DE9-3042-8548-83336B1D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E23-5B90-46E2-B161-1CF1010C2FF7}" type="datetime5">
              <a:rPr lang="en-US" smtClean="0"/>
              <a:t>16-Sep-26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B6602-5A6A-7329-8112-8F74E787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38D7F-01BC-4A51-77FC-B6882C4B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0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6B6FD-AF85-CFF1-390C-E4A09943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AAB3-6026-40DD-AD1E-619B9934F05F}" type="datetime5">
              <a:rPr lang="en-US" smtClean="0"/>
              <a:t>16-Sep-26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6C8A6-F329-9E22-96C5-DCDB930E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67A9D-CD44-DBC9-EC9C-D9155078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0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3752-CCA2-3892-2C41-C28BDC67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1347-4D92-9ABF-1926-3A418BD2A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1061D-7170-656D-6F2F-58C51815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06B0-C9DD-A689-C2EA-40AEB4A0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19EC-47E5-4BB3-B729-B20CF2085387}" type="datetime5">
              <a:rPr lang="en-US" smtClean="0"/>
              <a:t>16-Sep-26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FA4F1-23B7-920C-F295-F366A43E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856CA-B708-A49C-4F88-CB8C32C0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6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5300-4F14-2D75-7E90-8017E9FA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2A702-B311-A33B-F583-D4818BC54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7CCA5-BA08-263C-8141-E32B7EA2C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73656-9453-5C13-508D-B6B5099B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3C1-9EB5-4BCF-9D4F-DC1CF5F78D83}" type="datetime5">
              <a:rPr lang="en-US" smtClean="0"/>
              <a:t>16-Sep-26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F560E-4B9D-EEAB-F7AF-4FC2FA19B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EB3EC-EF31-1C0D-B03B-9200173D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2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67F9-D924-1CB9-BFD0-2686604A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07C56-F0CF-C8FB-1D77-A26756C33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75CA9-B1FF-45C6-0BB7-63850228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E6D09-20CD-4314-BBC5-3DB0F78EAA38}" type="datetime5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AAE7-4AFC-31E0-2604-6F3445BA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FCE9-CA44-0DD1-853F-7590D369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6FD15-E4FC-10D0-230B-BB440214E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ABD07-6CA9-2943-77F7-62F0CDB02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46E24-F508-422C-1155-764686D2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5159-8A95-45A4-8BB8-B19D17D5F1AD}" type="datetime5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DAF3-E067-B45E-52E2-60F5ECCC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5C18-2ACB-8566-87A1-79FCFDCC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9B02B-0E20-E958-8A7E-AEEC1EE1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AD715-C174-6B78-17F4-10D6EC398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78F9-57A2-39CF-B29A-9A367F88B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05179-4F8E-41AA-B3D4-C73240EB2FAB}" type="datetime5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1F574-34BB-8454-F281-AD2383722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B143-6D95-866E-E6CE-AC4A2E24C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6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ur.wikipedia.org/wiki/%D8%AC%D8%A7%D9%85%D8%B9%DB%81_%D8%A7%D9%86%D8%A7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file:///E:\ME033\PROJECT%20WORK\New%20folder\dashboard.html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file:///E:\ME033\PROJECT%20WORK\ColdTrace_Dashboard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1.png"/><Relationship Id="rId7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jpeg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D273-2383-949F-806D-D751F0513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4844" y="2458955"/>
            <a:ext cx="9268897" cy="1444498"/>
          </a:xfrm>
        </p:spPr>
        <p:txBody>
          <a:bodyPr>
            <a:no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2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DEVELOPMENT OF AN OFFLINE-FIRST EDGE-IoT SYSTEM FOR COLD CHAIN RISK MONITORING AND SAFE HOLDOVER TIME PREDICTION</a:t>
            </a:r>
            <a:endParaRPr lang="en-US" sz="22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F9889-2C2E-EC39-2FC1-820173295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707" y="4301204"/>
            <a:ext cx="10829307" cy="2286941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Presented by:							Under the guidance of :</a:t>
            </a:r>
          </a:p>
          <a:p>
            <a:pPr algn="just">
              <a:lnSpc>
                <a:spcPct val="110000"/>
              </a:lnSpc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BARANITHARAN S (2025610033)					Dr. P. T. V. BHUVANESWARI</a:t>
            </a:r>
          </a:p>
          <a:p>
            <a:pPr algn="just">
              <a:lnSpc>
                <a:spcPct val="110000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M.E., Communication and Networking					Professor and Head,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                                                                      Dept of Electronics Engineering,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                                                Madras Institute of Technology,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Anna University.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71950" lvl="8" indent="-514350" algn="just">
              <a:buAutoNum type="arabicParenR"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AutoNum type="arabicParenR"/>
            </a:pP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5437" y="269855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3" y="242947"/>
            <a:ext cx="1638850" cy="1112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26F840-8897-05F9-BC4F-CF00838E71C1}"/>
              </a:ext>
            </a:extLst>
          </p:cNvPr>
          <p:cNvSpPr txBox="1"/>
          <p:nvPr/>
        </p:nvSpPr>
        <p:spPr>
          <a:xfrm>
            <a:off x="0" y="479976"/>
            <a:ext cx="12191998" cy="1444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</a:t>
            </a:r>
          </a:p>
          <a:p>
            <a:pPr algn="ctr">
              <a:lnSpc>
                <a:spcPct val="150000"/>
              </a:lnSpc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CAMPUS, ANNA UNIVERSITY</a:t>
            </a:r>
          </a:p>
          <a:p>
            <a:pPr algn="ctr">
              <a:lnSpc>
                <a:spcPct val="150000"/>
              </a:lnSpc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I</a:t>
            </a:r>
          </a:p>
        </p:txBody>
      </p:sp>
    </p:spTree>
    <p:extLst>
      <p:ext uri="{BB962C8B-B14F-4D97-AF65-F5344CB8AC3E}">
        <p14:creationId xmlns:p14="http://schemas.microsoft.com/office/powerpoint/2010/main" val="389640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747715" y="654517"/>
            <a:ext cx="8081152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B0687-CF1D-BACE-09DE-CFDCFB2FC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9632" y="485658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7D5F9C26-4945-5FE4-DDC4-33BD0FCC885E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B5DA-A58A-4DD0-9FB5-AF2B58A67481}" type="datetime5">
              <a:rPr lang="en-US" smtClean="0"/>
              <a:t>16-Sep-26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274935-AD8F-77F0-A56E-08419F8EB070}"/>
              </a:ext>
            </a:extLst>
          </p:cNvPr>
          <p:cNvSpPr txBox="1"/>
          <p:nvPr/>
        </p:nvSpPr>
        <p:spPr>
          <a:xfrm>
            <a:off x="2643674" y="1605410"/>
            <a:ext cx="6904652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Reach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and Flow Chart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Comparison and Budget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3D Model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Workplan and Review Workflow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A1E98C-7D9D-BB96-CD40-D9E95E9F3DA9}"/>
              </a:ext>
            </a:extLst>
          </p:cNvPr>
          <p:cNvSpPr txBox="1"/>
          <p:nvPr/>
        </p:nvSpPr>
        <p:spPr>
          <a:xfrm>
            <a:off x="4858917" y="6444476"/>
            <a:ext cx="25215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SECOND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727200" y="712583"/>
            <a:ext cx="8101667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653845" y="1820634"/>
            <a:ext cx="10699955" cy="4509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low-cost, offline-first IoT system that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pharmaceutical cold-storage units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detects risks such as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failure, prolonged door opening, abnormal temperature rise, excessive compressor cycling, low backup battery and communication loss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validate an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edge-based thermal prediction model that estimates Safe Holdover Time,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 local and remote alerts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the product unsafe temperature limit also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reliable records during power or network failures and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synchronises the stored information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connectivity is restored.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485658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16-Sep-26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4D4654D-17B9-55B9-8196-85ACF9C2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73473"/>
            <a:ext cx="4114800" cy="365125"/>
          </a:xfrm>
        </p:spPr>
        <p:txBody>
          <a:bodyPr/>
          <a:lstStyle/>
          <a:p>
            <a:r>
              <a:rPr lang="en-US" dirty="0"/>
              <a:t>SECOND REVIEW</a:t>
            </a:r>
          </a:p>
        </p:txBody>
      </p:sp>
    </p:spTree>
    <p:extLst>
      <p:ext uri="{BB962C8B-B14F-4D97-AF65-F5344CB8AC3E}">
        <p14:creationId xmlns:p14="http://schemas.microsoft.com/office/powerpoint/2010/main" val="591722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FF8729-9F7D-A6D5-74EF-D80C6B74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AAB3-6026-40DD-AD1E-619B9934F05F}" type="datetime5">
              <a:rPr lang="en-US" smtClean="0"/>
              <a:t>16-Sep-26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94CEC8-1DBA-C5E4-370D-A009B1DB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7B313-D8BA-B11F-15FE-30939654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4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AE68F6-7C23-B573-A2A2-74C3B37AC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08" r="50637" b="-1"/>
          <a:stretch>
            <a:fillRect/>
          </a:stretch>
        </p:blipFill>
        <p:spPr>
          <a:xfrm>
            <a:off x="838200" y="1555010"/>
            <a:ext cx="10515599" cy="4851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4C162F-36DB-766D-FF9C-E9980C32C2FB}"/>
              </a:ext>
            </a:extLst>
          </p:cNvPr>
          <p:cNvSpPr/>
          <p:nvPr/>
        </p:nvSpPr>
        <p:spPr>
          <a:xfrm>
            <a:off x="1017037" y="1662078"/>
            <a:ext cx="513183" cy="3651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CEE723-B1C9-A7A6-53EC-5F30D0EF8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sp>
        <p:nvSpPr>
          <p:cNvPr id="10" name="Freeform 5">
            <a:extLst>
              <a:ext uri="{FF2B5EF4-FFF2-40B4-BE49-F238E27FC236}">
                <a16:creationId xmlns:a16="http://schemas.microsoft.com/office/drawing/2014/main" id="{0FD0F0E3-2CC2-1A43-C690-D37CBD086CD1}"/>
              </a:ext>
            </a:extLst>
          </p:cNvPr>
          <p:cNvSpPr/>
          <p:nvPr/>
        </p:nvSpPr>
        <p:spPr>
          <a:xfrm>
            <a:off x="10058802" y="34034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41F4D5-53D4-D72D-69A9-A9AF7408EC35}"/>
              </a:ext>
            </a:extLst>
          </p:cNvPr>
          <p:cNvSpPr txBox="1"/>
          <p:nvPr/>
        </p:nvSpPr>
        <p:spPr>
          <a:xfrm>
            <a:off x="1436237" y="546477"/>
            <a:ext cx="8622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REACH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9EFECC-DF71-370F-8960-5E23DA30D698}"/>
              </a:ext>
            </a:extLst>
          </p:cNvPr>
          <p:cNvSpPr/>
          <p:nvPr/>
        </p:nvSpPr>
        <p:spPr>
          <a:xfrm>
            <a:off x="3853543" y="1698786"/>
            <a:ext cx="3638939" cy="19594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151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DE846-4686-0E80-CB9C-39B52FD6C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9E18FB-277E-5934-520C-19085C0B3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599" y="475885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B9FA371A-5B81-690A-09E3-5BBCB2A7385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27677-9712-63AC-A313-F54A16DD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16-Sep-26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220BB-0D52-9E73-0280-9B3952D3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6EA1DDB-4526-1CC8-8128-9FEC80ECB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7BE2AD-277E-FA8D-55B9-F052C0C5EFD2}"/>
              </a:ext>
            </a:extLst>
          </p:cNvPr>
          <p:cNvSpPr txBox="1"/>
          <p:nvPr/>
        </p:nvSpPr>
        <p:spPr>
          <a:xfrm>
            <a:off x="640733" y="2076476"/>
            <a:ext cx="10713067" cy="409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Cold-chain management is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storage and transportation of temperature-sensitive products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vaccines, medicines, and biological products.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products remain within their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temperature range from the point of storage to the point of use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excursions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reduce product quality, safety, and effectiveness, even when the excursion occurs for a short period.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monitoring may depend on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or continuous Internet connectivity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delayed alerts or gaps in monitoring data.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490994-82D1-891A-FCF9-7A1ACE2468FE}"/>
              </a:ext>
            </a:extLst>
          </p:cNvPr>
          <p:cNvSpPr txBox="1"/>
          <p:nvPr/>
        </p:nvSpPr>
        <p:spPr>
          <a:xfrm>
            <a:off x="1727199" y="707355"/>
            <a:ext cx="8101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COLD-CHAIN MANAGEMENT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25023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DB1AC-1329-F707-EAF4-3332EB62D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32CC006-0547-451E-F0D9-FD180131E764}"/>
              </a:ext>
            </a:extLst>
          </p:cNvPr>
          <p:cNvSpPr txBox="1"/>
          <p:nvPr/>
        </p:nvSpPr>
        <p:spPr>
          <a:xfrm>
            <a:off x="746022" y="2094484"/>
            <a:ext cx="10699955" cy="4001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Vaccines – +2 °C to +8 °C</a:t>
            </a:r>
          </a:p>
          <a:p>
            <a:pPr lvl="0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Integrity: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Vaccines should be continuously monitored and maintained within the prescribed temperature range throughout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and transportation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Excursion &amp; Traceability: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Reliable Vaccine safety and traceability, Vaccine temperature excursions should be detected, generate alerts, and maintain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timestamped records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utilization.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155F3D-8E9C-1213-AFE0-A395579F5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1" y="485658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69EB21E2-F416-4BA8-2FF1-7E55340F095B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B4DBE-4018-4197-F925-758758C96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16-Sep-26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54864-4A55-D1A6-BF86-614F30F1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1DFB551-57C9-3019-A4EC-F864283BD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3A2D7-EA32-E4DA-A118-F788A44D4327}"/>
              </a:ext>
            </a:extLst>
          </p:cNvPr>
          <p:cNvSpPr txBox="1"/>
          <p:nvPr/>
        </p:nvSpPr>
        <p:spPr>
          <a:xfrm>
            <a:off x="1727201" y="738132"/>
            <a:ext cx="8101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VACCINE MANAGEMENT</a:t>
            </a:r>
          </a:p>
        </p:txBody>
      </p:sp>
    </p:spTree>
    <p:extLst>
      <p:ext uri="{BB962C8B-B14F-4D97-AF65-F5344CB8AC3E}">
        <p14:creationId xmlns:p14="http://schemas.microsoft.com/office/powerpoint/2010/main" val="3099488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C8B9-FFB0-33F7-03A7-A101E72D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D4DCFD-E7D8-C739-367C-3E4ED336B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485946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28933C0E-D24E-D410-5882-AF7ED736B9EB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F55574-270D-9606-E7C0-48C1841DD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16-Sep-26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12806-348F-CC26-76E3-FA3EDAF1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7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08B5BF4-34A7-767F-B72B-7E625CE5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D87F0-F1B3-70BB-69A8-213F74BC1979}"/>
              </a:ext>
            </a:extLst>
          </p:cNvPr>
          <p:cNvSpPr txBox="1"/>
          <p:nvPr/>
        </p:nvSpPr>
        <p:spPr>
          <a:xfrm>
            <a:off x="534954" y="1907684"/>
            <a:ext cx="1097280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estimated time remaining before the product-simulation temperature reaches a configured unsafe limit under the existing refrigerator or transport-box condition.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Holdover Time = Remaining temperature margin ÷ (Estimated temperature - rise rate)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(or)</a:t>
            </a:r>
          </a:p>
          <a:p>
            <a:pPr algn="ctr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SHT = (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(dT/dt)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Estimated Safe Holdover Time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Tlimit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Configured upper-temperature limit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Tproduct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Present product-simulation temperature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dT/dt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Estimated temperature-rise rate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522E7D-56E4-C8F4-71CE-5C36746FDBC5}"/>
              </a:ext>
            </a:extLst>
          </p:cNvPr>
          <p:cNvSpPr txBox="1"/>
          <p:nvPr/>
        </p:nvSpPr>
        <p:spPr>
          <a:xfrm>
            <a:off x="1727200" y="394887"/>
            <a:ext cx="81016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SAFE HOLDOVER</a:t>
            </a:r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 PREDICTION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662704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BB14-D539-04A6-F75F-2CE4EF3B7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9D5205-7F81-7CBB-8E0A-ABB9B2294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9632" y="327327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E14A5DC7-49E0-C42B-B066-54268EF59344}"/>
              </a:ext>
            </a:extLst>
          </p:cNvPr>
          <p:cNvSpPr/>
          <p:nvPr/>
        </p:nvSpPr>
        <p:spPr>
          <a:xfrm>
            <a:off x="9878259" y="327327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69DBF-5B0F-DB95-088F-8331EA81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DE5902-25BB-BFF4-7DA7-7893FEFFD81D}"/>
              </a:ext>
            </a:extLst>
          </p:cNvPr>
          <p:cNvSpPr txBox="1"/>
          <p:nvPr/>
        </p:nvSpPr>
        <p:spPr>
          <a:xfrm>
            <a:off x="1717233" y="278279"/>
            <a:ext cx="81610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algn="ctr"/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Database + SHT Prediction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57A0E1-D98E-FD99-6DE4-410A11347B92}"/>
              </a:ext>
            </a:extLst>
          </p:cNvPr>
          <p:cNvSpPr txBox="1"/>
          <p:nvPr/>
        </p:nvSpPr>
        <p:spPr>
          <a:xfrm>
            <a:off x="599632" y="1615179"/>
            <a:ext cx="11042128" cy="4602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collect temperature data;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performs local threshold-based analysis, alert generation, and data logging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locally during offline conditions and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synchronized to the cloud/server when connectivity is restored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therefore combines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monitoring, edge-based decision making, local data logging, alerts, and delayed cloud synchronization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single cold-chain management framework.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1E054-0073-4522-6236-766CE3706019}"/>
              </a:ext>
            </a:extLst>
          </p:cNvPr>
          <p:cNvSpPr txBox="1"/>
          <p:nvPr/>
        </p:nvSpPr>
        <p:spPr>
          <a:xfrm>
            <a:off x="838200" y="6392173"/>
            <a:ext cx="1877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8906E4A-8847-4173-912D-37B63497B199}" type="datetime5">
              <a:rPr lang="en-US" sz="1200" smtClean="0">
                <a:solidFill>
                  <a:schemeClr val="bg1">
                    <a:lumMod val="50000"/>
                  </a:schemeClr>
                </a:solidFill>
              </a:rPr>
              <a:pPr/>
              <a:t>16-Sep-26</a:t>
            </a:fld>
            <a:endParaRPr lang="en-IN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B1BD8-3DBD-4F43-274C-EE8F6FFC4686}"/>
              </a:ext>
            </a:extLst>
          </p:cNvPr>
          <p:cNvSpPr txBox="1"/>
          <p:nvPr/>
        </p:nvSpPr>
        <p:spPr>
          <a:xfrm>
            <a:off x="5565072" y="6397075"/>
            <a:ext cx="22642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SECOND REVIEW</a:t>
            </a:r>
          </a:p>
        </p:txBody>
      </p:sp>
    </p:spTree>
    <p:extLst>
      <p:ext uri="{BB962C8B-B14F-4D97-AF65-F5344CB8AC3E}">
        <p14:creationId xmlns:p14="http://schemas.microsoft.com/office/powerpoint/2010/main" val="1050962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69ECB-2662-FB7F-DC40-3C886D941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267A58-1C50-2C02-07A7-8C7671154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4329" y="463837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FE89BB6-2C4D-CE41-C609-C97598327B5D}"/>
              </a:ext>
            </a:extLst>
          </p:cNvPr>
          <p:cNvSpPr/>
          <p:nvPr/>
        </p:nvSpPr>
        <p:spPr>
          <a:xfrm>
            <a:off x="9871266" y="527041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5B8526-06AA-5002-B296-60C555A74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16-Sep-26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DDBC6-BF93-AE98-16A9-DD6479E4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9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5625591-F266-A290-B7DB-03F2BEF6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9C135-75D0-2A36-2C72-625D76B344E4}"/>
              </a:ext>
            </a:extLst>
          </p:cNvPr>
          <p:cNvSpPr txBox="1"/>
          <p:nvPr/>
        </p:nvSpPr>
        <p:spPr>
          <a:xfrm>
            <a:off x="1727200" y="641781"/>
            <a:ext cx="8101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2E237013-BB92-C5BF-7DED-D935EB1F3344}"/>
              </a:ext>
            </a:extLst>
          </p:cNvPr>
          <p:cNvSpPr txBox="1"/>
          <p:nvPr/>
        </p:nvSpPr>
        <p:spPr>
          <a:xfrm>
            <a:off x="609600" y="1928201"/>
            <a:ext cx="1481404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DS18B20</a:t>
            </a:r>
            <a:r>
              <a:rPr sz="1400" spc="-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Probe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19"/>
              </a:spcBef>
            </a:pPr>
            <a:r>
              <a:rPr sz="1400" b="1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</a:t>
            </a:r>
            <a:r>
              <a:rPr sz="1400" b="1" spc="-3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84023330-9CF7-27AD-6E65-35E5EE131717}"/>
              </a:ext>
            </a:extLst>
          </p:cNvPr>
          <p:cNvSpPr txBox="1"/>
          <p:nvPr/>
        </p:nvSpPr>
        <p:spPr>
          <a:xfrm>
            <a:off x="609600" y="2692049"/>
            <a:ext cx="1663949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30974" algn="ctr">
              <a:spcBef>
                <a:spcPts val="153"/>
              </a:spcBef>
            </a:pPr>
            <a:r>
              <a:rPr sz="1400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DS18B20</a:t>
            </a:r>
            <a:r>
              <a:rPr sz="1400" spc="-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Probe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32" algn="ctr">
              <a:spcBef>
                <a:spcPts val="119"/>
              </a:spcBef>
            </a:pPr>
            <a:r>
              <a:rPr sz="1400" b="1" spc="-26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Product-</a:t>
            </a:r>
            <a:r>
              <a:rPr sz="1400" b="1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</a:t>
            </a:r>
            <a:r>
              <a:rPr sz="1400" b="1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4742B0BB-6E50-BEC9-9857-71EEDE052B20}"/>
              </a:ext>
            </a:extLst>
          </p:cNvPr>
          <p:cNvSpPr txBox="1"/>
          <p:nvPr/>
        </p:nvSpPr>
        <p:spPr>
          <a:xfrm>
            <a:off x="604329" y="3542907"/>
            <a:ext cx="1230800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SHT31</a:t>
            </a:r>
            <a:r>
              <a:rPr sz="1400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33" algn="ctr">
              <a:spcBef>
                <a:spcPts val="119"/>
              </a:spcBef>
            </a:pP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B3817EB1-3AD2-F4F6-7147-C071A65F009D}"/>
              </a:ext>
            </a:extLst>
          </p:cNvPr>
          <p:cNvSpPr txBox="1"/>
          <p:nvPr/>
        </p:nvSpPr>
        <p:spPr>
          <a:xfrm>
            <a:off x="604329" y="4252748"/>
            <a:ext cx="1486675" cy="75105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spc="-3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</a:t>
            </a:r>
            <a:r>
              <a:rPr sz="1400" spc="-1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4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Reed</a:t>
            </a:r>
            <a:r>
              <a:rPr sz="1400" spc="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3" algn="ctr">
              <a:spcBef>
                <a:spcPts val="119"/>
              </a:spcBef>
            </a:pPr>
            <a:r>
              <a:rPr sz="1400" b="1" spc="-3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Door</a:t>
            </a:r>
            <a:r>
              <a:rPr sz="1400" b="1" spc="-2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Open/Closed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710629CC-4C92-8145-80FB-7AB29DCC477E}"/>
              </a:ext>
            </a:extLst>
          </p:cNvPr>
          <p:cNvSpPr txBox="1"/>
          <p:nvPr/>
        </p:nvSpPr>
        <p:spPr>
          <a:xfrm>
            <a:off x="604329" y="5338465"/>
            <a:ext cx="1555173" cy="75105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Isolated</a:t>
            </a:r>
            <a:r>
              <a:rPr sz="1400" spc="-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Mains</a:t>
            </a:r>
            <a:r>
              <a:rPr sz="1400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Detector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33" algn="ctr">
              <a:spcBef>
                <a:spcPts val="119"/>
              </a:spcBef>
            </a:pPr>
            <a:r>
              <a:rPr sz="1400" b="1" spc="-4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1400" b="1" spc="-1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6C6513F7-1CE9-788A-B98F-23A767E1F5A6}"/>
              </a:ext>
            </a:extLst>
          </p:cNvPr>
          <p:cNvSpPr txBox="1"/>
          <p:nvPr/>
        </p:nvSpPr>
        <p:spPr>
          <a:xfrm>
            <a:off x="2631345" y="1715197"/>
            <a:ext cx="2534554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2" algn="ctr">
              <a:spcBef>
                <a:spcPts val="153"/>
              </a:spcBef>
            </a:pPr>
            <a:r>
              <a:rPr sz="1400" spc="-4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Compressor</a:t>
            </a:r>
            <a:r>
              <a:rPr sz="1400" spc="-1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sz="1400" spc="-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793" algn="ctr">
              <a:spcBef>
                <a:spcPts val="119"/>
              </a:spcBef>
            </a:pPr>
            <a:r>
              <a:rPr sz="1400" b="1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Compressor </a:t>
            </a:r>
            <a:r>
              <a:rPr sz="1400" b="1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ON/OFF</a:t>
            </a:r>
            <a:r>
              <a:rPr sz="1400" b="1" spc="-1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62CF767F-AA17-D20F-73A3-0104320AD1D2}"/>
              </a:ext>
            </a:extLst>
          </p:cNvPr>
          <p:cNvSpPr txBox="1"/>
          <p:nvPr/>
        </p:nvSpPr>
        <p:spPr>
          <a:xfrm>
            <a:off x="2951714" y="3547795"/>
            <a:ext cx="1903402" cy="4810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3899" rIns="0" bIns="0" rtlCol="0" anchor="ctr">
            <a:spAutoFit/>
          </a:bodyPr>
          <a:lstStyle/>
          <a:p>
            <a:pPr marL="84690" algn="ctr">
              <a:spcBef>
                <a:spcPts val="31"/>
              </a:spcBef>
            </a:pPr>
            <a:r>
              <a:rPr sz="1400" b="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r>
              <a:rPr sz="1400" b="1" spc="-5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20">
            <a:extLst>
              <a:ext uri="{FF2B5EF4-FFF2-40B4-BE49-F238E27FC236}">
                <a16:creationId xmlns:a16="http://schemas.microsoft.com/office/drawing/2014/main" id="{2E1CDA64-E09F-27CB-4D2D-80AA6CE95C89}"/>
              </a:ext>
            </a:extLst>
          </p:cNvPr>
          <p:cNvSpPr txBox="1"/>
          <p:nvPr/>
        </p:nvSpPr>
        <p:spPr>
          <a:xfrm>
            <a:off x="5684681" y="1987141"/>
            <a:ext cx="1529342" cy="75105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algn="ctr">
              <a:spcBef>
                <a:spcPts val="153"/>
              </a:spcBef>
            </a:pPr>
            <a:r>
              <a:rPr sz="1400" spc="-6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DS3231</a:t>
            </a:r>
            <a:r>
              <a:rPr sz="1400" spc="-1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9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RTC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19"/>
              </a:spcBef>
            </a:pPr>
            <a:r>
              <a:rPr sz="1400" b="1" spc="-3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sz="1400" b="1" spc="-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22">
            <a:extLst>
              <a:ext uri="{FF2B5EF4-FFF2-40B4-BE49-F238E27FC236}">
                <a16:creationId xmlns:a16="http://schemas.microsoft.com/office/drawing/2014/main" id="{D979CB88-9F48-4292-4386-DEDBF99A61C9}"/>
              </a:ext>
            </a:extLst>
          </p:cNvPr>
          <p:cNvSpPr txBox="1"/>
          <p:nvPr/>
        </p:nvSpPr>
        <p:spPr>
          <a:xfrm>
            <a:off x="5684680" y="3529261"/>
            <a:ext cx="1529343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2" algn="ctr">
              <a:spcBef>
                <a:spcPts val="153"/>
              </a:spcBef>
            </a:pPr>
            <a:r>
              <a:rPr sz="1400" spc="-4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MicroSD</a:t>
            </a:r>
            <a:r>
              <a:rPr sz="1400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6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28" algn="ctr">
              <a:spcBef>
                <a:spcPts val="119"/>
              </a:spcBef>
            </a:pPr>
            <a:r>
              <a:rPr sz="1400" b="1" spc="-3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r>
              <a:rPr sz="1400" b="1" spc="-1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4">
            <a:extLst>
              <a:ext uri="{FF2B5EF4-FFF2-40B4-BE49-F238E27FC236}">
                <a16:creationId xmlns:a16="http://schemas.microsoft.com/office/drawing/2014/main" id="{8772B18D-A24B-7AB8-62B3-1A49B8604B5E}"/>
              </a:ext>
            </a:extLst>
          </p:cNvPr>
          <p:cNvSpPr txBox="1"/>
          <p:nvPr/>
        </p:nvSpPr>
        <p:spPr>
          <a:xfrm>
            <a:off x="5684680" y="4587408"/>
            <a:ext cx="1529343" cy="9894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0071" algn="ctr">
              <a:spcBef>
                <a:spcPts val="153"/>
              </a:spcBef>
            </a:pPr>
            <a:r>
              <a:rPr sz="1400" spc="-4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sz="1400" spc="2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32" algn="ctr">
              <a:spcBef>
                <a:spcPts val="119"/>
              </a:spcBef>
            </a:pP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Wi-</a:t>
            </a:r>
            <a:r>
              <a:rPr sz="1400" b="1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r>
              <a:rPr sz="1400" b="1" spc="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9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b="1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6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</a:t>
            </a:r>
            <a:r>
              <a:rPr sz="1400" b="1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9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b="1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sz="1400" b="1" spc="-38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9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b="1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GSM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6">
            <a:extLst>
              <a:ext uri="{FF2B5EF4-FFF2-40B4-BE49-F238E27FC236}">
                <a16:creationId xmlns:a16="http://schemas.microsoft.com/office/drawing/2014/main" id="{C11BF498-B2B4-D2C8-4D78-F7A5171FDFAE}"/>
              </a:ext>
            </a:extLst>
          </p:cNvPr>
          <p:cNvSpPr txBox="1"/>
          <p:nvPr/>
        </p:nvSpPr>
        <p:spPr>
          <a:xfrm>
            <a:off x="7964246" y="3168571"/>
            <a:ext cx="1618310" cy="12340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25127" rIns="0" bIns="0" rtlCol="0" anchor="ctr">
            <a:spAutoFit/>
          </a:bodyPr>
          <a:lstStyle/>
          <a:p>
            <a:pPr marL="25342" algn="ctr">
              <a:spcBef>
                <a:spcPts val="198"/>
              </a:spcBef>
            </a:pPr>
            <a:r>
              <a:rPr sz="1400" b="1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IN" sz="1400" b="1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32" algn="ctr">
              <a:spcBef>
                <a:spcPts val="130"/>
              </a:spcBef>
            </a:pPr>
            <a:r>
              <a:rPr sz="1400" spc="-2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</a:t>
            </a:r>
            <a:r>
              <a:rPr sz="1400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reconnection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8">
            <a:extLst>
              <a:ext uri="{FF2B5EF4-FFF2-40B4-BE49-F238E27FC236}">
                <a16:creationId xmlns:a16="http://schemas.microsoft.com/office/drawing/2014/main" id="{1CA7613E-6899-CDE2-00D6-B43820ECD8C9}"/>
              </a:ext>
            </a:extLst>
          </p:cNvPr>
          <p:cNvSpPr txBox="1"/>
          <p:nvPr/>
        </p:nvSpPr>
        <p:spPr>
          <a:xfrm>
            <a:off x="10010969" y="2111135"/>
            <a:ext cx="1778187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" algn="ctr">
              <a:spcBef>
                <a:spcPts val="153"/>
              </a:spcBef>
            </a:pPr>
            <a:r>
              <a:rPr sz="1400" spc="-8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OLED</a:t>
            </a:r>
            <a:r>
              <a:rPr sz="1400" spc="-1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19"/>
              </a:spcBef>
            </a:pPr>
            <a:r>
              <a:rPr sz="1400" b="1" spc="-7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Temp,</a:t>
            </a:r>
            <a:r>
              <a:rPr sz="1400" b="1" spc="5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status,</a:t>
            </a:r>
            <a:r>
              <a:rPr sz="1400" b="1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0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400" b="1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A7DB2CDA-D260-F16A-5E4E-4C63E5B8253F}"/>
              </a:ext>
            </a:extLst>
          </p:cNvPr>
          <p:cNvSpPr txBox="1"/>
          <p:nvPr/>
        </p:nvSpPr>
        <p:spPr>
          <a:xfrm>
            <a:off x="10412121" y="3529261"/>
            <a:ext cx="1222646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2" algn="ctr">
              <a:spcBef>
                <a:spcPts val="153"/>
              </a:spcBef>
            </a:pPr>
            <a:r>
              <a:rPr sz="1400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  <a:r>
              <a:rPr sz="1400" spc="-2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spc="-1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48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227" algn="ctr">
              <a:spcBef>
                <a:spcPts val="119"/>
              </a:spcBef>
            </a:pPr>
            <a:r>
              <a:rPr sz="1400" b="1" spc="-32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sz="1400" b="1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32">
            <a:extLst>
              <a:ext uri="{FF2B5EF4-FFF2-40B4-BE49-F238E27FC236}">
                <a16:creationId xmlns:a16="http://schemas.microsoft.com/office/drawing/2014/main" id="{FCC5F9FD-2AE1-E8E2-A439-E19F54CD65CF}"/>
              </a:ext>
            </a:extLst>
          </p:cNvPr>
          <p:cNvSpPr txBox="1"/>
          <p:nvPr/>
        </p:nvSpPr>
        <p:spPr>
          <a:xfrm>
            <a:off x="10000019" y="4978031"/>
            <a:ext cx="1778187" cy="5126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9495" rIns="0" bIns="0" rtlCol="0" anchor="ctr">
            <a:spAutoFit/>
          </a:bodyPr>
          <a:lstStyle/>
          <a:p>
            <a:pPr marL="4332" algn="ctr">
              <a:spcBef>
                <a:spcPts val="153"/>
              </a:spcBef>
            </a:pPr>
            <a:r>
              <a:rPr sz="1400" spc="-2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  <a:r>
              <a:rPr sz="1400" spc="-3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spc="-2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536" algn="ctr">
              <a:spcBef>
                <a:spcPts val="119"/>
              </a:spcBef>
            </a:pPr>
            <a:r>
              <a:rPr sz="1400" b="1" spc="-2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Graphs</a:t>
            </a:r>
            <a:r>
              <a:rPr sz="1400" b="1" spc="-26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10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400" b="1" spc="-4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sz="1400" b="1" spc="-2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34">
            <a:extLst>
              <a:ext uri="{FF2B5EF4-FFF2-40B4-BE49-F238E27FC236}">
                <a16:creationId xmlns:a16="http://schemas.microsoft.com/office/drawing/2014/main" id="{2AC1C4C1-5B80-7504-7DC7-1577A81E082B}"/>
              </a:ext>
            </a:extLst>
          </p:cNvPr>
          <p:cNvSpPr txBox="1"/>
          <p:nvPr/>
        </p:nvSpPr>
        <p:spPr>
          <a:xfrm>
            <a:off x="10210182" y="5848739"/>
            <a:ext cx="1361429" cy="48156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4332" rIns="0" bIns="0" rtlCol="0" anchor="ctr">
            <a:spAutoFit/>
          </a:bodyPr>
          <a:lstStyle/>
          <a:p>
            <a:pPr marL="4332" algn="ctr">
              <a:spcBef>
                <a:spcPts val="34"/>
              </a:spcBef>
            </a:pPr>
            <a:r>
              <a:rPr sz="1400" spc="-31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sz="1400" spc="-1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400" spc="-1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8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SMS</a:t>
            </a:r>
            <a:r>
              <a:rPr sz="1400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65D1CBE6-66D1-6446-C102-2929EF6C720F}"/>
              </a:ext>
            </a:extLst>
          </p:cNvPr>
          <p:cNvSpPr txBox="1"/>
          <p:nvPr/>
        </p:nvSpPr>
        <p:spPr>
          <a:xfrm>
            <a:off x="2680904" y="5727137"/>
            <a:ext cx="2435437" cy="2432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4332" rIns="0" bIns="0" rtlCol="0" anchor="ctr">
            <a:spAutoFit/>
          </a:bodyPr>
          <a:lstStyle/>
          <a:p>
            <a:pPr marL="4332" algn="ctr">
              <a:spcBef>
                <a:spcPts val="34"/>
              </a:spcBef>
            </a:pPr>
            <a:r>
              <a:rPr sz="1400" spc="-14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Battery-</a:t>
            </a:r>
            <a:r>
              <a:rPr sz="1400" spc="-27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</a:t>
            </a:r>
            <a:r>
              <a:rPr sz="1400" spc="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9" dirty="0">
                <a:solidFill>
                  <a:srgbClr val="2825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33E2A77-E2F7-BCED-D621-0CD630224F9D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10889113" y="5490725"/>
            <a:ext cx="1784" cy="358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33CD1CA3-3D9A-CEAC-1378-2F8EB664C14F}"/>
              </a:ext>
            </a:extLst>
          </p:cNvPr>
          <p:cNvCxnSpPr>
            <a:stCxn id="5" idx="3"/>
            <a:endCxn id="17" idx="1"/>
          </p:cNvCxnSpPr>
          <p:nvPr/>
        </p:nvCxnSpPr>
        <p:spPr>
          <a:xfrm>
            <a:off x="2091004" y="2184548"/>
            <a:ext cx="860710" cy="1603788"/>
          </a:xfrm>
          <a:prstGeom prst="bentConnector3">
            <a:avLst>
              <a:gd name="adj1" fmla="val 489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A9A20235-2F80-6249-C1B6-261A2F9E2C7B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2273549" y="2948396"/>
            <a:ext cx="678165" cy="839940"/>
          </a:xfrm>
          <a:prstGeom prst="bentConnector3">
            <a:avLst>
              <a:gd name="adj1" fmla="val 348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0969B2BE-D554-F914-4470-366722C785E4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2091004" y="3788336"/>
            <a:ext cx="860710" cy="839941"/>
          </a:xfrm>
          <a:prstGeom prst="bentConnector3">
            <a:avLst>
              <a:gd name="adj1" fmla="val 489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45F551C7-C3E2-7322-CF95-C1A71E6B84FA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 flipV="1">
            <a:off x="2159502" y="3788336"/>
            <a:ext cx="792212" cy="1925658"/>
          </a:xfrm>
          <a:prstGeom prst="bentConnector3">
            <a:avLst>
              <a:gd name="adj1" fmla="val 45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92B1D88-85A2-0D59-F458-338EE56BA961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1835129" y="3788336"/>
            <a:ext cx="1116585" cy="10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779A93F-E4A7-D903-81D2-ADA66A62BAB9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3903415" y="2234497"/>
            <a:ext cx="0" cy="1313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C99D6C1E-D41E-695D-B18E-C9760C323F29}"/>
              </a:ext>
            </a:extLst>
          </p:cNvPr>
          <p:cNvCxnSpPr>
            <a:stCxn id="17" idx="2"/>
            <a:endCxn id="45" idx="0"/>
          </p:cNvCxnSpPr>
          <p:nvPr/>
        </p:nvCxnSpPr>
        <p:spPr>
          <a:xfrm flipH="1">
            <a:off x="3898623" y="4028877"/>
            <a:ext cx="4792" cy="1698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10C7146E-7B5A-3016-725A-2C841D142485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4855116" y="2362670"/>
            <a:ext cx="829565" cy="14256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231EDA5-A1E8-278F-018D-3C14A4A08DDD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 flipV="1">
            <a:off x="4855116" y="3785608"/>
            <a:ext cx="829564" cy="2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0FB49EE3-4EF4-948E-8C38-CF7981605E4D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4855116" y="3788336"/>
            <a:ext cx="829564" cy="12937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3CB70792-D4D5-2D07-CEDE-583E30BE9391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7214023" y="2362670"/>
            <a:ext cx="750223" cy="14229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0F3583A9-8B78-765A-9777-4FB3EEC16D89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7214023" y="3785609"/>
            <a:ext cx="750223" cy="12965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2D9383E7-0328-7C76-4D21-A35D59A81FF0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7214023" y="3785608"/>
            <a:ext cx="75022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: Elbow 171">
            <a:extLst>
              <a:ext uri="{FF2B5EF4-FFF2-40B4-BE49-F238E27FC236}">
                <a16:creationId xmlns:a16="http://schemas.microsoft.com/office/drawing/2014/main" id="{48B73D8B-C477-767D-3048-FFD426235EC9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9582556" y="2367482"/>
            <a:ext cx="428413" cy="14181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B76B8614-AD5C-3BC8-2CA3-B6C42CD5084D}"/>
              </a:ext>
            </a:extLst>
          </p:cNvPr>
          <p:cNvCxnSpPr>
            <a:stCxn id="21" idx="3"/>
            <a:endCxn id="23" idx="1"/>
          </p:cNvCxnSpPr>
          <p:nvPr/>
        </p:nvCxnSpPr>
        <p:spPr>
          <a:xfrm flipV="1">
            <a:off x="9582556" y="3785608"/>
            <a:ext cx="8295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6C1FF0A3-2261-7130-CF77-AA8D1BBD4294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9582556" y="3785609"/>
            <a:ext cx="417463" cy="1448769"/>
          </a:xfrm>
          <a:prstGeom prst="bentConnector3">
            <a:avLst>
              <a:gd name="adj1" fmla="val 522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034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84AD1-8372-E589-84C8-F1DB4EE9B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7F9AD-8F8C-E4A9-5533-32986299E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470" y="480186"/>
            <a:ext cx="8752099" cy="65724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1FB86F-8691-D44A-AFE4-3EE703965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04930" y="448642"/>
            <a:ext cx="1066540" cy="105859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64F76-28A6-667C-3EA4-0CDB22B6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A4DC-3EBB-4775-9883-95427EA86BF3}" type="datetime5">
              <a:rPr lang="en-US" smtClean="0"/>
              <a:t>16-Sep-26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4D263-403D-FC72-5293-2BD2EDC1F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10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BBF63C0-1781-8F7A-50EB-9E0645D37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SECOND REVIEW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82D3680-B241-86B0-30B8-0D78151025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9541635"/>
              </p:ext>
            </p:extLst>
          </p:nvPr>
        </p:nvGraphicFramePr>
        <p:xfrm>
          <a:off x="718916" y="1507233"/>
          <a:ext cx="10754168" cy="4541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Freeform 5">
            <a:extLst>
              <a:ext uri="{FF2B5EF4-FFF2-40B4-BE49-F238E27FC236}">
                <a16:creationId xmlns:a16="http://schemas.microsoft.com/office/drawing/2014/main" id="{3D849EFA-2B8F-CE08-23C3-550F087B43B7}"/>
              </a:ext>
            </a:extLst>
          </p:cNvPr>
          <p:cNvSpPr/>
          <p:nvPr/>
        </p:nvSpPr>
        <p:spPr>
          <a:xfrm>
            <a:off x="10123569" y="458723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600862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46B72-C63F-AF51-2B4F-A1F6B9A01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75E6DF-903C-7BC5-2525-92175144C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47413F8D-66D8-0B23-9F0F-2160704BD6DA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E8719-54BC-24C7-734E-2046C54F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16-Sep-26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44530-5789-F607-BA43-659665093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11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DA8EC00-FC08-88D4-070E-C37A086A4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FIRST 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918F26-5DEC-2ECD-A599-CC2DA068B088}"/>
              </a:ext>
            </a:extLst>
          </p:cNvPr>
          <p:cNvSpPr txBox="1"/>
          <p:nvPr/>
        </p:nvSpPr>
        <p:spPr>
          <a:xfrm>
            <a:off x="1727200" y="641781"/>
            <a:ext cx="8101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WISE COMPARISON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585A30BE-74EB-5BD6-9D91-8E7EF5D8C0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99742"/>
              </p:ext>
            </p:extLst>
          </p:nvPr>
        </p:nvGraphicFramePr>
        <p:xfrm>
          <a:off x="609600" y="1793062"/>
          <a:ext cx="10982768" cy="45961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5692">
                  <a:extLst>
                    <a:ext uri="{9D8B030D-6E8A-4147-A177-3AD203B41FA5}">
                      <a16:colId xmlns:a16="http://schemas.microsoft.com/office/drawing/2014/main" val="1745360038"/>
                    </a:ext>
                  </a:extLst>
                </a:gridCol>
                <a:gridCol w="2745692">
                  <a:extLst>
                    <a:ext uri="{9D8B030D-6E8A-4147-A177-3AD203B41FA5}">
                      <a16:colId xmlns:a16="http://schemas.microsoft.com/office/drawing/2014/main" val="3630005482"/>
                    </a:ext>
                  </a:extLst>
                </a:gridCol>
                <a:gridCol w="2745692">
                  <a:extLst>
                    <a:ext uri="{9D8B030D-6E8A-4147-A177-3AD203B41FA5}">
                      <a16:colId xmlns:a16="http://schemas.microsoft.com/office/drawing/2014/main" val="1117143669"/>
                    </a:ext>
                  </a:extLst>
                </a:gridCol>
                <a:gridCol w="2745692">
                  <a:extLst>
                    <a:ext uri="{9D8B030D-6E8A-4147-A177-3AD203B41FA5}">
                      <a16:colId xmlns:a16="http://schemas.microsoft.com/office/drawing/2014/main" val="459737763"/>
                    </a:ext>
                  </a:extLst>
                </a:gridCol>
              </a:tblGrid>
              <a:tr h="255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266603"/>
                  </a:ext>
                </a:extLst>
              </a:tr>
              <a:tr h="45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Monitoring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checking / periodic data logging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real-time monitoring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detection of temperature excursions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31192"/>
                  </a:ext>
                </a:extLst>
              </a:tr>
              <a:tr h="45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Logging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Paper-based / limited digital records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digital data logging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human error and provides traceability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852684"/>
                  </a:ext>
                </a:extLst>
              </a:tr>
              <a:tr h="45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 Mechanism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Delayed or manual response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Instant SMS/App/Email alerts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corrective action before vaccine damage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094258"/>
                  </a:ext>
                </a:extLst>
              </a:tr>
              <a:tr h="45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Backup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Limited/no monitoring during power loss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Rechargeable battery backup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Maintains monitoring during outages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537303"/>
                  </a:ext>
                </a:extLst>
              </a:tr>
              <a:tr h="32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Connectivity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Standalone operation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 / GSM / LoRa connectivity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remote supervision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874351"/>
                  </a:ext>
                </a:extLst>
              </a:tr>
              <a:tr h="45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Tracking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Generally unavailable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GPS-based tracking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visibility during transportation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162906"/>
                  </a:ext>
                </a:extLst>
              </a:tr>
              <a:tr h="32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Interface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Basic/no centralized interface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Web/mobile dashboard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status, history and alerts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100370"/>
                  </a:ext>
                </a:extLst>
              </a:tr>
              <a:tr h="45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preparation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reports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documentation and compliance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701297"/>
                  </a:ext>
                </a:extLst>
              </a:tr>
              <a:tr h="32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Device-level monitoring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Multi-box / fleet-level monitoring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large deployments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38149"/>
                  </a:ext>
                </a:extLst>
              </a:tr>
              <a:tr h="458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Efficiency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operational loss due to delayed detection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Low-cost IoT architecture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wastage and monitoring effort</a:t>
                      </a:r>
                    </a:p>
                  </a:txBody>
                  <a:tcPr marL="54392" marR="54392" marT="27196" marB="271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016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854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1B1F1-807C-3B23-00AC-79EC70078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200246-075A-5917-FC7E-FBA081CFF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FF1523DC-C48B-F1FA-8E9C-F778F50A6CA7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5E6BB1-6B2E-DFA9-6580-34C1683D4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16-Sep-26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DDAEA-8C4A-09C2-0EDD-76BE5E14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12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4A738FC-258D-7B37-5DBB-FE9DF806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B9A1D1-85CF-8800-D9B9-E7F578388569}"/>
              </a:ext>
            </a:extLst>
          </p:cNvPr>
          <p:cNvSpPr txBox="1"/>
          <p:nvPr/>
        </p:nvSpPr>
        <p:spPr>
          <a:xfrm>
            <a:off x="1727200" y="641781"/>
            <a:ext cx="8101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54886B5E-DE37-2FA9-E388-272E623759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7491110"/>
              </p:ext>
            </p:extLst>
          </p:nvPr>
        </p:nvGraphicFramePr>
        <p:xfrm>
          <a:off x="1122783" y="1921495"/>
          <a:ext cx="9946433" cy="42947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06498">
                  <a:extLst>
                    <a:ext uri="{9D8B030D-6E8A-4147-A177-3AD203B41FA5}">
                      <a16:colId xmlns:a16="http://schemas.microsoft.com/office/drawing/2014/main" val="1745360038"/>
                    </a:ext>
                  </a:extLst>
                </a:gridCol>
                <a:gridCol w="3467902">
                  <a:extLst>
                    <a:ext uri="{9D8B030D-6E8A-4147-A177-3AD203B41FA5}">
                      <a16:colId xmlns:a16="http://schemas.microsoft.com/office/drawing/2014/main" val="3630005482"/>
                    </a:ext>
                  </a:extLst>
                </a:gridCol>
                <a:gridCol w="1085425">
                  <a:extLst>
                    <a:ext uri="{9D8B030D-6E8A-4147-A177-3AD203B41FA5}">
                      <a16:colId xmlns:a16="http://schemas.microsoft.com/office/drawing/2014/main" val="377942914"/>
                    </a:ext>
                  </a:extLst>
                </a:gridCol>
                <a:gridCol w="2486608">
                  <a:extLst>
                    <a:ext uri="{9D8B030D-6E8A-4147-A177-3AD203B41FA5}">
                      <a16:colId xmlns:a16="http://schemas.microsoft.com/office/drawing/2014/main" val="1117143669"/>
                    </a:ext>
                  </a:extLst>
                </a:gridCol>
              </a:tblGrid>
              <a:tr h="265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Approx. Price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266603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Dual-core, Wi-Fi + Bluetooth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₹800–1100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31192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DS18B20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−55°C to +125°C, digital temperature sensor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₹60–120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852684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SHT31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 Sensor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₹200–250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37352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DS3231 RTC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Clock Module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₹300-350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280396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Buzzer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 – 5V 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₹80-100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9291487"/>
                  </a:ext>
                </a:extLst>
              </a:tr>
              <a:tr h="265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Magnetic Door Sensor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Reed switch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₹30–50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537303"/>
                  </a:ext>
                </a:extLst>
              </a:tr>
              <a:tr h="265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Vibration Sensor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SW-420 / accelerometer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₹50–100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874351"/>
                  </a:ext>
                </a:extLst>
              </a:tr>
              <a:tr h="265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 detection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₹20–30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162906"/>
                  </a:ext>
                </a:extLst>
              </a:tr>
              <a:tr h="265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NEO-6M GPS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GPS/GNSS receiver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₹250–450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100370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SIM800L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GSM/GPRS communication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₹350–500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701297"/>
                  </a:ext>
                </a:extLst>
              </a:tr>
              <a:tr h="265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OLED/LCD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0.96″ OLED / 16×2 LCD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₹160–300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238149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Micro-SD Module + Card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data logging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₹200–300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016154"/>
                  </a:ext>
                </a:extLst>
              </a:tr>
              <a:tr h="2897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Vaccine Carrier Box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Unit – 2 Icepacks – 0.80 L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₹1250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48196"/>
                  </a:ext>
                </a:extLst>
              </a:tr>
              <a:tr h="265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Foam Wrap for Vials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2mm EPE 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₹329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68053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6C1EFE0-94A9-9942-DEB5-DF4A4F756E7E}"/>
              </a:ext>
            </a:extLst>
          </p:cNvPr>
          <p:cNvSpPr txBox="1"/>
          <p:nvPr/>
        </p:nvSpPr>
        <p:spPr>
          <a:xfrm>
            <a:off x="2844800" y="1184344"/>
            <a:ext cx="60975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Prototype Cost: ₹10,000–₹12,000</a:t>
            </a:r>
          </a:p>
        </p:txBody>
      </p:sp>
    </p:spTree>
    <p:extLst>
      <p:ext uri="{BB962C8B-B14F-4D97-AF65-F5344CB8AC3E}">
        <p14:creationId xmlns:p14="http://schemas.microsoft.com/office/powerpoint/2010/main" val="1469671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219BC-CF79-D4C2-A3F0-2C5912BD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AAB3-6026-40DD-AD1E-619B9934F05F}" type="datetime5">
              <a:rPr lang="en-US" smtClean="0"/>
              <a:t>16-Sep-26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6836A1-8739-782D-A580-00D10E7F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5D483-3964-5ABF-D27B-928110F3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552832-DDD1-417C-A923-AE97891CF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1" y="485658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81020FFD-2F15-47AE-72E4-33BC3A8AB475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C45D6-C722-002B-835F-558168F32132}"/>
              </a:ext>
            </a:extLst>
          </p:cNvPr>
          <p:cNvSpPr txBox="1"/>
          <p:nvPr/>
        </p:nvSpPr>
        <p:spPr>
          <a:xfrm>
            <a:off x="1727201" y="738132"/>
            <a:ext cx="8101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5EF4F3-BF86-46F4-ACB6-EE0D9FD92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1" y="1744823"/>
            <a:ext cx="10982767" cy="44862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C68548-24AD-0358-0885-FDE744A52BF5}"/>
              </a:ext>
            </a:extLst>
          </p:cNvPr>
          <p:cNvSpPr txBox="1"/>
          <p:nvPr/>
        </p:nvSpPr>
        <p:spPr>
          <a:xfrm>
            <a:off x="3652484" y="1327121"/>
            <a:ext cx="4251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hlinkClick r:id="rId6"/>
              </a:rPr>
              <a:t>ColdChain</a:t>
            </a:r>
            <a:r>
              <a:rPr lang="en-IN" dirty="0">
                <a:hlinkClick r:id="rId6"/>
              </a:rPr>
              <a:t> Guardian — Edge-IoT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3274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D9DC14-CC10-1244-F396-3E1A98957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AAB3-6026-40DD-AD1E-619B9934F05F}" type="datetime5">
              <a:rPr lang="en-US" smtClean="0"/>
              <a:t>16-Sep-26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BD880-AC0F-238B-8A6F-F8C18BB73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7EBE1-CCB3-7C42-3975-129ECAC4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5CBA8-D73A-A494-82B7-875D71FED7A5}"/>
              </a:ext>
            </a:extLst>
          </p:cNvPr>
          <p:cNvSpPr txBox="1"/>
          <p:nvPr/>
        </p:nvSpPr>
        <p:spPr>
          <a:xfrm>
            <a:off x="3810908" y="1061298"/>
            <a:ext cx="4023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hlinkClick r:id="rId2"/>
              </a:rPr>
              <a:t>ColdTrace</a:t>
            </a:r>
            <a:r>
              <a:rPr lang="en-IN" dirty="0">
                <a:hlinkClick r:id="rId2"/>
              </a:rPr>
              <a:t> — Vaccine Cold Chain Monitor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C0AE94-BA1D-DE5D-27E6-3EEB5CFE4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1" y="485658"/>
            <a:ext cx="1117600" cy="1109270"/>
          </a:xfrm>
          <a:prstGeom prst="rect">
            <a:avLst/>
          </a:prstGeom>
        </p:spPr>
      </p:pic>
      <p:sp>
        <p:nvSpPr>
          <p:cNvPr id="10" name="Freeform 5">
            <a:extLst>
              <a:ext uri="{FF2B5EF4-FFF2-40B4-BE49-F238E27FC236}">
                <a16:creationId xmlns:a16="http://schemas.microsoft.com/office/drawing/2014/main" id="{91A939E0-A4BD-29BF-1C49-9066B795BCA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95E2E2-7CE8-3694-E039-001E5C6132A7}"/>
              </a:ext>
            </a:extLst>
          </p:cNvPr>
          <p:cNvSpPr txBox="1"/>
          <p:nvPr/>
        </p:nvSpPr>
        <p:spPr>
          <a:xfrm>
            <a:off x="1727201" y="485658"/>
            <a:ext cx="8191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- MOBILE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53059B-DBDA-EBFE-9A52-EDA19848AD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1" y="1659539"/>
            <a:ext cx="8101666" cy="46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6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675E-6F4E-427D-11AE-90C4CEC76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229" y="539824"/>
            <a:ext cx="8777478" cy="73588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HARDWARE 3D MODEL</a:t>
            </a:r>
            <a:endParaRPr lang="en-IN" sz="36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22E456-BA0B-BBAC-1EF2-9E9CA9DCB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3533"/>
            <a:ext cx="4937449" cy="38816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91491-4C16-7479-3423-D75861504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3798-0BE9-43ED-AC81-12BD4AB64487}" type="datetime5">
              <a:rPr lang="en-US" smtClean="0"/>
              <a:t>16-Sep-26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A7BCC-FE40-1CFA-6695-2693B2714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58FDD-C55B-8582-0981-78AC34BD8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15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C8C4F4-2298-4A37-234A-70751C691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id="{6E3C7BE9-3456-1176-61A4-85D79F008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9706" y="349973"/>
            <a:ext cx="1638850" cy="11124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FBA77B-D589-81CD-167E-250587726D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1953533"/>
            <a:ext cx="5324669" cy="3881632"/>
          </a:xfrm>
          <a:prstGeom prst="rect">
            <a:avLst/>
          </a:prstGeom>
        </p:spPr>
      </p:pic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12E115AB-79B6-DB0D-A2D7-0C6C3560B2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1251"/>
              </p:ext>
            </p:extLst>
          </p:nvPr>
        </p:nvGraphicFramePr>
        <p:xfrm>
          <a:off x="4701930" y="1355859"/>
          <a:ext cx="23780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7" imgW="2377440" imgH="517956" progId="Package">
                  <p:embed/>
                </p:oleObj>
              </mc:Choice>
              <mc:Fallback>
                <p:oleObj name="Packager Shell Object" showAsIcon="1" r:id="rId7" imgW="2377440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01930" y="1355859"/>
                        <a:ext cx="237807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2636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7E785C-2C50-56EE-9DF5-C89B43B20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AAB3-6026-40DD-AD1E-619B9934F05F}" type="datetime5">
              <a:rPr lang="en-US" smtClean="0"/>
              <a:t>16-Sep-26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58ED5D-C450-413A-CBD6-8557B09B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746D4-BB7A-62DE-EC1C-ED5DA249B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16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0A1A89-9675-A729-4995-52D02C1BE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97" r="40306" b="16190"/>
          <a:stretch>
            <a:fillRect/>
          </a:stretch>
        </p:blipFill>
        <p:spPr>
          <a:xfrm>
            <a:off x="838200" y="1931437"/>
            <a:ext cx="10515599" cy="2995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E17353-1E26-EEF0-6DC2-AC4C42E6F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D23FA472-6D4D-8376-7B1C-0BFA4E973C07}"/>
              </a:ext>
            </a:extLst>
          </p:cNvPr>
          <p:cNvSpPr/>
          <p:nvPr/>
        </p:nvSpPr>
        <p:spPr>
          <a:xfrm>
            <a:off x="10058802" y="34034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A60987-2BC4-B041-5E57-5F3B26FD8B3D}"/>
              </a:ext>
            </a:extLst>
          </p:cNvPr>
          <p:cNvSpPr txBox="1"/>
          <p:nvPr/>
        </p:nvSpPr>
        <p:spPr>
          <a:xfrm>
            <a:off x="1436236" y="570212"/>
            <a:ext cx="8622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WORKPLAN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80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770B-D78A-E0E7-3694-92698CE24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236" y="560705"/>
            <a:ext cx="8843470" cy="67990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WORK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349973"/>
            <a:ext cx="1638850" cy="1112406"/>
          </a:xfrm>
          <a:prstGeom prst="rect">
            <a:avLst/>
          </a:prstGeom>
        </p:spPr>
      </p:pic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4559214"/>
              </p:ext>
            </p:extLst>
          </p:nvPr>
        </p:nvGraphicFramePr>
        <p:xfrm>
          <a:off x="838200" y="1825623"/>
          <a:ext cx="10515600" cy="3175584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903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2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865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latin typeface="Times New Roman" pitchFamily="18" charset="0"/>
                          <a:cs typeface="Times New Roman" pitchFamily="18" charset="0"/>
                        </a:rPr>
                        <a:t>Review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Work to be 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954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Times New Roman" pitchFamily="18" charset="0"/>
                          <a:cs typeface="Times New Roman" pitchFamily="18" charset="0"/>
                        </a:rPr>
                        <a:t>Review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Conceptual Analysis, Simulation Design and Budget Framework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278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System Design, Offline IOT and Prediction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487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Complete Integration and 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0D94-E088-47FB-B83E-80CCEF6E85A5}" type="datetime5">
              <a:rPr lang="en-US" smtClean="0"/>
              <a:t>16-Sep-26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38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544" y="1847891"/>
            <a:ext cx="10862912" cy="4508459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N. A.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Pambudi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Sarifudin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I. M.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Gandidi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Romadhon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“Vaccine Cold Chain Management and Cold Storage Technology to Address the Challenges of Vaccination Programs,” Energy Reports, vol. 8, pp. 955–972, 2022.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 P.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Badia-Melis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U. Mc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Carthy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L. Ruiz-Garcia, J. Garcia-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Hierro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J. I. R.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Villalba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“New Trends in Cold Chain Monitoring Applications—A Review,” Food Control, vol. 86, pp. 170–182, 2018.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 Y. P. Tsang, K. L. Choy, C. H. Wu, G. T. S. Ho, H. Y. Lam and P. S. Koo, “An Internet of Things-Based Risk Monitoring System for Managing Cold Supply Chain Risks,” Industrial Management &amp; Data Systems, vol. 118, no. 7, pp. 1432–1462, 2018.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[4] D. M. Matthias, J. Robertson, M. M. Garrison, S. Newland and C. Nelson, “Freezing Temperatures in the Vaccine Cold Chain: A Systematic Literature Review,” Vaccine, vol. 25, no. 20, pp. 3980–3986, 2007.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Kartoglu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J.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Milstien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“Tools and Approaches to Ensure Quality of Vaccines Throughout the Cold Chain,” Expert Review of Vaccines, vol. 13, no. 7, pp. 843–854, 2014.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26334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27" y="207922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444E-FE59-45DC-BB9B-AAC024F00222}" type="datetime5">
              <a:rPr lang="en-US" smtClean="0"/>
              <a:t>16-Sep-26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7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[6] C. M. Hanson et al., “Is Freezing in the Vaccine Cold Chain an Ongoing Issue? A Literature Review,” Vaccine, vol. 35, no. 17, 2017.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Lloyd and J. Cheyne, “The Origins of the Vaccine Cold Chain and a Glimpse of the Future,” Vaccine, vol. 35, no. 17, pp. 2115–2120, 2017.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[8] O. S.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Kumru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B. Joshi, D. E. Smith, C. R. Middaugh, T. Prusik and D. B.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Volkin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“Vaccine Instability in the Cold Chain: Mechanisms, Analysis and Formulation Strategies,” Biologicals, vol. 42, no. 5, pp. 237–259, 2014.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[9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World Health Organization, Immunization in Practice: A Practical Guide for Health Staff, 2015.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[10] World Health Organization, How to Monitor Temperatures in the Vaccine Supply Chain, Vaccine Management Handbook, 2015.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9322" y="42697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824" y="373160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D49A-224E-41CF-A14E-748916EE6FD7}" type="datetime5">
              <a:rPr lang="en-US" smtClean="0"/>
              <a:t>16-Sep-26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07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F96A-A9EC-483A-238D-F38DBD8F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BF58-157B-4866-9A02-7CA9EAA54E89}" type="datetime5">
              <a:rPr lang="en-US" smtClean="0"/>
              <a:t>16-Sep-26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E414329-C79E-BCC9-CA8C-C33F68E5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SECOND REVIEW</a:t>
            </a:r>
          </a:p>
        </p:txBody>
      </p:sp>
    </p:spTree>
    <p:extLst>
      <p:ext uri="{BB962C8B-B14F-4D97-AF65-F5344CB8AC3E}">
        <p14:creationId xmlns:p14="http://schemas.microsoft.com/office/powerpoint/2010/main" val="347818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4206</TotalTime>
  <Words>1542</Words>
  <Application>Microsoft Office PowerPoint</Application>
  <PresentationFormat>Widescreen</PresentationFormat>
  <Paragraphs>282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Wingdings</vt:lpstr>
      <vt:lpstr>Office Theme</vt:lpstr>
      <vt:lpstr>Packager Shell Object</vt:lpstr>
      <vt:lpstr>DESIGN AND DEVELOPMENT OF AN OFFLINE-FIRST EDGE-IoT SYSTEM FOR COLD CHAIN RISK MONITORING AND SAFE HOLDOVER TIME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 CHART</vt:lpstr>
      <vt:lpstr>PowerPoint Presentation</vt:lpstr>
      <vt:lpstr>PowerPoint Presentation</vt:lpstr>
      <vt:lpstr>PowerPoint Presentation</vt:lpstr>
      <vt:lpstr>PowerPoint Presentation</vt:lpstr>
      <vt:lpstr>HARDWARE 3D MODEL</vt:lpstr>
      <vt:lpstr>PowerPoint Presentation</vt:lpstr>
      <vt:lpstr>WORK FLOW</vt:lpstr>
      <vt:lpstr>REFERENCES</vt:lpstr>
      <vt:lpstr> REFERENCES(Cntd.)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adaptive beam prediction for V2V Communication</dc:title>
  <dc:creator>Microsoft Office User</dc:creator>
  <cp:lastModifiedBy>Kaviya V</cp:lastModifiedBy>
  <cp:revision>148</cp:revision>
  <dcterms:created xsi:type="dcterms:W3CDTF">2024-08-14T09:59:13Z</dcterms:created>
  <dcterms:modified xsi:type="dcterms:W3CDTF">2026-09-16T09:25:58Z</dcterms:modified>
</cp:coreProperties>
</file>