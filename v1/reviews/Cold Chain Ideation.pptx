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58" r:id="rId4"/>
    <p:sldId id="260" r:id="rId5"/>
    <p:sldId id="257" r:id="rId6"/>
    <p:sldId id="263" r:id="rId7"/>
    <p:sldId id="261" r:id="rId8"/>
    <p:sldId id="265" r:id="rId9"/>
    <p:sldId id="266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3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0380F-D611-415D-A089-7C28BC79637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F6BD-C84C-46D6-8D2F-6A2774FDA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46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F6BD-C84C-46D6-8D2F-6A2774FDA2C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047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F6BD-C84C-46D6-8D2F-6A2774FDA2C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592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165F-9098-B8F5-21EF-CAB94098B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20FA-E8D2-9B4C-89F7-70041264E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0EF02-E30E-0B93-87B3-860129FB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BE06-D24C-25D4-793E-9669AC9D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3A8A2-D18B-5653-F206-FC4B6ABA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28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A85C-4175-EE34-06FE-4AE2E4D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D31E-DCFB-8768-34F0-4B1EAECEC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CF268-9A43-5E90-EE3D-4D0DD639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212FB-B235-2DFE-6B56-784DCA58E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03758-D3AC-08F9-3E13-9F2DC4A9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411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8BA9-75D9-1561-7319-D98005E6C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5D3CC-A85F-C2E1-02EF-F6FC0304D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3E519-575A-3AFB-7688-A4D8F574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BC60C-ACB0-74C4-487E-D4731C84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C12D-7A62-F2FF-2D5A-D38CB5BA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53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4D2C-9461-0488-97F9-BA2108F9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3CDF-7C17-DC4B-81A4-1CC472229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21A53-4043-DD3D-0B2E-604BD374F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A7EB9-D733-997F-7223-3438307C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489F4-0FF3-F39E-72F1-506A8B3C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79A91-C426-714E-D3FB-34765338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53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2D39-E3C3-F41D-E85B-8CE786799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43CBE-DA72-A442-CFA7-E5F380464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787B3-2364-4EE3-6DCD-1BEA4180D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8E67C-49A8-2F77-1CE7-4E22BC20F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C0F0A-F595-F37A-81BB-C869A0E28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9F703-A5AA-F722-1B4E-DC78F2E76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8747AF-BE55-CC71-F364-5BA9A95B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D173E-7A5D-6DDB-7A23-E439268A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3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8B82-63E2-EB1A-F36E-A2D7DF04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372AD-9C61-9ECB-4583-41BA1E0A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58F03-09D7-C6C2-8C60-4522BF7B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E5196-F667-E9D1-4D63-6F4E9AB0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01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6B36B-732E-65ED-8C2E-283784DC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4553F-B1B8-C99B-F885-AED4B5BE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968DB-367B-511D-8EAE-258A8C6C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7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E595-3F54-1C2C-A45E-4E656B89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87BFD-AF61-D5E4-25EE-D945E0C92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113FE-4639-9C34-4323-02CAF57B4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56FD7-846E-3E8C-4B99-40891496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BBDF6-1B77-8BD4-E685-54EF6963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DC659-DE33-1F94-519C-8C838E91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49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76BA-675B-2C38-8D4D-0B1AD762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139AB-FADF-B678-54BB-936A077C8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FA451-8182-29E7-B5EB-6393664EE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495C8-1046-3688-5D4A-582B9356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27470-BCE1-28DA-B774-3CD37D12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A73F8-870C-65B6-B0AB-5E5556EE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13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7D89-EDC7-897A-3712-A9CD013D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CC3D9-DFBE-EEFA-8166-E4F925267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4B6F-39CC-ED3B-A09B-A2241885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FF57D-AC02-3356-094E-CB39FC31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32B35-DFF6-0A02-55CB-1B00B3E8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98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E7457-376A-5EA9-1845-BC10E5545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3D4F1-3031-A0F0-9BEE-9831A5EDC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2CB95-DE57-6D88-EC97-09985FAF4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1486E-F6C2-49C1-AEDE-D46080BD9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23D47-3AB0-8341-060E-79629984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87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DE1C0-BF69-25A4-7AD1-29BD5462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D74AC-61CD-BBD3-B2F5-53EBF8D61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1302-8ECF-4DA5-579D-611B9D658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52140-F530-4009-8EB7-DF3E2CDEA2D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9DBE3-1328-6592-23F0-D445ED5F1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E1FDA-1749-565B-F2BF-601FC4CF3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987AE-853E-4974-9055-B7791378C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94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mzn.in/d/0bEYdZy9" TargetMode="External"/><Relationship Id="rId2" Type="http://schemas.openxmlformats.org/officeDocument/2006/relationships/hyperlink" Target="https://amzn.in/d/0flGpfd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mzn.in/d/05NAAnln" TargetMode="External"/><Relationship Id="rId4" Type="http://schemas.openxmlformats.org/officeDocument/2006/relationships/hyperlink" Target="https://amzn.in/d/0hsPtd16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F0B2-B7FA-C7FB-394E-5B8F84970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86813"/>
            <a:ext cx="11592232" cy="1779639"/>
          </a:xfrm>
        </p:spPr>
        <p:txBody>
          <a:bodyPr>
            <a:noAutofit/>
          </a:bodyPr>
          <a:lstStyle/>
          <a:p>
            <a:r>
              <a:rPr lang="en-IN" sz="4000" dirty="0"/>
              <a:t>Design and Development of an Offline-First Edge-IoT System for Cold-Chain Risk Monitoring and Safe Holdover Time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AA6EA-6A03-000F-3AE2-D4305FE9A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2123767"/>
            <a:ext cx="11592232" cy="425736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FOCUS : </a:t>
            </a:r>
            <a:r>
              <a:rPr lang="en-IN" b="1" dirty="0"/>
              <a:t>offline operation, local prediction, last-mile transport support, power-failure resilience, or lower-cost deployment for smaller facilities</a:t>
            </a:r>
          </a:p>
          <a:p>
            <a:pPr algn="just"/>
            <a:r>
              <a:rPr lang="en-IN" b="1" dirty="0"/>
              <a:t>Vaccines – +2 °C to +8 °C</a:t>
            </a:r>
            <a:r>
              <a:rPr lang="en-IN" dirty="0"/>
              <a:t> </a:t>
            </a:r>
          </a:p>
          <a:p>
            <a:pPr algn="just"/>
            <a:r>
              <a:rPr lang="en-IN" b="1" dirty="0"/>
              <a:t>two temperature zones, local decision-making, local storage, and multi-path alerting ( Air and Inside Box ) - </a:t>
            </a:r>
            <a:r>
              <a:rPr lang="en-IN" dirty="0"/>
              <a:t>glycol or a thermal dummy load</a:t>
            </a:r>
          </a:p>
          <a:p>
            <a:pPr algn="just"/>
            <a:r>
              <a:rPr lang="en-IN" dirty="0"/>
              <a:t>Door events and power states, trigger alerts for </a:t>
            </a:r>
            <a:r>
              <a:rPr lang="en-IN" b="1" dirty="0"/>
              <a:t>electrical cutoffs</a:t>
            </a:r>
            <a:r>
              <a:rPr lang="en-IN" dirty="0"/>
              <a:t> and </a:t>
            </a:r>
            <a:r>
              <a:rPr lang="en-IN" b="1" dirty="0"/>
              <a:t>prolonged door openings</a:t>
            </a:r>
          </a:p>
          <a:p>
            <a:pPr algn="just"/>
            <a:r>
              <a:rPr lang="en-IN" b="1" dirty="0"/>
              <a:t>local data storage, </a:t>
            </a:r>
            <a:r>
              <a:rPr lang="en-IN" dirty="0"/>
              <a:t>RTC-backed timestamps and microSD storage</a:t>
            </a:r>
          </a:p>
          <a:p>
            <a:pPr algn="just"/>
            <a:r>
              <a:rPr lang="en-IN" b="1" dirty="0"/>
              <a:t>remaining time to threshold excursion – Safe Holdover Time</a:t>
            </a:r>
          </a:p>
          <a:p>
            <a:pPr algn="just"/>
            <a:r>
              <a:rPr lang="en-IN" dirty="0"/>
              <a:t>continue sensing during power and network failures, estimate </a:t>
            </a:r>
            <a:r>
              <a:rPr lang="en-IN" b="1" dirty="0"/>
              <a:t>time-to-risk</a:t>
            </a:r>
            <a:r>
              <a:rPr lang="en-IN" dirty="0"/>
              <a:t> before an excursion, distinguish likely causes such as door-open versus power-cut versus compressor anomaly, and then synchronize records later for auditability. 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8728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A8D9-7DDF-AAE3-2BFE-3B5C7BFC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Knowledge Track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A4645-7417-8724-FE46-17F5B23CE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Embedded sensor interfacing </a:t>
            </a:r>
          </a:p>
          <a:p>
            <a:pPr lvl="0"/>
            <a:r>
              <a:rPr lang="en-IN" dirty="0"/>
              <a:t>Edge analytics </a:t>
            </a:r>
          </a:p>
          <a:p>
            <a:pPr lvl="0"/>
            <a:r>
              <a:rPr lang="en-IN" dirty="0"/>
              <a:t>LoRa, BLE or GSM communication </a:t>
            </a:r>
          </a:p>
          <a:p>
            <a:pPr lvl="0"/>
            <a:r>
              <a:rPr lang="en-IN" dirty="0"/>
              <a:t>Network-failure resilience </a:t>
            </a:r>
          </a:p>
          <a:p>
            <a:pPr lvl="0"/>
            <a:r>
              <a:rPr lang="en-IN" dirty="0"/>
              <a:t>Local databases and store-and-forward protocols </a:t>
            </a:r>
          </a:p>
          <a:p>
            <a:pPr lvl="0"/>
            <a:r>
              <a:rPr lang="en-IN" dirty="0"/>
              <a:t>Time-series analysis </a:t>
            </a:r>
          </a:p>
          <a:p>
            <a:pPr lvl="0"/>
            <a:r>
              <a:rPr lang="en-IN" dirty="0"/>
              <a:t>Low-power operation </a:t>
            </a:r>
          </a:p>
          <a:p>
            <a:pPr lvl="0"/>
            <a:r>
              <a:rPr lang="en-IN" dirty="0"/>
              <a:t>Dashboard and alert-system development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37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E739-D2A7-784E-33D5-62B0A763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C1C6D-EB8A-771C-ED4F-119B0E9D3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Offline edge prediction</a:t>
            </a:r>
            <a:r>
              <a:rPr lang="en-IN" dirty="0"/>
              <a:t>, without depending on the cloud </a:t>
            </a:r>
          </a:p>
          <a:p>
            <a:pPr lvl="0"/>
            <a:r>
              <a:rPr lang="en-IN" dirty="0"/>
              <a:t>Separate </a:t>
            </a:r>
            <a:r>
              <a:rPr lang="en-IN" b="1" dirty="0"/>
              <a:t>air-temperature and product-simulation temperature</a:t>
            </a:r>
            <a:r>
              <a:rPr lang="en-IN" dirty="0"/>
              <a:t> measurements </a:t>
            </a:r>
          </a:p>
          <a:p>
            <a:pPr lvl="0"/>
            <a:r>
              <a:rPr lang="en-IN" b="1" dirty="0"/>
              <a:t>Time-to-threshold estimation</a:t>
            </a:r>
            <a:r>
              <a:rPr lang="en-IN" dirty="0"/>
              <a:t>, rather than only detecting a completed excursion </a:t>
            </a:r>
          </a:p>
          <a:p>
            <a:pPr lvl="0"/>
            <a:r>
              <a:rPr lang="en-IN" dirty="0"/>
              <a:t>Classification of likely causes such as door opening, power loss and abnormal compressor cycling </a:t>
            </a:r>
          </a:p>
          <a:p>
            <a:pPr lvl="0"/>
            <a:r>
              <a:rPr lang="en-IN" dirty="0"/>
              <a:t>Local operation during power and network failures </a:t>
            </a:r>
          </a:p>
          <a:p>
            <a:pPr lvl="0"/>
            <a:r>
              <a:rPr lang="en-IN" dirty="0"/>
              <a:t>Store-and-forward audit logging </a:t>
            </a:r>
          </a:p>
          <a:p>
            <a:pPr lvl="0"/>
            <a:r>
              <a:rPr lang="en-IN" dirty="0"/>
              <a:t>A common architecture for both refrigerators and last-mile cold boxes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46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465F-BA14-8DBF-F716-09963B5A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Claims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4F15-CCDA-D48B-37B7-536C6CBB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IN" b="1" dirty="0"/>
              <a:t>Product-zone thermal prediction:</a:t>
            </a:r>
            <a:r>
              <a:rPr lang="en-IN" dirty="0"/>
              <a:t> Uses a buffered product-simulation probe instead of relying only on refrigerator air temperature. </a:t>
            </a:r>
          </a:p>
          <a:p>
            <a:pPr lvl="0"/>
            <a:r>
              <a:rPr lang="en-IN" b="1" dirty="0"/>
              <a:t>Safe-holdover-time estimation:</a:t>
            </a:r>
            <a:r>
              <a:rPr lang="en-IN" dirty="0"/>
              <a:t> Predicts the estimated time remaining before the configured threshold is reached. </a:t>
            </a:r>
          </a:p>
          <a:p>
            <a:pPr lvl="0"/>
            <a:r>
              <a:rPr lang="en-IN" b="1" dirty="0"/>
              <a:t>Cause-aware alerting:</a:t>
            </a:r>
            <a:r>
              <a:rPr lang="en-IN" dirty="0"/>
              <a:t> Separates door-open, power-failure, abnormal cooling and communication-failure events instead of generating one generic temperature alarm. </a:t>
            </a:r>
          </a:p>
          <a:p>
            <a:pPr lvl="0"/>
            <a:r>
              <a:rPr lang="en-IN" b="1" dirty="0"/>
              <a:t>Fully offline operation:</a:t>
            </a:r>
            <a:r>
              <a:rPr lang="en-IN" dirty="0"/>
              <a:t> Detection, prediction, logging and local alarms continue without internet access. </a:t>
            </a:r>
          </a:p>
          <a:p>
            <a:pPr lvl="0"/>
            <a:r>
              <a:rPr lang="en-IN" b="1" dirty="0"/>
              <a:t>Store-and-forward communication:</a:t>
            </a:r>
            <a:r>
              <a:rPr lang="en-IN" dirty="0"/>
              <a:t> Data lost during network failure is recovered and synchronised after reconnection. </a:t>
            </a:r>
          </a:p>
          <a:p>
            <a:pPr lvl="0"/>
            <a:r>
              <a:rPr lang="en-IN" b="1" dirty="0"/>
              <a:t>Multi-context deployment:</a:t>
            </a:r>
            <a:r>
              <a:rPr lang="en-IN" dirty="0"/>
              <a:t> The same controller can be tested in a refrigerator and an insulated last-mile transport box. </a:t>
            </a:r>
          </a:p>
          <a:p>
            <a:pPr lvl="0"/>
            <a:r>
              <a:rPr lang="en-IN" b="1" dirty="0"/>
              <a:t>Low-cost rural deployment:</a:t>
            </a:r>
            <a:r>
              <a:rPr lang="en-IN" dirty="0"/>
              <a:t> The design targets primary health centres, small pharmacies, diagnostic laboratories and rural medicine-storage facilities.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19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464F-9FB0-2D1E-68E9-89F53F0B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Study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929DC-830B-68EA-C448-D42793C2C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refrigerator node works autonomously, then sends short event messages over </a:t>
            </a:r>
            <a:r>
              <a:rPr lang="en-IN" b="1" dirty="0"/>
              <a:t>GSM, LoRa, or Bluetooth</a:t>
            </a:r>
            <a:r>
              <a:rPr lang="en-IN" dirty="0"/>
              <a:t> only when needed. </a:t>
            </a:r>
          </a:p>
          <a:p>
            <a:endParaRPr lang="en-IN" b="1" dirty="0"/>
          </a:p>
          <a:p>
            <a:r>
              <a:rPr lang="en-IN" b="1" dirty="0"/>
              <a:t>fault classification from temperature patterns, synthetic datasets generated from thermodynamic models</a:t>
            </a:r>
          </a:p>
          <a:p>
            <a:r>
              <a:rPr lang="en-IN" b="1" dirty="0"/>
              <a:t>convolutional autoencoder on an ESP32, </a:t>
            </a:r>
            <a:r>
              <a:rPr lang="en-IN" dirty="0"/>
              <a:t>for real-time anomaly detection in vaccine refrigeration, reporting </a:t>
            </a:r>
            <a:r>
              <a:rPr lang="en-IN" b="1" dirty="0"/>
              <a:t>92% fault-detection accuracy</a:t>
            </a:r>
            <a:r>
              <a:rPr lang="en-IN" dirty="0"/>
              <a:t>, low energy use of </a:t>
            </a:r>
            <a:r>
              <a:rPr lang="en-IN" b="1" dirty="0"/>
              <a:t>0.05 W</a:t>
            </a:r>
            <a:r>
              <a:rPr lang="en-IN" dirty="0"/>
              <a:t>, and about </a:t>
            </a:r>
            <a:r>
              <a:rPr lang="en-IN" b="1" dirty="0"/>
              <a:t>1.2 MB</a:t>
            </a:r>
            <a:r>
              <a:rPr lang="en-IN" dirty="0"/>
              <a:t> memory use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28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0422FE8-8908-BDF8-67A6-959DA13D0A2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380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72657D-D321-3243-6A47-570D6CE54B16}"/>
              </a:ext>
            </a:extLst>
          </p:cNvPr>
          <p:cNvSpPr/>
          <p:nvPr/>
        </p:nvSpPr>
        <p:spPr>
          <a:xfrm>
            <a:off x="3432517" y="1161111"/>
            <a:ext cx="4720883" cy="4396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Pharmaceutical Cold Storage Unit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CEC6AE-332F-3597-F292-6674A76530FF}"/>
              </a:ext>
            </a:extLst>
          </p:cNvPr>
          <p:cNvSpPr/>
          <p:nvPr/>
        </p:nvSpPr>
        <p:spPr>
          <a:xfrm>
            <a:off x="338599" y="1772252"/>
            <a:ext cx="4360010" cy="537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Product Sensors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1DE6CF-8093-3BA8-F0E3-145A95A37745}"/>
              </a:ext>
            </a:extLst>
          </p:cNvPr>
          <p:cNvSpPr/>
          <p:nvPr/>
        </p:nvSpPr>
        <p:spPr>
          <a:xfrm>
            <a:off x="466452" y="2661408"/>
            <a:ext cx="2800419" cy="36549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Data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Acquistion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and Filtering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 Thermal Prediction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Holdover Time Estimation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6C656B-E0F7-5E29-3AB2-58EEDFEE9F25}"/>
              </a:ext>
            </a:extLst>
          </p:cNvPr>
          <p:cNvSpPr/>
          <p:nvPr/>
        </p:nvSpPr>
        <p:spPr>
          <a:xfrm>
            <a:off x="6953135" y="1772251"/>
            <a:ext cx="4915088" cy="5378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Equipment, Door and Power Monitoring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0A0184-B423-C38C-6A9B-92DAB620C4E5}"/>
              </a:ext>
            </a:extLst>
          </p:cNvPr>
          <p:cNvSpPr/>
          <p:nvPr/>
        </p:nvSpPr>
        <p:spPr>
          <a:xfrm>
            <a:off x="3548658" y="3365631"/>
            <a:ext cx="4473691" cy="537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Storage and Connectivity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9624C6-9A30-B77C-FF8F-8E05158DE820}"/>
              </a:ext>
            </a:extLst>
          </p:cNvPr>
          <p:cNvSpPr/>
          <p:nvPr/>
        </p:nvSpPr>
        <p:spPr>
          <a:xfrm>
            <a:off x="8882294" y="2665969"/>
            <a:ext cx="2794823" cy="361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– Temperature Status and Predicted SHT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 and Dashboard- Graphs and Audit Logs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or SMS Alert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and LED – Local Alarm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95DE13-A3DC-175B-415E-EAD802CCE8B9}"/>
              </a:ext>
            </a:extLst>
          </p:cNvPr>
          <p:cNvSpPr/>
          <p:nvPr/>
        </p:nvSpPr>
        <p:spPr>
          <a:xfrm>
            <a:off x="3548657" y="4296856"/>
            <a:ext cx="4473691" cy="9228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Forward System – Synchronization after Reconnection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4AEE44-E7AD-579B-D581-81841D74889E}"/>
              </a:ext>
            </a:extLst>
          </p:cNvPr>
          <p:cNvSpPr/>
          <p:nvPr/>
        </p:nvSpPr>
        <p:spPr>
          <a:xfrm>
            <a:off x="3999512" y="2434406"/>
            <a:ext cx="3571989" cy="537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Controller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024C2E-354F-5D35-3367-1008D802B74F}"/>
              </a:ext>
            </a:extLst>
          </p:cNvPr>
          <p:cNvSpPr/>
          <p:nvPr/>
        </p:nvSpPr>
        <p:spPr>
          <a:xfrm>
            <a:off x="3991430" y="5757554"/>
            <a:ext cx="3588149" cy="457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and Remote Outputs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6BD1DA-1EEF-62CD-546E-13FFFF5CC1E2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flipH="1">
            <a:off x="5785507" y="1600751"/>
            <a:ext cx="7452" cy="833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27BD28-1816-7A74-E8BE-457A58FF427E}"/>
              </a:ext>
            </a:extLst>
          </p:cNvPr>
          <p:cNvCxnSpPr>
            <a:cxnSpLocks/>
            <a:stCxn id="20" idx="2"/>
            <a:endCxn id="17" idx="0"/>
          </p:cNvCxnSpPr>
          <p:nvPr/>
        </p:nvCxnSpPr>
        <p:spPr>
          <a:xfrm flipH="1">
            <a:off x="5785504" y="2972277"/>
            <a:ext cx="3" cy="39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C5D729-C579-FC5E-4C41-16A99E2EA80D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5785503" y="3903502"/>
            <a:ext cx="1" cy="39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F4CDE5-100B-073B-3D83-82803D743A13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5785503" y="5219683"/>
            <a:ext cx="2" cy="537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FFF1C22-2245-93A2-5BEB-6E93B734FA76}"/>
              </a:ext>
            </a:extLst>
          </p:cNvPr>
          <p:cNvCxnSpPr>
            <a:cxnSpLocks/>
            <a:stCxn id="13" idx="1"/>
            <a:endCxn id="14" idx="0"/>
          </p:cNvCxnSpPr>
          <p:nvPr/>
        </p:nvCxnSpPr>
        <p:spPr>
          <a:xfrm rot="10800000" flipV="1">
            <a:off x="2518605" y="1380930"/>
            <a:ext cx="913913" cy="3913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D5AD048-9144-505A-6032-ED551DFAAF9B}"/>
              </a:ext>
            </a:extLst>
          </p:cNvPr>
          <p:cNvCxnSpPr>
            <a:cxnSpLocks/>
            <a:stCxn id="13" idx="3"/>
            <a:endCxn id="16" idx="0"/>
          </p:cNvCxnSpPr>
          <p:nvPr/>
        </p:nvCxnSpPr>
        <p:spPr>
          <a:xfrm>
            <a:off x="8153400" y="1380931"/>
            <a:ext cx="1257279" cy="3913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29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DD9E-6A6E-F098-5C9F-6B878ADA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Identified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ECDF-1D03-9C47-102F-07597CBC3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Two DS18B20 temperature probes </a:t>
            </a:r>
          </a:p>
          <a:p>
            <a:pPr lvl="0"/>
            <a:r>
              <a:rPr lang="en-IN" dirty="0"/>
              <a:t>SHT31 humidity sensor </a:t>
            </a:r>
          </a:p>
          <a:p>
            <a:pPr lvl="0"/>
            <a:r>
              <a:rPr lang="en-IN" dirty="0"/>
              <a:t>Magnetic door switch </a:t>
            </a:r>
          </a:p>
          <a:p>
            <a:pPr lvl="0"/>
            <a:r>
              <a:rPr lang="en-IN" dirty="0"/>
              <a:t>Isolated mains-status detection </a:t>
            </a:r>
          </a:p>
          <a:p>
            <a:pPr lvl="0"/>
            <a:r>
              <a:rPr lang="en-IN" dirty="0"/>
              <a:t>DS3231 RTC </a:t>
            </a:r>
          </a:p>
          <a:p>
            <a:pPr lvl="0"/>
            <a:r>
              <a:rPr lang="en-IN" dirty="0"/>
              <a:t>MicroSD logging </a:t>
            </a:r>
          </a:p>
          <a:p>
            <a:pPr lvl="0"/>
            <a:r>
              <a:rPr lang="en-IN" dirty="0"/>
              <a:t>OLED and buzzer </a:t>
            </a:r>
          </a:p>
          <a:p>
            <a:pPr lvl="0"/>
            <a:r>
              <a:rPr lang="en-IN" dirty="0"/>
              <a:t>ESP32 </a:t>
            </a:r>
          </a:p>
          <a:p>
            <a:pPr lvl="0"/>
            <a:r>
              <a:rPr lang="en-IN" dirty="0"/>
              <a:t>Battery backup </a:t>
            </a:r>
          </a:p>
          <a:p>
            <a:pPr lvl="0"/>
            <a:r>
              <a:rPr lang="en-IN" dirty="0"/>
              <a:t>LoRa or GSM as the remote-alert channel </a:t>
            </a:r>
          </a:p>
          <a:p>
            <a:pPr lvl="0"/>
            <a:r>
              <a:rPr lang="en-IN" dirty="0"/>
              <a:t>Rule-based time-to-threshold prediction initially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25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3416" y="851573"/>
            <a:ext cx="4143304" cy="270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9893" rIns="0" bIns="0" rtlCol="0" anchor="ctr">
            <a:spAutoFit/>
          </a:bodyPr>
          <a:lstStyle/>
          <a:p>
            <a:pPr algn="ctr">
              <a:spcBef>
                <a:spcPts val="235"/>
              </a:spcBef>
            </a:pPr>
            <a:r>
              <a:rPr sz="1400" b="1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PHARMACEUTICAL</a:t>
            </a:r>
            <a:r>
              <a:rPr sz="1400" b="1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COLD-</a:t>
            </a:r>
            <a:r>
              <a:rPr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sz="1400" b="1" spc="-3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641" y="1441132"/>
            <a:ext cx="1481404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DS18B20</a:t>
            </a:r>
            <a:r>
              <a:rPr sz="1400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6109" y="1449439"/>
            <a:ext cx="1945777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30974"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DS18B20</a:t>
            </a:r>
            <a:r>
              <a:rPr sz="1400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19"/>
              </a:spcBef>
            </a:pPr>
            <a:r>
              <a:rPr sz="1400" b="1" spc="-2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</a:t>
            </a: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sz="1400" b="1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22572" y="1441132"/>
            <a:ext cx="1334606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SHT31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" algn="ctr">
              <a:spcBef>
                <a:spcPts val="119"/>
              </a:spcBef>
            </a:pP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6933" y="2151159"/>
            <a:ext cx="2128820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sz="1400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Reed</a:t>
            </a:r>
            <a:r>
              <a:rPr sz="1400" spc="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3" algn="ctr">
              <a:spcBef>
                <a:spcPts val="119"/>
              </a:spcBef>
            </a:pPr>
            <a:r>
              <a:rPr sz="1400" b="1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sz="1400" b="1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Open/Closed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4901" y="2216848"/>
            <a:ext cx="2248191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Isolated</a:t>
            </a:r>
            <a:r>
              <a:rPr sz="1400" spc="-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Mains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" algn="ctr">
              <a:spcBef>
                <a:spcPts val="119"/>
              </a:spcBef>
            </a:pPr>
            <a:r>
              <a:rPr sz="1400" b="1" spc="-4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400" b="1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22598" y="2200401"/>
            <a:ext cx="2534554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Compressor</a:t>
            </a:r>
            <a:r>
              <a:rPr sz="1400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1400" spc="-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93" algn="ctr">
              <a:spcBef>
                <a:spcPts val="119"/>
              </a:spcBef>
            </a:pP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Compressor </a:t>
            </a:r>
            <a:r>
              <a:rPr sz="1400" b="1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ON/OFF</a:t>
            </a:r>
            <a:r>
              <a:rPr sz="1400" b="1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51277" y="3060074"/>
            <a:ext cx="2435437" cy="2432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4332" rIns="0" bIns="0" rtlCol="0" anchor="ctr">
            <a:spAutoFit/>
          </a:bodyPr>
          <a:lstStyle/>
          <a:p>
            <a:pPr marL="4332" algn="ctr">
              <a:spcBef>
                <a:spcPts val="34"/>
              </a:spcBef>
            </a:pPr>
            <a:r>
              <a:rPr sz="1400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Battery-</a:t>
            </a:r>
            <a:r>
              <a:rPr sz="1400" spc="-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sz="1400" spc="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17294" y="3437874"/>
            <a:ext cx="1903402" cy="4810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3899" rIns="0" bIns="0" rtlCol="0" anchor="ctr">
            <a:spAutoFit/>
          </a:bodyPr>
          <a:lstStyle/>
          <a:p>
            <a:pPr marL="84690" algn="ctr">
              <a:spcBef>
                <a:spcPts val="31"/>
              </a:spcBef>
            </a:pPr>
            <a:r>
              <a:rPr sz="1400" b="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sz="1400" b="1" spc="-5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26531" y="4082238"/>
            <a:ext cx="2128819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DS3231</a:t>
            </a:r>
            <a:r>
              <a:rPr sz="1400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RTC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1400" b="1" spc="-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04327" y="4082238"/>
            <a:ext cx="1529343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MicroSD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28" algn="ctr">
              <a:spcBef>
                <a:spcPts val="119"/>
              </a:spcBef>
            </a:pPr>
            <a:r>
              <a:rPr sz="1400" b="1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sz="1400" b="1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15287" y="4082238"/>
            <a:ext cx="2333374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0071" algn="ctr">
              <a:spcBef>
                <a:spcPts val="153"/>
              </a:spcBef>
            </a:pPr>
            <a:r>
              <a:rPr sz="1400" spc="-4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1400" spc="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19"/>
              </a:spcBef>
            </a:pP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sz="1400" b="1" spc="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sz="1400" b="1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3178" y="4858926"/>
            <a:ext cx="3311633" cy="5189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5127" rIns="0" bIns="0" rtlCol="0" anchor="ctr">
            <a:spAutoFit/>
          </a:bodyPr>
          <a:lstStyle/>
          <a:p>
            <a:pPr marL="25342" algn="ctr">
              <a:spcBef>
                <a:spcPts val="198"/>
              </a:spcBef>
            </a:pPr>
            <a:r>
              <a:rPr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STORE-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AND-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30"/>
              </a:spcBef>
            </a:pPr>
            <a:r>
              <a:rPr sz="1400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reconnection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78465" y="5756970"/>
            <a:ext cx="2024950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" algn="ctr">
              <a:spcBef>
                <a:spcPts val="153"/>
              </a:spcBef>
            </a:pPr>
            <a:r>
              <a:rPr sz="1400" spc="-8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7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Temp,</a:t>
            </a:r>
            <a:r>
              <a:rPr sz="1400" b="1" spc="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status,</a:t>
            </a:r>
            <a:r>
              <a:rPr sz="1400" b="1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57671" y="5755383"/>
            <a:ext cx="1222646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227" algn="ctr">
              <a:spcBef>
                <a:spcPts val="119"/>
              </a:spcBef>
            </a:pPr>
            <a:r>
              <a:rPr sz="1400" b="1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01335" y="5755383"/>
            <a:ext cx="2194945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r>
              <a:rPr sz="1400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536" algn="ctr">
              <a:spcBef>
                <a:spcPts val="119"/>
              </a:spcBef>
            </a:pPr>
            <a:r>
              <a:rPr sz="1400" b="1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r>
              <a:rPr sz="1400" b="1" spc="-2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sz="1400" b="1" spc="-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576437" y="5786511"/>
            <a:ext cx="1361429" cy="4815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4332" rIns="0" bIns="0" rtlCol="0" anchor="ctr">
            <a:spAutoFit/>
          </a:bodyPr>
          <a:lstStyle/>
          <a:p>
            <a:pPr marL="4332" algn="ctr">
              <a:spcBef>
                <a:spcPts val="34"/>
              </a:spcBef>
            </a:pP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B8674C-9500-39ED-2061-5ACB181E5334}"/>
              </a:ext>
            </a:extLst>
          </p:cNvPr>
          <p:cNvSpPr txBox="1"/>
          <p:nvPr/>
        </p:nvSpPr>
        <p:spPr>
          <a:xfrm>
            <a:off x="10193630" y="3060074"/>
            <a:ext cx="2027923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9346" indent="-76026">
              <a:buChar char="•"/>
              <a:tabLst>
                <a:tab pos="119346" algn="l"/>
              </a:tabLst>
            </a:pPr>
            <a:r>
              <a:rPr lang="en-US" sz="1400" spc="-2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en-US" sz="1400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acquisition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358" indent="-76026">
              <a:spcBef>
                <a:spcPts val="121"/>
              </a:spcBef>
              <a:buChar char="•"/>
              <a:tabLst>
                <a:tab pos="80358" algn="l"/>
              </a:tabLst>
            </a:pPr>
            <a:r>
              <a:rPr lang="en-US" sz="1400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Calibration/filtering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880" lvl="1" indent="-76026">
              <a:spcBef>
                <a:spcPts val="123"/>
              </a:spcBef>
              <a:buChar char="•"/>
              <a:tabLst>
                <a:tab pos="115880" algn="l"/>
              </a:tabLst>
            </a:pPr>
            <a:r>
              <a:rPr lang="en-US"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US" sz="1400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4761" lvl="1" indent="-76026">
              <a:spcBef>
                <a:spcPts val="121"/>
              </a:spcBef>
              <a:buChar char="•"/>
              <a:tabLst>
                <a:tab pos="124761" algn="l"/>
              </a:tabLst>
            </a:pPr>
            <a:r>
              <a:rPr lang="en-US"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US" sz="1400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15" lvl="1" indent="-76026">
              <a:spcBef>
                <a:spcPts val="123"/>
              </a:spcBef>
              <a:buChar char="•"/>
              <a:tabLst>
                <a:tab pos="111115" algn="l"/>
              </a:tabLst>
            </a:pPr>
            <a:r>
              <a:rPr lang="en-US" sz="1400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</a:t>
            </a:r>
            <a:r>
              <a:rPr lang="en-US" sz="1400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4834" lvl="1" indent="-76026">
              <a:spcBef>
                <a:spcPts val="121"/>
              </a:spcBef>
              <a:buChar char="•"/>
              <a:tabLst>
                <a:tab pos="104834" algn="l"/>
              </a:tabLst>
            </a:pPr>
            <a:r>
              <a:rPr lang="en-US"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US"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Holdover</a:t>
            </a:r>
            <a:r>
              <a:rPr lang="en-US" sz="1400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DE45B1-5A89-53AF-7333-4BCC230A608D}"/>
              </a:ext>
            </a:extLst>
          </p:cNvPr>
          <p:cNvSpPr txBox="1"/>
          <p:nvPr/>
        </p:nvSpPr>
        <p:spPr>
          <a:xfrm>
            <a:off x="2051343" y="10557"/>
            <a:ext cx="80877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BLOCK DIAGRAM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487488-AAFE-E684-B7C4-C16BA4F65B83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5968998" y="1122267"/>
            <a:ext cx="6070" cy="327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ED81188-CFA4-0EF2-334B-F5405D7E08B0}"/>
              </a:ext>
            </a:extLst>
          </p:cNvPr>
          <p:cNvCxnSpPr>
            <a:cxnSpLocks/>
            <a:stCxn id="2" idx="1"/>
            <a:endCxn id="4" idx="0"/>
          </p:cNvCxnSpPr>
          <p:nvPr/>
        </p:nvCxnSpPr>
        <p:spPr>
          <a:xfrm flipH="1">
            <a:off x="2051343" y="986920"/>
            <a:ext cx="1852073" cy="454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8D17D6C-38BA-8161-EC95-92FC3D99F4E8}"/>
              </a:ext>
            </a:extLst>
          </p:cNvPr>
          <p:cNvCxnSpPr>
            <a:cxnSpLocks/>
            <a:stCxn id="2" idx="3"/>
            <a:endCxn id="8" idx="0"/>
          </p:cNvCxnSpPr>
          <p:nvPr/>
        </p:nvCxnSpPr>
        <p:spPr>
          <a:xfrm>
            <a:off x="8046720" y="986920"/>
            <a:ext cx="1943155" cy="454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FC2BF44-16AA-8746-E619-244C477311BA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2051343" y="1953826"/>
            <a:ext cx="0" cy="19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4E9D747-162D-E863-9EC1-7CEB0551033D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flipH="1">
            <a:off x="5968997" y="1962133"/>
            <a:ext cx="1" cy="254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C2CD2E6-BD9F-2A94-0801-99F5DC143909}"/>
              </a:ext>
            </a:extLst>
          </p:cNvPr>
          <p:cNvCxnSpPr>
            <a:stCxn id="8" idx="2"/>
            <a:endCxn id="14" idx="0"/>
          </p:cNvCxnSpPr>
          <p:nvPr/>
        </p:nvCxnSpPr>
        <p:spPr>
          <a:xfrm>
            <a:off x="9989875" y="1953826"/>
            <a:ext cx="0" cy="246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66A0674-F30C-92C7-B631-BD21D2BC6BFD}"/>
              </a:ext>
            </a:extLst>
          </p:cNvPr>
          <p:cNvCxnSpPr>
            <a:stCxn id="10" idx="2"/>
            <a:endCxn id="16" idx="1"/>
          </p:cNvCxnSpPr>
          <p:nvPr/>
        </p:nvCxnSpPr>
        <p:spPr>
          <a:xfrm>
            <a:off x="2051343" y="2663853"/>
            <a:ext cx="2699934" cy="517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8936C44-0B5B-D3E9-E45C-1DC6F344062E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flipH="1">
            <a:off x="5968996" y="2729542"/>
            <a:ext cx="1" cy="330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7E32C77-C0BF-983C-DBE0-AD2EF1AA20F6}"/>
              </a:ext>
            </a:extLst>
          </p:cNvPr>
          <p:cNvCxnSpPr>
            <a:stCxn id="14" idx="2"/>
            <a:endCxn id="16" idx="3"/>
          </p:cNvCxnSpPr>
          <p:nvPr/>
        </p:nvCxnSpPr>
        <p:spPr>
          <a:xfrm flipH="1">
            <a:off x="7186714" y="2713095"/>
            <a:ext cx="2803161" cy="468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74DF109-BC49-AEB3-398C-9E1C82BE4098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5968995" y="3303277"/>
            <a:ext cx="1" cy="134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6BF2C99-6EBD-AFBE-065B-A3E70DD7ED2B}"/>
              </a:ext>
            </a:extLst>
          </p:cNvPr>
          <p:cNvCxnSpPr>
            <a:stCxn id="18" idx="1"/>
            <a:endCxn id="20" idx="0"/>
          </p:cNvCxnSpPr>
          <p:nvPr/>
        </p:nvCxnSpPr>
        <p:spPr>
          <a:xfrm flipH="1">
            <a:off x="2890941" y="3678415"/>
            <a:ext cx="2126353" cy="403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9D0FA6-38BF-4853-9148-88F71949A0DC}"/>
              </a:ext>
            </a:extLst>
          </p:cNvPr>
          <p:cNvCxnSpPr>
            <a:stCxn id="18" idx="2"/>
            <a:endCxn id="22" idx="0"/>
          </p:cNvCxnSpPr>
          <p:nvPr/>
        </p:nvCxnSpPr>
        <p:spPr>
          <a:xfrm>
            <a:off x="5968995" y="3918956"/>
            <a:ext cx="4" cy="163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8AE7AF5-9F9A-DE92-AC16-AE25E3D36205}"/>
              </a:ext>
            </a:extLst>
          </p:cNvPr>
          <p:cNvCxnSpPr>
            <a:stCxn id="18" idx="3"/>
            <a:endCxn id="24" idx="0"/>
          </p:cNvCxnSpPr>
          <p:nvPr/>
        </p:nvCxnSpPr>
        <p:spPr>
          <a:xfrm>
            <a:off x="6920696" y="3678415"/>
            <a:ext cx="1961278" cy="403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B129B96-9BB0-3811-F1A7-98F12D13E521}"/>
              </a:ext>
            </a:extLst>
          </p:cNvPr>
          <p:cNvCxnSpPr>
            <a:stCxn id="20" idx="2"/>
            <a:endCxn id="26" idx="1"/>
          </p:cNvCxnSpPr>
          <p:nvPr/>
        </p:nvCxnSpPr>
        <p:spPr>
          <a:xfrm>
            <a:off x="2890941" y="4594932"/>
            <a:ext cx="1422237" cy="523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52E0F60-870A-53F3-57EB-BD2EF26EA47F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 flipH="1">
            <a:off x="5968995" y="4594932"/>
            <a:ext cx="4" cy="263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8ED9116-4214-5E71-0D1F-082AE63F9BB8}"/>
              </a:ext>
            </a:extLst>
          </p:cNvPr>
          <p:cNvCxnSpPr>
            <a:stCxn id="24" idx="2"/>
            <a:endCxn id="26" idx="3"/>
          </p:cNvCxnSpPr>
          <p:nvPr/>
        </p:nvCxnSpPr>
        <p:spPr>
          <a:xfrm flipH="1">
            <a:off x="7624811" y="4594932"/>
            <a:ext cx="1257163" cy="523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6F6DB06-E508-665A-1E41-703EB680E539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 flipH="1">
            <a:off x="2890940" y="5377912"/>
            <a:ext cx="3078055" cy="379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3EDF275-0FEA-9446-927D-2596978109F8}"/>
              </a:ext>
            </a:extLst>
          </p:cNvPr>
          <p:cNvCxnSpPr>
            <a:stCxn id="26" idx="2"/>
            <a:endCxn id="30" idx="0"/>
          </p:cNvCxnSpPr>
          <p:nvPr/>
        </p:nvCxnSpPr>
        <p:spPr>
          <a:xfrm flipH="1">
            <a:off x="5968994" y="5377912"/>
            <a:ext cx="1" cy="377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5B6ABAD-74DE-2263-2940-623508099032}"/>
              </a:ext>
            </a:extLst>
          </p:cNvPr>
          <p:cNvCxnSpPr>
            <a:stCxn id="26" idx="2"/>
            <a:endCxn id="32" idx="0"/>
          </p:cNvCxnSpPr>
          <p:nvPr/>
        </p:nvCxnSpPr>
        <p:spPr>
          <a:xfrm>
            <a:off x="5968995" y="5377912"/>
            <a:ext cx="3029813" cy="377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E092264-34C9-99C9-63CD-74350C9DDB90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>
            <a:off x="10096280" y="6011730"/>
            <a:ext cx="480157" cy="1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7407C3-9159-F9FD-A53B-B347E7BFA999}"/>
              </a:ext>
            </a:extLst>
          </p:cNvPr>
          <p:cNvSpPr/>
          <p:nvPr/>
        </p:nvSpPr>
        <p:spPr>
          <a:xfrm>
            <a:off x="4318000" y="1609487"/>
            <a:ext cx="2895600" cy="4428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 Mains Supply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B02BA9-683E-4519-A583-0D0EBFA550C6}"/>
              </a:ext>
            </a:extLst>
          </p:cNvPr>
          <p:cNvSpPr/>
          <p:nvPr/>
        </p:nvSpPr>
        <p:spPr>
          <a:xfrm>
            <a:off x="4053840" y="2420183"/>
            <a:ext cx="3413760" cy="558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AC-DC Regulated Power Supply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081348-60BE-4D28-D4D8-0ACC161AB722}"/>
              </a:ext>
            </a:extLst>
          </p:cNvPr>
          <p:cNvSpPr/>
          <p:nvPr/>
        </p:nvSpPr>
        <p:spPr>
          <a:xfrm>
            <a:off x="7477760" y="3190240"/>
            <a:ext cx="2712720" cy="477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ESP 32 and Sensors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AF723D-3660-3B0A-8C17-BCB151F2F55C}"/>
              </a:ext>
            </a:extLst>
          </p:cNvPr>
          <p:cNvSpPr/>
          <p:nvPr/>
        </p:nvSpPr>
        <p:spPr>
          <a:xfrm>
            <a:off x="4013200" y="3789680"/>
            <a:ext cx="3495040" cy="5588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Battery Charger / UPS Module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FC0FE3-C047-CE58-46D6-20115210586B}"/>
              </a:ext>
            </a:extLst>
          </p:cNvPr>
          <p:cNvSpPr/>
          <p:nvPr/>
        </p:nvSpPr>
        <p:spPr>
          <a:xfrm>
            <a:off x="4318000" y="4786233"/>
            <a:ext cx="28956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Rechargeable Backup Battery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E190ED-E478-5184-410F-771AB5DB1E3F}"/>
              </a:ext>
            </a:extLst>
          </p:cNvPr>
          <p:cNvSpPr/>
          <p:nvPr/>
        </p:nvSpPr>
        <p:spPr>
          <a:xfrm>
            <a:off x="7508240" y="5726033"/>
            <a:ext cx="2407920" cy="8026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Automatic Operation During Power Failure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A073C4-E17D-B88A-D6AF-FEC034329F8C}"/>
              </a:ext>
            </a:extLst>
          </p:cNvPr>
          <p:cNvSpPr txBox="1"/>
          <p:nvPr/>
        </p:nvSpPr>
        <p:spPr>
          <a:xfrm>
            <a:off x="304800" y="390615"/>
            <a:ext cx="1188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SECTION BLOCK DIAGRAM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134E2F-AA40-C464-01E7-4B19EBC823BF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5760720" y="2052320"/>
            <a:ext cx="5080" cy="36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8A5B0B-0467-D471-30C0-598150CB56C6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760720" y="2978983"/>
            <a:ext cx="0" cy="810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7875E6-3DFF-CADD-0161-DE901C2C666A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760720" y="4348480"/>
            <a:ext cx="5080" cy="437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2BE1414-6DEA-1DD2-0538-A82763692875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6347460" y="4966573"/>
            <a:ext cx="579120" cy="17424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DB5BFA-33DE-A6FC-D751-4C6D1894154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775960" y="3429000"/>
            <a:ext cx="1701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13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79E0-38BB-CB98-BF43-F91F642B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2037B-A38F-8B0C-FCAA-48B4C1628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Data-Acquisition Stage</a:t>
            </a:r>
          </a:p>
          <a:p>
            <a:pPr marL="0" indent="0">
              <a:buNone/>
            </a:pPr>
            <a:r>
              <a:rPr lang="en-IN" dirty="0"/>
              <a:t>Sensors → ESP32 acquisition → Sensor calibration → Noise filtering → RTC timestamping → MicroSD logging</a:t>
            </a:r>
          </a:p>
          <a:p>
            <a:pPr marL="0" indent="0">
              <a:buNone/>
            </a:pPr>
            <a:r>
              <a:rPr lang="en-IN" b="1" dirty="0"/>
              <a:t>Risk-Analysis Stage</a:t>
            </a:r>
          </a:p>
          <a:p>
            <a:pPr marL="0" indent="0">
              <a:buNone/>
            </a:pPr>
            <a:r>
              <a:rPr lang="en-IN" dirty="0"/>
              <a:t>Temperature and operational data → Feature extraction → Risk identification → Risk-level classification</a:t>
            </a:r>
          </a:p>
          <a:p>
            <a:pPr marL="0" indent="0">
              <a:buNone/>
            </a:pPr>
            <a:r>
              <a:rPr lang="en-IN" b="1" dirty="0"/>
              <a:t>Prediction Stage</a:t>
            </a:r>
          </a:p>
          <a:p>
            <a:pPr marL="0" indent="0">
              <a:buNone/>
            </a:pPr>
            <a:r>
              <a:rPr lang="en-IN" dirty="0"/>
              <a:t>Product temperature → Temperature-rise calculation → Thermal prediction model → Safe Holdover Time estimation</a:t>
            </a:r>
          </a:p>
          <a:p>
            <a:pPr marL="0" indent="0">
              <a:buNone/>
            </a:pPr>
            <a:r>
              <a:rPr lang="en-IN" b="1" dirty="0"/>
              <a:t>Alert Stage</a:t>
            </a:r>
          </a:p>
          <a:p>
            <a:pPr marL="0" indent="0">
              <a:buNone/>
            </a:pPr>
            <a:r>
              <a:rPr lang="en-IN" dirty="0"/>
              <a:t>Risk classification → Local OLED/buzzer alert → Remote LoRa/GSM/Wi-Fi alert</a:t>
            </a:r>
          </a:p>
          <a:p>
            <a:pPr marL="0" indent="0">
              <a:buNone/>
            </a:pPr>
            <a:r>
              <a:rPr lang="en-IN" b="1" dirty="0"/>
              <a:t>Offline Synchronisation Stage</a:t>
            </a:r>
          </a:p>
          <a:p>
            <a:pPr marL="0" indent="0">
              <a:buNone/>
            </a:pPr>
            <a:r>
              <a:rPr lang="en-IN" dirty="0"/>
              <a:t>Communication unavailable → Local storage → Connectivity restored → Automatic record synchronisation → Dashboard update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635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97FF-E52A-61B2-CFF1-DE13DBC4F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REVIEW 1 — SYSTEM DESIGN AND SENSOR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B0DD-A7EA-7DC0-B36F-27B3E475D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IN" dirty="0"/>
              <a:t>Complete the detailed literature survey, finalise the problem statement, identify the research gap, define the system requirements and prepare the complete hardware and software architecture.</a:t>
            </a:r>
          </a:p>
          <a:p>
            <a:pPr lvl="0"/>
            <a:r>
              <a:rPr lang="en-IN" dirty="0"/>
              <a:t>Procure and interface the temperature, humidity, door, power, compressor and battery sensors; calibrate the sensors and demonstrate real-time readings through the OLED or serial monitor.</a:t>
            </a:r>
          </a:p>
          <a:p>
            <a:pPr marL="0" indent="0">
              <a:buNone/>
            </a:pPr>
            <a:r>
              <a:rPr lang="en-IN" b="1" dirty="0"/>
              <a:t>Expected Review 1 Output</a:t>
            </a:r>
          </a:p>
          <a:p>
            <a:pPr lvl="0"/>
            <a:r>
              <a:rPr lang="en-IN" dirty="0"/>
              <a:t>Finalised system architecture</a:t>
            </a:r>
          </a:p>
          <a:p>
            <a:pPr lvl="0"/>
            <a:r>
              <a:rPr lang="en-IN" dirty="0"/>
              <a:t>Complete component selection</a:t>
            </a:r>
          </a:p>
          <a:p>
            <a:pPr lvl="0"/>
            <a:r>
              <a:rPr lang="en-IN" dirty="0"/>
              <a:t>Sensor-interfacing circuits</a:t>
            </a:r>
          </a:p>
          <a:p>
            <a:pPr lvl="0"/>
            <a:r>
              <a:rPr lang="en-IN" dirty="0"/>
              <a:t>Air- and product-temperature measurement</a:t>
            </a:r>
          </a:p>
          <a:p>
            <a:pPr lvl="0"/>
            <a:r>
              <a:rPr lang="en-IN" dirty="0"/>
              <a:t>Door-state detection</a:t>
            </a:r>
          </a:p>
          <a:p>
            <a:pPr lvl="0"/>
            <a:r>
              <a:rPr lang="en-IN" dirty="0"/>
              <a:t>Power-failure detection</a:t>
            </a:r>
          </a:p>
          <a:p>
            <a:pPr lvl="0"/>
            <a:r>
              <a:rPr lang="en-IN" dirty="0"/>
              <a:t>Local display and basic alarm</a:t>
            </a:r>
          </a:p>
          <a:p>
            <a:pPr lvl="0"/>
            <a:r>
              <a:rPr lang="en-IN" dirty="0"/>
              <a:t>Preliminary sensor-calibration results</a:t>
            </a:r>
          </a:p>
        </p:txBody>
      </p:sp>
    </p:spTree>
    <p:extLst>
      <p:ext uri="{BB962C8B-B14F-4D97-AF65-F5344CB8AC3E}">
        <p14:creationId xmlns:p14="http://schemas.microsoft.com/office/powerpoint/2010/main" val="294150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9EFA-1D34-4DF0-6977-1699F88E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REVIEW 2 — OFFLINE IoT AND PREDICTION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98D1-65D3-B49B-1EA5-73A259E50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IN" dirty="0"/>
              <a:t>Implement RTC-based timestamping, microSD data logging, communication-failure detection, offline record storage and store-and-forward data synchronisation.</a:t>
            </a:r>
          </a:p>
          <a:p>
            <a:pPr lvl="0"/>
            <a:r>
              <a:rPr lang="en-IN" dirty="0"/>
              <a:t>Conduct controlled door-open and power-cut experiments, extract temperature-rise characteristics and develop the risk-classification and Safe Holdover Time prediction algorithms.</a:t>
            </a:r>
          </a:p>
          <a:p>
            <a:pPr marL="0" indent="0">
              <a:buNone/>
            </a:pPr>
            <a:r>
              <a:rPr lang="en-IN" b="1" dirty="0"/>
              <a:t>Expected Review 2 Output</a:t>
            </a:r>
          </a:p>
          <a:p>
            <a:pPr lvl="0"/>
            <a:r>
              <a:rPr lang="en-IN" dirty="0"/>
              <a:t>RTC-based data logging</a:t>
            </a:r>
          </a:p>
          <a:p>
            <a:pPr lvl="0"/>
            <a:r>
              <a:rPr lang="en-IN" dirty="0"/>
              <a:t>Offline microSD storage</a:t>
            </a:r>
          </a:p>
          <a:p>
            <a:pPr lvl="0"/>
            <a:r>
              <a:rPr lang="en-IN" dirty="0"/>
              <a:t>Wi-Fi, BLE, LoRa or GSM communication</a:t>
            </a:r>
          </a:p>
          <a:p>
            <a:pPr lvl="0"/>
            <a:r>
              <a:rPr lang="en-IN" dirty="0"/>
              <a:t>Store-and-forward synchronisation</a:t>
            </a:r>
          </a:p>
          <a:p>
            <a:pPr lvl="0"/>
            <a:r>
              <a:rPr lang="en-IN" dirty="0"/>
              <a:t>Door-open risk detection</a:t>
            </a:r>
          </a:p>
          <a:p>
            <a:pPr lvl="0"/>
            <a:r>
              <a:rPr lang="en-IN" dirty="0"/>
              <a:t>Power-failure risk detection</a:t>
            </a:r>
          </a:p>
          <a:p>
            <a:pPr lvl="0"/>
            <a:r>
              <a:rPr lang="en-IN" dirty="0"/>
              <a:t>Preliminary thermal model</a:t>
            </a:r>
          </a:p>
          <a:p>
            <a:pPr lvl="0"/>
            <a:r>
              <a:rPr lang="en-IN" dirty="0"/>
              <a:t>Initial Safe Holdover Time prediction</a:t>
            </a:r>
          </a:p>
          <a:p>
            <a:pPr lvl="0"/>
            <a:r>
              <a:rPr lang="en-IN" dirty="0"/>
              <a:t>Preliminary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73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A4E1-098B-A965-B52D-78C3CA84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REVIEW 3 — COMPLETE INTEGRATION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26D18-7C30-099D-5E58-7752F92BB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IN" dirty="0"/>
              <a:t>Integrate the complete sensing, communication, prediction, alerting and backup-power sections inside a suitable enclosure and perform continuous real-time testing.</a:t>
            </a:r>
          </a:p>
          <a:p>
            <a:pPr lvl="0"/>
            <a:r>
              <a:rPr lang="en-IN" dirty="0"/>
              <a:t>Evaluate the prototype under power failure, prolonged door opening, network loss, low battery, abnormal cooling and sensor-placement conditions and document the final results.</a:t>
            </a:r>
          </a:p>
          <a:p>
            <a:pPr marL="0" indent="0">
              <a:buNone/>
            </a:pPr>
            <a:r>
              <a:rPr lang="en-IN" b="1" dirty="0"/>
              <a:t>Expected Review 3 Output</a:t>
            </a:r>
          </a:p>
          <a:p>
            <a:pPr lvl="0"/>
            <a:r>
              <a:rPr lang="en-IN" dirty="0"/>
              <a:t>Fully integrated prototype</a:t>
            </a:r>
          </a:p>
          <a:p>
            <a:pPr lvl="0"/>
            <a:r>
              <a:rPr lang="en-IN" dirty="0"/>
              <a:t>Final enclosure</a:t>
            </a:r>
          </a:p>
          <a:p>
            <a:pPr lvl="0"/>
            <a:r>
              <a:rPr lang="en-IN" dirty="0"/>
              <a:t>Complete dashboard</a:t>
            </a:r>
          </a:p>
          <a:p>
            <a:pPr lvl="0"/>
            <a:r>
              <a:rPr lang="en-IN" dirty="0"/>
              <a:t>Local and remote alerts</a:t>
            </a:r>
          </a:p>
          <a:p>
            <a:pPr lvl="0"/>
            <a:r>
              <a:rPr lang="en-IN" dirty="0"/>
              <a:t>Validated Safe Holdover Time model</a:t>
            </a:r>
          </a:p>
          <a:p>
            <a:pPr lvl="0"/>
            <a:r>
              <a:rPr lang="en-IN" dirty="0"/>
              <a:t>Performance-comparison tables</a:t>
            </a:r>
          </a:p>
          <a:p>
            <a:pPr lvl="0"/>
            <a:r>
              <a:rPr lang="en-IN" dirty="0"/>
              <a:t>Continuous experimental results</a:t>
            </a:r>
          </a:p>
          <a:p>
            <a:pPr lvl="0"/>
            <a:r>
              <a:rPr lang="en-IN" dirty="0"/>
              <a:t>Final project report and demonstration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244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5BD5-7B36-0514-A29C-D6237BED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/>
          <a:lstStyle/>
          <a:p>
            <a:r>
              <a:rPr lang="en-US" dirty="0"/>
              <a:t>FEATURE-WISE COMPARISON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02E3F8-E76C-B09D-EE14-2191835569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858668"/>
              </p:ext>
            </p:extLst>
          </p:nvPr>
        </p:nvGraphicFramePr>
        <p:xfrm>
          <a:off x="963560" y="1199536"/>
          <a:ext cx="10390240" cy="53104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97560">
                  <a:extLst>
                    <a:ext uri="{9D8B030D-6E8A-4147-A177-3AD203B41FA5}">
                      <a16:colId xmlns:a16="http://schemas.microsoft.com/office/drawing/2014/main" val="1745360038"/>
                    </a:ext>
                  </a:extLst>
                </a:gridCol>
                <a:gridCol w="2597560">
                  <a:extLst>
                    <a:ext uri="{9D8B030D-6E8A-4147-A177-3AD203B41FA5}">
                      <a16:colId xmlns:a16="http://schemas.microsoft.com/office/drawing/2014/main" val="3630005482"/>
                    </a:ext>
                  </a:extLst>
                </a:gridCol>
                <a:gridCol w="2597560">
                  <a:extLst>
                    <a:ext uri="{9D8B030D-6E8A-4147-A177-3AD203B41FA5}">
                      <a16:colId xmlns:a16="http://schemas.microsoft.com/office/drawing/2014/main" val="1117143669"/>
                    </a:ext>
                  </a:extLst>
                </a:gridCol>
                <a:gridCol w="2597560">
                  <a:extLst>
                    <a:ext uri="{9D8B030D-6E8A-4147-A177-3AD203B41FA5}">
                      <a16:colId xmlns:a16="http://schemas.microsoft.com/office/drawing/2014/main" val="459737763"/>
                    </a:ext>
                  </a:extLst>
                </a:gridCol>
              </a:tblGrid>
              <a:tr h="289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66603"/>
                  </a:ext>
                </a:extLst>
              </a:tr>
              <a:tr h="521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Monitoring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checking / periodic data logging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real-time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detection of temperature excursions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1192"/>
                  </a:ext>
                </a:extLst>
              </a:tr>
              <a:tr h="521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Logging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Paper-based / limited digital records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digital data logging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human error and provides traceability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852684"/>
                  </a:ext>
                </a:extLst>
              </a:tr>
              <a:tr h="58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Mechanism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or manual response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SMS/App/Email alerts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corrective action before vaccine damage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094258"/>
                  </a:ext>
                </a:extLst>
              </a:tr>
              <a:tr h="521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Backup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Limited/no monitoring during power loss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 battery backup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monitoring during outages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37303"/>
                  </a:ext>
                </a:extLst>
              </a:tr>
              <a:tr h="412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Connectivity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Standalone operation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/ GSM / LoRa connectivity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remote supervision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874351"/>
                  </a:ext>
                </a:extLst>
              </a:tr>
              <a:tr h="521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Tracking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Generally unavailable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GPS-based tracking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visibility during transportation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162906"/>
                  </a:ext>
                </a:extLst>
              </a:tr>
              <a:tr h="412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Basic/no centralized interface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Web/mobile dashboard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status, history and alerts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00370"/>
                  </a:ext>
                </a:extLst>
              </a:tr>
              <a:tr h="58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preparation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reports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documentation and compliance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701297"/>
                  </a:ext>
                </a:extLst>
              </a:tr>
              <a:tr h="412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Device-level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Multi-box / fleet-level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large deployments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38149"/>
                  </a:ext>
                </a:extLst>
              </a:tr>
              <a:tr h="521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Efficiency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operational loss due to delayed detection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IoT architecture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wastage and monitoring effort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1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08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0C86-10D1-0988-190C-EC46438B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/>
          <a:lstStyle/>
          <a:p>
            <a:r>
              <a:rPr lang="en-US" dirty="0"/>
              <a:t>COMPONENTS REQUIRED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1F9929-1E23-0AE3-C17C-1FF37326A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646713"/>
              </p:ext>
            </p:extLst>
          </p:nvPr>
        </p:nvGraphicFramePr>
        <p:xfrm>
          <a:off x="838201" y="1632154"/>
          <a:ext cx="10515600" cy="47007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077766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715639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01251838"/>
                    </a:ext>
                  </a:extLst>
                </a:gridCol>
              </a:tblGrid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Component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Specification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 dirty="0"/>
                        <a:t>Approx. Price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458299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ESP32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Dual-core, Wi-Fi + Bluetooth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/>
                        <a:t>₹400–550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049210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DS18B20</a:t>
                      </a:r>
                      <a:endParaRPr lang="en-IN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−55°C to +125°C, digital temperature sensor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₹60–120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15318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DHT22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Temperature + humidity, ±2% RH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₹200–250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86325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Magnetic Door Sensor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Reed switch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₹30–50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444098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Vibration Sensor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SW-420 / accelerometer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₹50–100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676514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LDR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Light detection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₹20–30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115117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NEO-6M GPS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GPS/GNSS receiver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₹250–450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483966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SIM800L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GSM/GPRS communication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₹350–500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700432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OLED/LCD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0.96″ OLED / 16×2 LCD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₹160–300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898363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Micro-SD Module + Card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Local data logging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₹200–300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275650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Li-ion Battery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3.7 V, ~5000 mAh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₹400–500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700194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TP4056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Li-ion charging/protection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₹20–60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072374"/>
                  </a:ext>
                </a:extLst>
              </a:tr>
              <a:tr h="499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Insulated Vaccine Carrier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~2–3 L, PUF insulation, ice packs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/>
                        <a:t>₹1,600–2,600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071922"/>
                  </a:ext>
                </a:extLst>
              </a:tr>
              <a:tr h="284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Enclosure + PCB + Wiring</a:t>
                      </a:r>
                      <a:endParaRPr lang="en-IN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Protective electronics housing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/>
                        <a:t>₹400–600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2375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638BB1-09FA-7359-A990-F1EC039213CC}"/>
              </a:ext>
            </a:extLst>
          </p:cNvPr>
          <p:cNvSpPr txBox="1"/>
          <p:nvPr/>
        </p:nvSpPr>
        <p:spPr>
          <a:xfrm>
            <a:off x="3048000" y="1170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Estimated Prototype Cost: ₹10,000–₹12,000</a:t>
            </a:r>
          </a:p>
        </p:txBody>
      </p:sp>
    </p:spTree>
    <p:extLst>
      <p:ext uri="{BB962C8B-B14F-4D97-AF65-F5344CB8AC3E}">
        <p14:creationId xmlns:p14="http://schemas.microsoft.com/office/powerpoint/2010/main" val="253129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6C66-FCDB-4437-15EE-4793B3A8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Reach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D91F-09D1-D04E-4D56-DFC6E2820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484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Primary Target Market</a:t>
            </a:r>
          </a:p>
          <a:p>
            <a:r>
              <a:rPr lang="en-IN" sz="1800" b="1" dirty="0"/>
              <a:t>1. Government Immunization</a:t>
            </a:r>
            <a:endParaRPr lang="en-IN" sz="1800" dirty="0"/>
          </a:p>
          <a:p>
            <a:pPr lvl="0"/>
            <a:r>
              <a:rPr lang="en-IN" sz="1800" dirty="0"/>
              <a:t>Universal Immunization Programme </a:t>
            </a:r>
          </a:p>
          <a:p>
            <a:pPr lvl="0"/>
            <a:r>
              <a:rPr lang="en-IN" sz="1800" dirty="0"/>
              <a:t>PHCs, CHCs and District Hospitals </a:t>
            </a:r>
          </a:p>
          <a:p>
            <a:pPr lvl="0"/>
            <a:r>
              <a:rPr lang="en-IN" sz="1800" dirty="0"/>
              <a:t>Mobile vaccination/outreach teams </a:t>
            </a:r>
          </a:p>
          <a:p>
            <a:pPr lvl="0"/>
            <a:r>
              <a:rPr lang="en-IN" sz="1800" dirty="0"/>
              <a:t>Rural and tribal healthcare centres </a:t>
            </a:r>
          </a:p>
          <a:p>
            <a:pPr marL="0" lvl="0" indent="0">
              <a:buNone/>
            </a:pPr>
            <a:endParaRPr lang="en-IN" sz="1800" b="1" dirty="0"/>
          </a:p>
          <a:p>
            <a:pPr marL="0" lvl="0" indent="0">
              <a:buNone/>
            </a:pPr>
            <a:r>
              <a:rPr lang="en-IN" sz="1800" b="1" dirty="0"/>
              <a:t>2. Pharmaceutical &amp; Vaccine Industry</a:t>
            </a:r>
            <a:endParaRPr lang="en-IN" sz="1800" dirty="0"/>
          </a:p>
          <a:p>
            <a:pPr lvl="0"/>
            <a:r>
              <a:rPr lang="en-IN" sz="1800" dirty="0"/>
              <a:t>Vaccine manufacturers </a:t>
            </a:r>
          </a:p>
          <a:p>
            <a:pPr lvl="0"/>
            <a:r>
              <a:rPr lang="en-IN" sz="1800" dirty="0"/>
              <a:t>Pharma distributors </a:t>
            </a:r>
          </a:p>
          <a:p>
            <a:pPr lvl="0"/>
            <a:r>
              <a:rPr lang="en-IN" sz="1800" dirty="0"/>
              <a:t>Medical logistics providers </a:t>
            </a:r>
          </a:p>
          <a:p>
            <a:pPr lvl="0"/>
            <a:r>
              <a:rPr lang="en-IN" sz="1800" dirty="0"/>
              <a:t>Temperature-sensitive biologics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E348F-6C22-38F1-20F7-ABAE88846294}"/>
              </a:ext>
            </a:extLst>
          </p:cNvPr>
          <p:cNvSpPr txBox="1"/>
          <p:nvPr/>
        </p:nvSpPr>
        <p:spPr>
          <a:xfrm>
            <a:off x="6812107" y="1969593"/>
            <a:ext cx="4541693" cy="4207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3. Healthcare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IN" dirty="0"/>
              <a:t>Hospitals and clinics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Diagnostic laboratories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Blood and biological-sample transportation </a:t>
            </a:r>
          </a:p>
          <a:p>
            <a:pPr lvl="0"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4. Other Cold-Chain Sectors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IN" dirty="0"/>
              <a:t>Dairy and food products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Fisheries and meat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Fruits, vegetables and horticulture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Specialty pharmaceutical products</a:t>
            </a:r>
          </a:p>
        </p:txBody>
      </p:sp>
    </p:spTree>
    <p:extLst>
      <p:ext uri="{BB962C8B-B14F-4D97-AF65-F5344CB8AC3E}">
        <p14:creationId xmlns:p14="http://schemas.microsoft.com/office/powerpoint/2010/main" val="3158058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25FA-0AB3-B67F-B121-AC3E54CC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FBA0-1D3A-D7F5-6E84-7FCEB7692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Market Positioning - Low-cost IoT retrofit for existing vaccine carriers rather than replacing the entire cold-chain infrastructure.</a:t>
            </a:r>
          </a:p>
          <a:p>
            <a:endParaRPr lang="en-IN" dirty="0"/>
          </a:p>
          <a:p>
            <a:r>
              <a:rPr lang="en-IN" b="1" dirty="0"/>
              <a:t>Manufacturer → Central Warehouse → State Warehouse → District Store → PHC/CHC → Mobile Health Worker → Patient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110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AFA8-1BAE-0933-C54E-7D3377BB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Competitors &amp; State of Art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57FB62-9879-1BE5-5D46-04296553F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042987"/>
              </p:ext>
            </p:extLst>
          </p:nvPr>
        </p:nvGraphicFramePr>
        <p:xfrm>
          <a:off x="838200" y="1717652"/>
          <a:ext cx="10515600" cy="4735992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973496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33779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915511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9748633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Company / Solution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India Presence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Core Capability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State-of-Art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674419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Blackfrog Technologies – Emvólio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Karnataka; deployed across 16 Indian states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Portable active vaccine refrigeration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Advanced portable refrigeration + temperature control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961059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GND Solutions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India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In-transit, cold-room &amp; last-mile monitoring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IoT sensors + gateways + cloud + analytics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907110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Mindlabs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Hyderabad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Pharma IoT monitoring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sensors, GPS, AI analytics, compliance reporting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2013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PIPRA Solutions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India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Vaccine track &amp; trace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End-to-end visibility, IoT, APIs/SDKs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312302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Orvi Networks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India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IoT cold-chain monitoring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Wireless sensors, GPS, cloud dashboard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434847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Trackster Technologies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India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Cold-chain logistics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Temperature + humidity + GPS + cloud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001053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Kelfos Instruments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India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Pharma cold-chain monitoring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IoT temperature/humidity monitoring + alerts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241310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KELZIX</a:t>
                      </a:r>
                      <a:endParaRPr lang="en-IN" sz="1400"/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India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Pharmaceutical cold-chain compliance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Multi-sensor monitoring, automated compliance and audit trail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548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232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47A2-35AE-4D22-5111-DBA24B8E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65E1AE-FCCE-266F-B2DF-868BA26DD1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26774"/>
          <a:ext cx="10515600" cy="3749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733627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00033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Market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283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Enterprise-oriented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Low-cost academic/SME deployable system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93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platforms often require dedicated infrastructure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Retrofit onto existing vaccine carrier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85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 on logistics/warehouse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Strong focus on last-mile carrier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15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deployment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ESP32-based compact architecture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68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Primarily temperature/logistics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Temperature + humidity + opening + vibration + light + GPS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064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Cloud-dependent implementations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Local logging + connectivity-based synchronization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978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initial deployment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Target prototype: ₹4–6k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308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51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B321D8-188D-A0CC-CE5F-BB42431AC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46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E20BE9-D258-54C7-F0B8-9F87551EE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3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2EE588-27CD-1F3C-612A-FF06727B6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59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31A4-D1EE-B288-AC2B-C9FB34BD8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F8C9B-4771-F047-291C-53369E679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IS </a:t>
            </a:r>
            <a:r>
              <a:rPr lang="en-IN" dirty="0" err="1"/>
              <a:t>IndoSurgicals</a:t>
            </a:r>
            <a:r>
              <a:rPr lang="en-IN" dirty="0"/>
              <a:t> Small Vaccine Carrier With 2 Icepacks - 0.80 L - </a:t>
            </a:r>
            <a:r>
              <a:rPr lang="en-IN" dirty="0">
                <a:hlinkClick r:id="rId2"/>
              </a:rPr>
              <a:t>https://amzn.in/d/0flGpfd8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Cambia Vaccine Carrier Box (Small with 2 Ice Packs - 0.80 LTR.) - </a:t>
            </a:r>
            <a:r>
              <a:rPr lang="en-IN" dirty="0">
                <a:hlinkClick r:id="rId3"/>
              </a:rPr>
              <a:t>https://amzn.in/d/0bEYdZy9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Vaccine Carrier Box - 0.9LTR Mini Carrier Box with 2 Ice Pack Temperature Controller Multipurpose Storage for vaccine and other products Box- 0.90 LTR (Grey) (Pack of 1) - </a:t>
            </a:r>
            <a:r>
              <a:rPr lang="en-IN" dirty="0">
                <a:hlinkClick r:id="rId4"/>
              </a:rPr>
              <a:t>https://amzn.in/d/0hsPtd16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2MM EPE Foam Wrap | Packing Roll | 1 feet by 20 feet long roll | 6 Meter Roll - </a:t>
            </a:r>
            <a:r>
              <a:rPr lang="en-IN" dirty="0">
                <a:hlinkClick r:id="rId5"/>
              </a:rPr>
              <a:t>https://amzn.in/d/05NAAnln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337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1655-AA40-C491-7326-7E6EF1FF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E5B85-EF37-A411-1F3C-AAD8DA7CB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Justification for the product</a:t>
            </a:r>
          </a:p>
          <a:p>
            <a:r>
              <a:rPr lang="en-IN" dirty="0"/>
              <a:t>Medicines and other products that require cold chain</a:t>
            </a:r>
          </a:p>
          <a:p>
            <a:r>
              <a:rPr lang="en-IN" dirty="0"/>
              <a:t>Novelty of the Proposed System</a:t>
            </a:r>
          </a:p>
          <a:p>
            <a:r>
              <a:rPr lang="en-IN" dirty="0"/>
              <a:t>Need for IOT in cold chain</a:t>
            </a:r>
          </a:p>
          <a:p>
            <a:r>
              <a:rPr lang="en-IN" dirty="0"/>
              <a:t>Complete Scenario </a:t>
            </a:r>
            <a:r>
              <a:rPr lang="en-IN"/>
              <a:t>of the product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57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AC4E69-527E-4537-90D4-D7E895E62C6F}">
  <we:reference id="wa200006214" version="2.1.0.1" store="en-US" storeType="OMEX"/>
  <we:alternateReferences>
    <we:reference id="wa200006214" version="2.1.0.1" store="wa20000621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</TotalTime>
  <Words>1793</Words>
  <Application>Microsoft Office PowerPoint</Application>
  <PresentationFormat>Widescreen</PresentationFormat>
  <Paragraphs>345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Office Theme</vt:lpstr>
      <vt:lpstr>Design and Development of an Offline-First Edge-IoT System for Cold-Chain Risk Monitoring and Safe Holdover Time Prediction</vt:lpstr>
      <vt:lpstr>Knowledge Track</vt:lpstr>
      <vt:lpstr>OUTCOMES</vt:lpstr>
      <vt:lpstr>Novelty Claims</vt:lpstr>
      <vt:lpstr>Literature Study</vt:lpstr>
      <vt:lpstr>PowerPoint Presentation</vt:lpstr>
      <vt:lpstr>Components Identified</vt:lpstr>
      <vt:lpstr>PowerPoint Presentation</vt:lpstr>
      <vt:lpstr>PowerPoint Presentation</vt:lpstr>
      <vt:lpstr>STAGES</vt:lpstr>
      <vt:lpstr>REVIEW 1 — SYSTEM DESIGN AND SENSOR DEVELOPMENT</vt:lpstr>
      <vt:lpstr>REVIEW 2 — OFFLINE IoT AND PREDICTION DEVELOPMENT</vt:lpstr>
      <vt:lpstr>REVIEW 3 — COMPLETE INTEGRATION AND VALIDATION</vt:lpstr>
      <vt:lpstr>FEATURE-WISE COMPARISON</vt:lpstr>
      <vt:lpstr>COMPONENTS REQUIRED</vt:lpstr>
      <vt:lpstr>Market Reach</vt:lpstr>
      <vt:lpstr>Deployment Model</vt:lpstr>
      <vt:lpstr>Existing Competitors &amp; State of Art</vt:lpstr>
      <vt:lpstr>Differentiation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Kaviya V</dc:creator>
  <cp:lastModifiedBy>Kaviya V</cp:lastModifiedBy>
  <cp:revision>8</cp:revision>
  <dcterms:created xsi:type="dcterms:W3CDTF">2026-08-13T08:49:22Z</dcterms:created>
  <dcterms:modified xsi:type="dcterms:W3CDTF">2026-08-19T19:52:45Z</dcterms:modified>
</cp:coreProperties>
</file>