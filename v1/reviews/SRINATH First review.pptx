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61" r:id="rId2"/>
    <p:sldId id="257" r:id="rId3"/>
    <p:sldId id="28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298" r:id="rId13"/>
    <p:sldId id="279" r:id="rId14"/>
    <p:sldId id="309" r:id="rId15"/>
    <p:sldId id="307" r:id="rId16"/>
    <p:sldId id="308" r:id="rId17"/>
    <p:sldId id="294" r:id="rId18"/>
    <p:sldId id="295" r:id="rId19"/>
    <p:sldId id="296" r:id="rId20"/>
    <p:sldId id="297" r:id="rId21"/>
    <p:sldId id="260" r:id="rId22"/>
    <p:sldId id="281" r:id="rId23"/>
    <p:sldId id="282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6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G%20Project\resu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G%20Project\resul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G%20Project\resul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G%20Project\resul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 Base Station (100,100)- Scenario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838751460685884"/>
          <c:y val="0.16712962962962963"/>
          <c:w val="0.85161248539314116"/>
          <c:h val="0.459530110819480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Sheet3!$H$5</c:f>
              <c:strCache>
                <c:ptCount val="1"/>
                <c:pt idx="0">
                  <c:v>First Node Death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Sheet3!$F$6:$G$11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Sheet3!$H$6:$H$11</c:f>
              <c:numCache>
                <c:formatCode>General</c:formatCode>
                <c:ptCount val="6"/>
                <c:pt idx="0">
                  <c:v>3390</c:v>
                </c:pt>
                <c:pt idx="1">
                  <c:v>3584</c:v>
                </c:pt>
                <c:pt idx="2">
                  <c:v>4116</c:v>
                </c:pt>
                <c:pt idx="3">
                  <c:v>4763</c:v>
                </c:pt>
                <c:pt idx="4">
                  <c:v>3468</c:v>
                </c:pt>
                <c:pt idx="5">
                  <c:v>4258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E-4BBA-B147-6F666A57645E}"/>
            </c:ext>
          </c:extLst>
        </c:ser>
        <c:ser>
          <c:idx val="1"/>
          <c:order val="1"/>
          <c:tx>
            <c:strRef>
              <c:f>Sheet3!$I$5</c:f>
              <c:strCache>
                <c:ptCount val="1"/>
                <c:pt idx="0">
                  <c:v>Half Node Death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Sheet3!$F$6:$G$11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Sheet3!$I$6:$I$11</c:f>
              <c:numCache>
                <c:formatCode>General</c:formatCode>
                <c:ptCount val="6"/>
                <c:pt idx="0">
                  <c:v>6302</c:v>
                </c:pt>
                <c:pt idx="1">
                  <c:v>6382</c:v>
                </c:pt>
                <c:pt idx="2">
                  <c:v>7027</c:v>
                </c:pt>
                <c:pt idx="3">
                  <c:v>7170</c:v>
                </c:pt>
                <c:pt idx="4">
                  <c:v>7383</c:v>
                </c:pt>
                <c:pt idx="5">
                  <c:v>7518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2E-4BBA-B147-6F666A57645E}"/>
            </c:ext>
          </c:extLst>
        </c:ser>
        <c:ser>
          <c:idx val="2"/>
          <c:order val="2"/>
          <c:tx>
            <c:strRef>
              <c:f>Sheet3!$J$5</c:f>
              <c:strCache>
                <c:ptCount val="1"/>
                <c:pt idx="0">
                  <c:v>Last Node Death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Sheet3!$F$6:$G$11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Sheet3!$J$6:$J$11</c:f>
              <c:numCache>
                <c:formatCode>General</c:formatCode>
                <c:ptCount val="6"/>
                <c:pt idx="0">
                  <c:v>7726</c:v>
                </c:pt>
                <c:pt idx="1">
                  <c:v>8078</c:v>
                </c:pt>
                <c:pt idx="2">
                  <c:v>8519</c:v>
                </c:pt>
                <c:pt idx="3">
                  <c:v>8534</c:v>
                </c:pt>
                <c:pt idx="4">
                  <c:v>9047</c:v>
                </c:pt>
                <c:pt idx="5">
                  <c:v>9308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2E-4BBA-B147-6F666A576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3469504"/>
        <c:axId val="733465184"/>
      </c:barChart>
      <c:catAx>
        <c:axId val="73346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33465184"/>
        <c:crosses val="autoZero"/>
        <c:auto val="1"/>
        <c:lblAlgn val="ctr"/>
        <c:lblOffset val="100"/>
        <c:noMultiLvlLbl val="0"/>
      </c:catAx>
      <c:valAx>
        <c:axId val="733465184"/>
        <c:scaling>
          <c:orientation val="minMax"/>
          <c:max val="98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/>
                  <a:t>Rounds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33469504"/>
        <c:crosses val="autoZero"/>
        <c:crossBetween val="between"/>
        <c:majorUnit val="2000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Base Station (0,0)- Scenario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107300017154741"/>
          <c:y val="0.11323576404145096"/>
          <c:w val="0.83892699982845254"/>
          <c:h val="0.60840238063399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Sheet3!$H$15</c:f>
              <c:strCache>
                <c:ptCount val="1"/>
                <c:pt idx="0">
                  <c:v>First Node Death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Sheet3!$F$16:$G$21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Sheet3!$H$16:$H$21</c:f>
              <c:numCache>
                <c:formatCode>General</c:formatCode>
                <c:ptCount val="6"/>
                <c:pt idx="0">
                  <c:v>1727</c:v>
                </c:pt>
                <c:pt idx="1">
                  <c:v>1931</c:v>
                </c:pt>
                <c:pt idx="2">
                  <c:v>1649</c:v>
                </c:pt>
                <c:pt idx="3">
                  <c:v>1881</c:v>
                </c:pt>
                <c:pt idx="4">
                  <c:v>1346</c:v>
                </c:pt>
                <c:pt idx="5">
                  <c:v>1809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E2-499E-AA4E-A8D03A395BC5}"/>
            </c:ext>
          </c:extLst>
        </c:ser>
        <c:ser>
          <c:idx val="1"/>
          <c:order val="1"/>
          <c:tx>
            <c:strRef>
              <c:f>Sheet3!$I$15</c:f>
              <c:strCache>
                <c:ptCount val="1"/>
                <c:pt idx="0">
                  <c:v>Half Node Death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Sheet3!$F$16:$G$21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Sheet3!$I$16:$I$21</c:f>
              <c:numCache>
                <c:formatCode>General</c:formatCode>
                <c:ptCount val="6"/>
                <c:pt idx="0">
                  <c:v>4636</c:v>
                </c:pt>
                <c:pt idx="1">
                  <c:v>4657</c:v>
                </c:pt>
                <c:pt idx="2">
                  <c:v>4861</c:v>
                </c:pt>
                <c:pt idx="3">
                  <c:v>4897</c:v>
                </c:pt>
                <c:pt idx="4">
                  <c:v>5086</c:v>
                </c:pt>
                <c:pt idx="5">
                  <c:v>5105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E2-499E-AA4E-A8D03A395BC5}"/>
            </c:ext>
          </c:extLst>
        </c:ser>
        <c:ser>
          <c:idx val="2"/>
          <c:order val="2"/>
          <c:tx>
            <c:strRef>
              <c:f>Sheet3!$J$15</c:f>
              <c:strCache>
                <c:ptCount val="1"/>
                <c:pt idx="0">
                  <c:v>Last Node Death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Sheet3!$F$16:$G$21</c:f>
              <c:multiLvlStrCache>
                <c:ptCount val="6"/>
                <c:lvl>
                  <c:pt idx="0">
                    <c:v>ISSA</c:v>
                  </c:pt>
                  <c:pt idx="1">
                    <c:v>ISSA+PSO</c:v>
                  </c:pt>
                  <c:pt idx="2">
                    <c:v>ISSA</c:v>
                  </c:pt>
                  <c:pt idx="3">
                    <c:v>ISSA+PSO</c:v>
                  </c:pt>
                  <c:pt idx="4">
                    <c:v>ISSA</c:v>
                  </c:pt>
                  <c:pt idx="5">
                    <c:v>ISSA+PSO</c:v>
                  </c:pt>
                </c:lvl>
                <c:lvl>
                  <c:pt idx="0">
                    <c:v>100 Nodes</c:v>
                  </c:pt>
                  <c:pt idx="2">
                    <c:v>200 Nodes</c:v>
                  </c:pt>
                  <c:pt idx="4">
                    <c:v>300 Nodes</c:v>
                  </c:pt>
                </c:lvl>
              </c:multiLvlStrCache>
            </c:multiLvlStrRef>
          </c:cat>
          <c:val>
            <c:numRef>
              <c:f>Sheet3!$J$16:$J$21</c:f>
              <c:numCache>
                <c:formatCode>General</c:formatCode>
                <c:ptCount val="6"/>
                <c:pt idx="0">
                  <c:v>9203</c:v>
                </c:pt>
                <c:pt idx="1">
                  <c:v>8965</c:v>
                </c:pt>
                <c:pt idx="2">
                  <c:v>10296</c:v>
                </c:pt>
                <c:pt idx="3">
                  <c:v>10266</c:v>
                </c:pt>
                <c:pt idx="4">
                  <c:v>10670</c:v>
                </c:pt>
                <c:pt idx="5">
                  <c:v>10319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E2-499E-AA4E-A8D03A395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3483904"/>
        <c:axId val="733500704"/>
      </c:barChart>
      <c:catAx>
        <c:axId val="73348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33500704"/>
        <c:crosses val="autoZero"/>
        <c:auto val="1"/>
        <c:lblAlgn val="ctr"/>
        <c:lblOffset val="100"/>
        <c:noMultiLvlLbl val="0"/>
      </c:catAx>
      <c:valAx>
        <c:axId val="733500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/>
                  <a:t>Rounds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33483904"/>
        <c:crosses val="autoZero"/>
        <c:crossBetween val="between"/>
        <c:majorUnit val="2000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ISSA (Existing)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9532147031077646"/>
          <c:y val="0.11216425725350553"/>
          <c:w val="0.80467852968922349"/>
          <c:h val="0.44258457674534624"/>
        </c:manualLayout>
      </c:layout>
      <c:lineChart>
        <c:grouping val="standard"/>
        <c:varyColors val="0"/>
        <c:ser>
          <c:idx val="0"/>
          <c:order val="0"/>
          <c:tx>
            <c:strRef>
              <c:f>Sheet4!$D$3</c:f>
              <c:strCache>
                <c:ptCount val="1"/>
                <c:pt idx="0">
                  <c:v>scenario 1 node= 100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Sheet4!$D$4:$D$14</c:f>
              <c:numCache>
                <c:formatCode>General</c:formatCode>
                <c:ptCount val="11"/>
                <c:pt idx="0">
                  <c:v>400</c:v>
                </c:pt>
                <c:pt idx="1">
                  <c:v>335</c:v>
                </c:pt>
                <c:pt idx="2">
                  <c:v>270</c:v>
                </c:pt>
                <c:pt idx="3">
                  <c:v>205</c:v>
                </c:pt>
                <c:pt idx="4">
                  <c:v>141</c:v>
                </c:pt>
                <c:pt idx="5">
                  <c:v>82</c:v>
                </c:pt>
                <c:pt idx="6">
                  <c:v>32</c:v>
                </c:pt>
                <c:pt idx="7">
                  <c:v>4.5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96-4D8C-A0CF-AB1F13CA0AF8}"/>
            </c:ext>
          </c:extLst>
        </c:ser>
        <c:ser>
          <c:idx val="1"/>
          <c:order val="1"/>
          <c:tx>
            <c:strRef>
              <c:f>Sheet4!$E$3</c:f>
              <c:strCache>
                <c:ptCount val="1"/>
                <c:pt idx="0">
                  <c:v>scenario 2 node=  100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Sheet4!$E$4:$E$14</c:f>
              <c:numCache>
                <c:formatCode>General</c:formatCode>
                <c:ptCount val="11"/>
                <c:pt idx="0">
                  <c:v>400</c:v>
                </c:pt>
                <c:pt idx="1">
                  <c:v>315</c:v>
                </c:pt>
                <c:pt idx="2">
                  <c:v>220</c:v>
                </c:pt>
                <c:pt idx="3">
                  <c:v>144</c:v>
                </c:pt>
                <c:pt idx="4">
                  <c:v>75</c:v>
                </c:pt>
                <c:pt idx="5">
                  <c:v>31</c:v>
                </c:pt>
                <c:pt idx="6">
                  <c:v>11</c:v>
                </c:pt>
                <c:pt idx="7">
                  <c:v>4</c:v>
                </c:pt>
                <c:pt idx="8">
                  <c:v>1.05</c:v>
                </c:pt>
                <c:pt idx="9">
                  <c:v>7.0000000000000007E-2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96-4D8C-A0CF-AB1F13CA0AF8}"/>
            </c:ext>
          </c:extLst>
        </c:ser>
        <c:ser>
          <c:idx val="2"/>
          <c:order val="2"/>
          <c:tx>
            <c:strRef>
              <c:f>Sheet4!$F$3</c:f>
              <c:strCache>
                <c:ptCount val="1"/>
                <c:pt idx="0">
                  <c:v>scenario 1 node= 200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Sheet4!$F$4:$F$14</c:f>
              <c:numCache>
                <c:formatCode>General</c:formatCode>
                <c:ptCount val="11"/>
                <c:pt idx="0">
                  <c:v>800</c:v>
                </c:pt>
                <c:pt idx="1">
                  <c:v>677</c:v>
                </c:pt>
                <c:pt idx="2">
                  <c:v>561</c:v>
                </c:pt>
                <c:pt idx="3">
                  <c:v>450</c:v>
                </c:pt>
                <c:pt idx="4">
                  <c:v>327</c:v>
                </c:pt>
                <c:pt idx="5">
                  <c:v>218</c:v>
                </c:pt>
                <c:pt idx="6">
                  <c:v>110</c:v>
                </c:pt>
                <c:pt idx="7">
                  <c:v>34</c:v>
                </c:pt>
                <c:pt idx="8">
                  <c:v>0.57999999999999996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96-4D8C-A0CF-AB1F13CA0AF8}"/>
            </c:ext>
          </c:extLst>
        </c:ser>
        <c:ser>
          <c:idx val="3"/>
          <c:order val="3"/>
          <c:tx>
            <c:strRef>
              <c:f>Sheet4!$G$3</c:f>
              <c:strCache>
                <c:ptCount val="1"/>
                <c:pt idx="0">
                  <c:v>scenario 2 node= 200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Sheet4!$G$4:$G$14</c:f>
              <c:numCache>
                <c:formatCode>General</c:formatCode>
                <c:ptCount val="11"/>
                <c:pt idx="0">
                  <c:v>800</c:v>
                </c:pt>
                <c:pt idx="1">
                  <c:v>619</c:v>
                </c:pt>
                <c:pt idx="2">
                  <c:v>453</c:v>
                </c:pt>
                <c:pt idx="3">
                  <c:v>303</c:v>
                </c:pt>
                <c:pt idx="4">
                  <c:v>175</c:v>
                </c:pt>
                <c:pt idx="5">
                  <c:v>82</c:v>
                </c:pt>
                <c:pt idx="6">
                  <c:v>33</c:v>
                </c:pt>
                <c:pt idx="7">
                  <c:v>11.67</c:v>
                </c:pt>
                <c:pt idx="8">
                  <c:v>2.5</c:v>
                </c:pt>
                <c:pt idx="9">
                  <c:v>0.5</c:v>
                </c:pt>
                <c:pt idx="10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96-4D8C-A0CF-AB1F13CA0AF8}"/>
            </c:ext>
          </c:extLst>
        </c:ser>
        <c:ser>
          <c:idx val="4"/>
          <c:order val="4"/>
          <c:tx>
            <c:strRef>
              <c:f>Sheet4!$H$3</c:f>
              <c:strCache>
                <c:ptCount val="1"/>
                <c:pt idx="0">
                  <c:v>scenario 1 node= 300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Sheet4!$H$4:$H$14</c:f>
              <c:numCache>
                <c:formatCode>General</c:formatCode>
                <c:ptCount val="11"/>
                <c:pt idx="0">
                  <c:v>1200</c:v>
                </c:pt>
                <c:pt idx="1">
                  <c:v>1031</c:v>
                </c:pt>
                <c:pt idx="2">
                  <c:v>863</c:v>
                </c:pt>
                <c:pt idx="3">
                  <c:v>695</c:v>
                </c:pt>
                <c:pt idx="4">
                  <c:v>524</c:v>
                </c:pt>
                <c:pt idx="5">
                  <c:v>363</c:v>
                </c:pt>
                <c:pt idx="6">
                  <c:v>218</c:v>
                </c:pt>
                <c:pt idx="7">
                  <c:v>96</c:v>
                </c:pt>
                <c:pt idx="8">
                  <c:v>13</c:v>
                </c:pt>
                <c:pt idx="9">
                  <c:v>1.5599999999999999E-2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E96-4D8C-A0CF-AB1F13CA0AF8}"/>
            </c:ext>
          </c:extLst>
        </c:ser>
        <c:ser>
          <c:idx val="5"/>
          <c:order val="5"/>
          <c:tx>
            <c:strRef>
              <c:f>Sheet4!$I$3</c:f>
              <c:strCache>
                <c:ptCount val="1"/>
                <c:pt idx="0">
                  <c:v>scenario 2 node=  300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Sheet4!$C$4:$C$14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Sheet4!$I$4:$I$14</c:f>
              <c:numCache>
                <c:formatCode>General</c:formatCode>
                <c:ptCount val="11"/>
                <c:pt idx="0">
                  <c:v>1200</c:v>
                </c:pt>
                <c:pt idx="1">
                  <c:v>946</c:v>
                </c:pt>
                <c:pt idx="2">
                  <c:v>698</c:v>
                </c:pt>
                <c:pt idx="3">
                  <c:v>475</c:v>
                </c:pt>
                <c:pt idx="4">
                  <c:v>273</c:v>
                </c:pt>
                <c:pt idx="5">
                  <c:v>147</c:v>
                </c:pt>
                <c:pt idx="6">
                  <c:v>66</c:v>
                </c:pt>
                <c:pt idx="7">
                  <c:v>26</c:v>
                </c:pt>
                <c:pt idx="8">
                  <c:v>8.6</c:v>
                </c:pt>
                <c:pt idx="9">
                  <c:v>2</c:v>
                </c:pt>
                <c:pt idx="10">
                  <c:v>2.3E-2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E96-4D8C-A0CF-AB1F13CA0A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4500448"/>
        <c:axId val="894487008"/>
      </c:lineChart>
      <c:catAx>
        <c:axId val="8945004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/>
                  <a:t>Rounds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94487008"/>
        <c:crosses val="autoZero"/>
        <c:auto val="1"/>
        <c:lblAlgn val="ctr"/>
        <c:lblOffset val="100"/>
        <c:noMultiLvlLbl val="0"/>
      </c:catAx>
      <c:valAx>
        <c:axId val="894487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/>
                  <a:t>Residual Energy (J)</a:t>
                </a:r>
              </a:p>
            </c:rich>
          </c:tx>
          <c:layout>
            <c:manualLayout>
              <c:xMode val="edge"/>
              <c:yMode val="edge"/>
              <c:x val="7.7391462326891217E-2"/>
              <c:y val="0.135467507864728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945004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ISSA+PSO (Proposed)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9037901247703906"/>
          <c:y val="0.11556128710949788"/>
          <c:w val="0.79515071433717477"/>
          <c:h val="0.42570257813586942"/>
        </c:manualLayout>
      </c:layout>
      <c:lineChart>
        <c:grouping val="standard"/>
        <c:varyColors val="0"/>
        <c:ser>
          <c:idx val="0"/>
          <c:order val="0"/>
          <c:tx>
            <c:strRef>
              <c:f>Sheet4!$D$18</c:f>
              <c:strCache>
                <c:ptCount val="1"/>
                <c:pt idx="0">
                  <c:v>scenario 1 node= 100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Sheet4!$D$19:$D$29</c:f>
              <c:numCache>
                <c:formatCode>General</c:formatCode>
                <c:ptCount val="11"/>
                <c:pt idx="0">
                  <c:v>400</c:v>
                </c:pt>
                <c:pt idx="1">
                  <c:v>331</c:v>
                </c:pt>
                <c:pt idx="2">
                  <c:v>267</c:v>
                </c:pt>
                <c:pt idx="3">
                  <c:v>205</c:v>
                </c:pt>
                <c:pt idx="4">
                  <c:v>140</c:v>
                </c:pt>
                <c:pt idx="5">
                  <c:v>83</c:v>
                </c:pt>
                <c:pt idx="6">
                  <c:v>36</c:v>
                </c:pt>
                <c:pt idx="7">
                  <c:v>8.89</c:v>
                </c:pt>
                <c:pt idx="8">
                  <c:v>0.104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4E-4681-92AA-54D7BF54D148}"/>
            </c:ext>
          </c:extLst>
        </c:ser>
        <c:ser>
          <c:idx val="1"/>
          <c:order val="1"/>
          <c:tx>
            <c:strRef>
              <c:f>Sheet4!$E$18</c:f>
              <c:strCache>
                <c:ptCount val="1"/>
                <c:pt idx="0">
                  <c:v>scenario 2 node=  100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Sheet4!$E$19:$E$29</c:f>
              <c:numCache>
                <c:formatCode>General</c:formatCode>
                <c:ptCount val="11"/>
                <c:pt idx="0">
                  <c:v>400</c:v>
                </c:pt>
                <c:pt idx="1">
                  <c:v>314</c:v>
                </c:pt>
                <c:pt idx="2">
                  <c:v>226</c:v>
                </c:pt>
                <c:pt idx="3">
                  <c:v>146</c:v>
                </c:pt>
                <c:pt idx="4">
                  <c:v>79</c:v>
                </c:pt>
                <c:pt idx="5">
                  <c:v>31</c:v>
                </c:pt>
                <c:pt idx="6">
                  <c:v>12</c:v>
                </c:pt>
                <c:pt idx="7">
                  <c:v>3.6</c:v>
                </c:pt>
                <c:pt idx="8">
                  <c:v>0.8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4E-4681-92AA-54D7BF54D148}"/>
            </c:ext>
          </c:extLst>
        </c:ser>
        <c:ser>
          <c:idx val="2"/>
          <c:order val="2"/>
          <c:tx>
            <c:strRef>
              <c:f>Sheet4!$F$18</c:f>
              <c:strCache>
                <c:ptCount val="1"/>
                <c:pt idx="0">
                  <c:v>scenario 1 node= 200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Sheet4!$F$19:$F$29</c:f>
              <c:numCache>
                <c:formatCode>General</c:formatCode>
                <c:ptCount val="11"/>
                <c:pt idx="0">
                  <c:v>800</c:v>
                </c:pt>
                <c:pt idx="1">
                  <c:v>684</c:v>
                </c:pt>
                <c:pt idx="2">
                  <c:v>566</c:v>
                </c:pt>
                <c:pt idx="3">
                  <c:v>451</c:v>
                </c:pt>
                <c:pt idx="4">
                  <c:v>336</c:v>
                </c:pt>
                <c:pt idx="5">
                  <c:v>214</c:v>
                </c:pt>
                <c:pt idx="6">
                  <c:v>110</c:v>
                </c:pt>
                <c:pt idx="7">
                  <c:v>37</c:v>
                </c:pt>
                <c:pt idx="8">
                  <c:v>2.2599999999999998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4E-4681-92AA-54D7BF54D148}"/>
            </c:ext>
          </c:extLst>
        </c:ser>
        <c:ser>
          <c:idx val="3"/>
          <c:order val="3"/>
          <c:tx>
            <c:strRef>
              <c:f>Sheet4!$G$18</c:f>
              <c:strCache>
                <c:ptCount val="1"/>
                <c:pt idx="0">
                  <c:v>scenario 2 node= 200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Sheet4!$G$19:$G$29</c:f>
              <c:numCache>
                <c:formatCode>General</c:formatCode>
                <c:ptCount val="11"/>
                <c:pt idx="0">
                  <c:v>800</c:v>
                </c:pt>
                <c:pt idx="1">
                  <c:v>620</c:v>
                </c:pt>
                <c:pt idx="2">
                  <c:v>457</c:v>
                </c:pt>
                <c:pt idx="3">
                  <c:v>296</c:v>
                </c:pt>
                <c:pt idx="4">
                  <c:v>169</c:v>
                </c:pt>
                <c:pt idx="5">
                  <c:v>83</c:v>
                </c:pt>
                <c:pt idx="6">
                  <c:v>33</c:v>
                </c:pt>
                <c:pt idx="7">
                  <c:v>10</c:v>
                </c:pt>
                <c:pt idx="8">
                  <c:v>2.2999999999999998</c:v>
                </c:pt>
                <c:pt idx="9">
                  <c:v>0.36</c:v>
                </c:pt>
                <c:pt idx="10">
                  <c:v>6.9000000000000006E-2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34E-4681-92AA-54D7BF54D148}"/>
            </c:ext>
          </c:extLst>
        </c:ser>
        <c:ser>
          <c:idx val="4"/>
          <c:order val="4"/>
          <c:tx>
            <c:strRef>
              <c:f>Sheet4!$H$18</c:f>
              <c:strCache>
                <c:ptCount val="1"/>
                <c:pt idx="0">
                  <c:v>scenario 1 node= 300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Sheet4!$H$19:$H$29</c:f>
              <c:numCache>
                <c:formatCode>General</c:formatCode>
                <c:ptCount val="11"/>
                <c:pt idx="0">
                  <c:v>1200</c:v>
                </c:pt>
                <c:pt idx="1">
                  <c:v>1032</c:v>
                </c:pt>
                <c:pt idx="2">
                  <c:v>849</c:v>
                </c:pt>
                <c:pt idx="3">
                  <c:v>688</c:v>
                </c:pt>
                <c:pt idx="4">
                  <c:v>527</c:v>
                </c:pt>
                <c:pt idx="5">
                  <c:v>356</c:v>
                </c:pt>
                <c:pt idx="6">
                  <c:v>208</c:v>
                </c:pt>
                <c:pt idx="7">
                  <c:v>90</c:v>
                </c:pt>
                <c:pt idx="8">
                  <c:v>14</c:v>
                </c:pt>
                <c:pt idx="9">
                  <c:v>0.121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34E-4681-92AA-54D7BF54D148}"/>
            </c:ext>
          </c:extLst>
        </c:ser>
        <c:ser>
          <c:idx val="5"/>
          <c:order val="5"/>
          <c:tx>
            <c:strRef>
              <c:f>Sheet4!$I$18</c:f>
              <c:strCache>
                <c:ptCount val="1"/>
                <c:pt idx="0">
                  <c:v>scenario 2 node=  300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Sheet4!$C$19:$C$29</c:f>
              <c:numCache>
                <c:formatCode>General</c:formatCode>
                <c:ptCount val="11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  <c:pt idx="3">
                  <c:v>3000</c:v>
                </c:pt>
                <c:pt idx="4">
                  <c:v>4000</c:v>
                </c:pt>
                <c:pt idx="5">
                  <c:v>5000</c:v>
                </c:pt>
                <c:pt idx="6">
                  <c:v>6000</c:v>
                </c:pt>
                <c:pt idx="7">
                  <c:v>7000</c:v>
                </c:pt>
                <c:pt idx="8">
                  <c:v>8000</c:v>
                </c:pt>
                <c:pt idx="9">
                  <c:v>9000</c:v>
                </c:pt>
                <c:pt idx="10">
                  <c:v>10000</c:v>
                </c:pt>
              </c:numCache>
            </c:numRef>
          </c:cat>
          <c:val>
            <c:numRef>
              <c:f>Sheet4!$I$19:$I$29</c:f>
              <c:numCache>
                <c:formatCode>General</c:formatCode>
                <c:ptCount val="11"/>
                <c:pt idx="0">
                  <c:v>1200</c:v>
                </c:pt>
                <c:pt idx="1">
                  <c:v>940</c:v>
                </c:pt>
                <c:pt idx="2">
                  <c:v>690</c:v>
                </c:pt>
                <c:pt idx="3">
                  <c:v>466</c:v>
                </c:pt>
                <c:pt idx="4">
                  <c:v>279</c:v>
                </c:pt>
                <c:pt idx="5">
                  <c:v>148</c:v>
                </c:pt>
                <c:pt idx="6">
                  <c:v>67</c:v>
                </c:pt>
                <c:pt idx="7">
                  <c:v>25</c:v>
                </c:pt>
                <c:pt idx="8">
                  <c:v>8.08</c:v>
                </c:pt>
                <c:pt idx="9">
                  <c:v>1.32</c:v>
                </c:pt>
                <c:pt idx="10">
                  <c:v>0.1492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34E-4681-92AA-54D7BF54D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4490848"/>
        <c:axId val="894497088"/>
      </c:lineChart>
      <c:catAx>
        <c:axId val="8944908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dirty="0"/>
                  <a:t>Rounds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94497088"/>
        <c:crosses val="autoZero"/>
        <c:auto val="1"/>
        <c:lblAlgn val="ctr"/>
        <c:lblOffset val="100"/>
        <c:noMultiLvlLbl val="0"/>
      </c:catAx>
      <c:valAx>
        <c:axId val="89449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/>
                  <a:t>Residual Energy (J)</a:t>
                </a:r>
              </a:p>
            </c:rich>
          </c:tx>
          <c:layout>
            <c:manualLayout>
              <c:xMode val="edge"/>
              <c:yMode val="edge"/>
              <c:x val="8.6956521739130432E-2"/>
              <c:y val="0.127240792909926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944908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 b="1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1750-8C24-49F5-9016-B8F2876CEDD8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FAA5-B43E-4DD7-8EA7-6B032794BAA3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00DC-DA3E-4BF2-BC8A-EB519D7EBAAB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90-8A37-41A9-8888-66BCEE09D009}" type="datetime5">
              <a:rPr lang="en-US" smtClean="0"/>
              <a:t>28-Aug-25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E23-5B90-46E2-B161-1CF1010C2FF7}" type="datetime5">
              <a:rPr lang="en-US" smtClean="0"/>
              <a:t>28-Aug-25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28-Aug-25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19EC-47E5-4BB3-B729-B20CF2085387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3C1-9EB5-4BCF-9D4F-DC1CF5F78D83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D09-20CD-4314-BBC5-3DB0F78EAA38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5159-8A95-45A4-8BB8-B19D17D5F1AD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5179-4F8E-41AA-B3D4-C73240EB2FAB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844" y="2458955"/>
            <a:ext cx="9268897" cy="1444498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2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ENHANCED CLUSTERING AND ROUTING MECHANISM FOR ENERGY EFFICIENT COMMUNICATION IN WIRELESS SENSOR NETWORKS</a:t>
            </a:r>
            <a:endParaRPr lang="en-US" sz="22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640" y="4294572"/>
            <a:ext cx="10829307" cy="228694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							Under the guidance of :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SRINATH S ( 2024616026)						Dr. VASIM BABU</a:t>
            </a:r>
          </a:p>
          <a:p>
            <a:pPr algn="just">
              <a:lnSpc>
                <a:spcPct val="11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 Wireless Technologies.					                Assistant Professor,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Dept of Electronics Engineering,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     Madras Institute of Technology,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Anna University.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71950" lvl="8" indent="-514350" algn="just">
              <a:buAutoNum type="arabicParenR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0" y="479976"/>
            <a:ext cx="12191998" cy="144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I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15352" y="601479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D5F9C26-4945-5FE4-DDC4-33BD0FCC885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B5DA-A58A-4DD0-9FB5-AF2B58A67481}" type="datetime5">
              <a:rPr lang="en-US" smtClean="0"/>
              <a:t>28-Aug-25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74935-AD8F-77F0-A56E-08419F8EB070}"/>
              </a:ext>
            </a:extLst>
          </p:cNvPr>
          <p:cNvSpPr txBox="1"/>
          <p:nvPr/>
        </p:nvSpPr>
        <p:spPr>
          <a:xfrm>
            <a:off x="2108559" y="1872987"/>
            <a:ext cx="60945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Methodology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 Chart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flow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and Discussion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pPr algn="ctr"/>
            <a:endParaRPr lang="en-US" sz="2400" b="1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solidFill>
                  <a:srgbClr val="44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4001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novel, clustering algorithm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resource-aware routing protocol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achieve balanced workload distribution and mitigate hotspots, enhancing network lifetime.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 aims to enable real-time adaptation with minimal re-clustering and low communication overhead.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hybrid algorithm, combining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will be validated through simulations and hardware testing for superior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D4654D-17B9-55B9-8196-85ACF9C2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B1AC-1329-F707-EAF4-3332EB62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32CC006-0547-451E-F0D9-FD180131E764}"/>
              </a:ext>
            </a:extLst>
          </p:cNvPr>
          <p:cNvSpPr txBox="1"/>
          <p:nvPr/>
        </p:nvSpPr>
        <p:spPr>
          <a:xfrm>
            <a:off x="746022" y="2094484"/>
            <a:ext cx="10699955" cy="3026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organizes sensor nodes into smaller groups to manage communication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cluster has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Head (CH)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for coordination.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nodes, called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Members (CMs)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send their sensed data to the 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 aggregates and compresses the collected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data is then transmitted from CHs to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Station (BS)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reduces energy consumption and extends the overall network lifetime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55F3D-8E9C-1213-AFE0-A395579F5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69EB21E2-F416-4BA8-2FF1-7E55340F095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B4DBE-4018-4197-F925-758758C9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4864-4A55-D1A6-BF86-614F30F1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1DFB551-57C9-3019-A4EC-F864283B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3A2D7-EA32-E4DA-A118-F788A44D4327}"/>
              </a:ext>
            </a:extLst>
          </p:cNvPr>
          <p:cNvSpPr txBox="1"/>
          <p:nvPr/>
        </p:nvSpPr>
        <p:spPr>
          <a:xfrm>
            <a:off x="3385566" y="918379"/>
            <a:ext cx="48531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in WSN</a:t>
            </a:r>
          </a:p>
        </p:txBody>
      </p:sp>
    </p:spTree>
    <p:extLst>
      <p:ext uri="{BB962C8B-B14F-4D97-AF65-F5344CB8AC3E}">
        <p14:creationId xmlns:p14="http://schemas.microsoft.com/office/powerpoint/2010/main" val="309948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E846-4686-0E80-CB9C-39B52FD6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9E18FB-277E-5934-520C-19085C0B3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B9FA371A-5B81-690A-09E3-5BBCB2A7385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27677-9712-63AC-A313-F54A16DD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20BB-0D52-9E73-0280-9B3952D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EA1DDB-4526-1CC8-8128-9FEC80EC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BE2AD-277E-FA8D-55B9-F052C0C5EFD2}"/>
              </a:ext>
            </a:extLst>
          </p:cNvPr>
          <p:cNvSpPr txBox="1"/>
          <p:nvPr/>
        </p:nvSpPr>
        <p:spPr>
          <a:xfrm>
            <a:off x="1362456" y="2119446"/>
            <a:ext cx="9781032" cy="358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 communication of every node with BS causes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energy consumption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 far from BS die quickly due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transmission distances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CH selection may overload weak nodes and reduce network lifetime.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 selection ensures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energy distribution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all nodes.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lifetime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energy drain.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preventing early node deaths.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 networks.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90994-82D1-891A-FCF9-7A1ACE2468FE}"/>
              </a:ext>
            </a:extLst>
          </p:cNvPr>
          <p:cNvSpPr txBox="1"/>
          <p:nvPr/>
        </p:nvSpPr>
        <p:spPr>
          <a:xfrm>
            <a:off x="3275838" y="707355"/>
            <a:ext cx="6094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Cluster Head Selection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23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BB14-D539-04A6-F75F-2CE4EF3B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9D5205-7F81-7CBB-8E0A-ABB9B2294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632" y="327327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14A5DC7-49E0-C42B-B066-54268EF59344}"/>
              </a:ext>
            </a:extLst>
          </p:cNvPr>
          <p:cNvSpPr/>
          <p:nvPr/>
        </p:nvSpPr>
        <p:spPr>
          <a:xfrm>
            <a:off x="9878259" y="327327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69DBF-5B0F-DB95-088F-8331EA81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E5902-25BB-BFF4-7DA7-7893FEFFD81D}"/>
              </a:ext>
            </a:extLst>
          </p:cNvPr>
          <p:cNvSpPr txBox="1"/>
          <p:nvPr/>
        </p:nvSpPr>
        <p:spPr>
          <a:xfrm>
            <a:off x="2918968" y="360590"/>
            <a:ext cx="66393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ctr"/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ISSA+PSO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7A0E1-D98E-FD99-6DE4-410A11347B92}"/>
              </a:ext>
            </a:extLst>
          </p:cNvPr>
          <p:cNvSpPr txBox="1"/>
          <p:nvPr/>
        </p:nvSpPr>
        <p:spPr>
          <a:xfrm>
            <a:off x="643255" y="1723138"/>
            <a:ext cx="11190732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Squirrel Search Algorithm(ISSA)</a:t>
            </a:r>
          </a:p>
          <a:p>
            <a:endParaRPr lang="en-IN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Squirrel Search Algorithm (ISSA)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nature-inspired metaheuristic based on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gliding and food-searching behavior of flying squirrels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mechanisms in ISSA:</a:t>
            </a:r>
            <a:endParaRPr lang="en-US" alt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Population Initialization: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initial solutions closer to optimal regions,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Dynamic Step Size Control: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adaptively adjusts the search step to balance exploration of new solutions and exploitation of good ones.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Local Search Mechanism: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refines promising solutions through neighborhood search for higher accuracy.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Monitoring &amp; Lévy Flight: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ISSA avoid local optima and explore globally.</a:t>
            </a:r>
          </a:p>
        </p:txBody>
      </p:sp>
    </p:spTree>
    <p:extLst>
      <p:ext uri="{BB962C8B-B14F-4D97-AF65-F5344CB8AC3E}">
        <p14:creationId xmlns:p14="http://schemas.microsoft.com/office/powerpoint/2010/main" val="105096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6A7C-5066-EFD1-0A66-73849B3E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91176B-C09A-B5A9-79DB-D25CB5969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5FD309CC-E95A-DDAB-0179-97F5B36AA12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DB25A-38C4-09C6-A441-47BA6E73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3D9E7-FFEB-53F1-994E-71A52C70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B1B7E-DC9C-1430-EEFA-0BF25D67BD5D}"/>
                  </a:ext>
                </a:extLst>
              </p:cNvPr>
              <p:cNvSpPr txBox="1"/>
              <p:nvPr/>
            </p:nvSpPr>
            <p:spPr>
              <a:xfrm>
                <a:off x="1925509" y="1412265"/>
                <a:ext cx="9840921" cy="5002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ISSA selects CHs based on multiple criteria: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Residual Energy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Prefer nodes with higher energy.</a:t>
                </a:r>
              </a:p>
              <a:p>
                <a:pPr marL="164250"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14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CH’s current energy</a:t>
                </a:r>
              </a:p>
              <a:p>
                <a:pPr marL="450000"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Intra-cluster Distance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Minimize member-to-CH distance.</a:t>
                </a:r>
              </a:p>
              <a:p>
                <a:pPr marL="164250"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 algn="ctr"/>
                <a:r>
                  <a:rPr lang="en-IN" sz="200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IN" sz="2000" i="1" dirty="0" err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sk</m:t>
                                </m:r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𝒔𝒌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among sink and CHj</a:t>
                </a:r>
              </a:p>
              <a:p>
                <a:pPr marL="450000" lvl="1"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</m:e>
                      <m:sub>
                        <m:r>
                          <a:rPr lang="en-IN" sz="14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IN" sz="1400" b="1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No. of SNs in the cluster j</a:t>
                </a:r>
              </a:p>
              <a:p>
                <a:pPr marL="450000" lvl="1" algn="ctr"/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Sink Distance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IN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 closer to BS is preferred.</a:t>
                </a:r>
              </a:p>
              <a:p>
                <a:pPr marL="164250"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0000" lvl="1"/>
                <a:r>
                  <a:rPr lang="en-IN" sz="2000" dirty="0"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I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IN" sz="2000" i="1" dirty="0" err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IN" sz="20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IN" sz="20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2000" i="1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IN" sz="20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𝐵𝑆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 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IN" sz="14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sSub>
                          <m:sSubPr>
                            <m:ctrlPr>
                              <a:rPr lang="en-IN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IN" sz="1400" b="1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𝑩𝑺</m:t>
                        </m:r>
                      </m:sub>
                    </m:sSub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CHj and BS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BB1B7E-DC9C-1430-EEFA-0BF25D67B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509" y="1412265"/>
                <a:ext cx="9840921" cy="5002973"/>
              </a:xfrm>
              <a:prstGeom prst="rect">
                <a:avLst/>
              </a:prstGeom>
              <a:blipFill>
                <a:blip r:embed="rId5"/>
                <a:stretch>
                  <a:fillRect l="-682" t="-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B5AEDFB-C20B-8E7B-74CB-E4A4665A9AA2}"/>
              </a:ext>
            </a:extLst>
          </p:cNvPr>
          <p:cNvSpPr txBox="1"/>
          <p:nvPr/>
        </p:nvSpPr>
        <p:spPr>
          <a:xfrm>
            <a:off x="3048762" y="49753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ISSA for Cluster Head Selection</a:t>
            </a:r>
          </a:p>
        </p:txBody>
      </p:sp>
    </p:spTree>
    <p:extLst>
      <p:ext uri="{BB962C8B-B14F-4D97-AF65-F5344CB8AC3E}">
        <p14:creationId xmlns:p14="http://schemas.microsoft.com/office/powerpoint/2010/main" val="129675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9ECB-2662-FB7F-DC40-3C886D9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267A58-1C50-2C02-07A7-8C7671154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FE89BB6-2C4D-CE41-C609-C97598327B5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B8526-06AA-5002-B296-60C555A7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DBC6-BF93-AE98-16A9-DD6479E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625591-F266-A290-B7DB-03F2BEF6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419AF7-D911-096D-F0D3-FCF2C8C564F5}"/>
                  </a:ext>
                </a:extLst>
              </p:cNvPr>
              <p:cNvSpPr txBox="1"/>
              <p:nvPr/>
            </p:nvSpPr>
            <p:spPr>
              <a:xfrm>
                <a:off x="1315720" y="2008322"/>
                <a:ext cx="9802368" cy="4081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Cluster Balance Factor (f4):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Maintain equal cluster sizes.</a:t>
                </a:r>
              </a:p>
              <a:p>
                <a:pPr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000" b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IN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p>
                      <m:e>
                        <m:d>
                          <m:dPr>
                            <m:begChr m:val=""/>
                            <m:endChr m:val=""/>
                            <m:ctrlP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𝒎</m:t>
                                </m:r>
                              </m:den>
                            </m:f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000" b="1" i="1" dirty="0" err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1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𝒍</m:t>
                                </m:r>
                              </m:e>
                              <m:sub>
                                <m:r>
                                  <a:rPr lang="en-IN" sz="2000" b="1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		</a:t>
                </a:r>
                <a:r>
                  <a:rPr lang="en-US" sz="2000" dirty="0"/>
                  <a:t> 	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overall number of live SNs </a:t>
                </a:r>
              </a:p>
              <a:p>
                <a:pPr lvl="1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                                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overall number of CHs</a:t>
                </a:r>
                <a:endPara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Fitness function:</a:t>
                </a:r>
              </a:p>
              <a:p>
                <a:pPr lvl="1"/>
                <a:endParaRPr lang="en-I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</m:t>
                      </m:r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𝒄</m:t>
                      </m:r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IN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IN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𝒄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				 </a:t>
                </a: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			where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 b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 values and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+ b + c = 1</a:t>
                </a:r>
                <a:endPara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419AF7-D911-096D-F0D3-FCF2C8C5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720" y="2008322"/>
                <a:ext cx="9802368" cy="4081887"/>
              </a:xfrm>
              <a:prstGeom prst="rect">
                <a:avLst/>
              </a:prstGeom>
              <a:blipFill>
                <a:blip r:embed="rId5"/>
                <a:stretch>
                  <a:fillRect t="-7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F99C135-75D0-2A36-2C72-625D76B344E4}"/>
              </a:ext>
            </a:extLst>
          </p:cNvPr>
          <p:cNvSpPr txBox="1"/>
          <p:nvPr/>
        </p:nvSpPr>
        <p:spPr>
          <a:xfrm>
            <a:off x="2964942" y="901306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ISSA for Cluster Head Selection</a:t>
            </a:r>
          </a:p>
        </p:txBody>
      </p:sp>
    </p:spTree>
    <p:extLst>
      <p:ext uri="{BB962C8B-B14F-4D97-AF65-F5344CB8AC3E}">
        <p14:creationId xmlns:p14="http://schemas.microsoft.com/office/powerpoint/2010/main" val="208403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EE71-DCBB-7BA0-C1F9-1AA2104A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833C75-51D7-CCDF-4CE9-972570B61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6977" y="24067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2F6D9954-9AE9-2913-76F8-2A2D36D31C31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48A43-84A3-0B6F-E4AB-1E49C76D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FA78C-5ED6-D96C-53AA-D882D76E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DF03FD-3B13-79E6-97A6-E7974E5B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3F8FB-2F51-916C-21B7-6320D7FBDB8D}"/>
              </a:ext>
            </a:extLst>
          </p:cNvPr>
          <p:cNvSpPr txBox="1"/>
          <p:nvPr/>
        </p:nvSpPr>
        <p:spPr>
          <a:xfrm>
            <a:off x="4038600" y="277338"/>
            <a:ext cx="6094476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0058D-9674-EA03-AB98-AC7C470A31D1}"/>
                  </a:ext>
                </a:extLst>
              </p:cNvPr>
              <p:cNvSpPr txBox="1"/>
              <p:nvPr/>
            </p:nvSpPr>
            <p:spPr>
              <a:xfrm>
                <a:off x="838200" y="1307621"/>
                <a:ext cx="11074879" cy="5044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Transmission energy</a:t>
                </a:r>
                <a:endParaRPr lang="en-I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𝑻𝑿</m:t>
                        </m:r>
                      </m:sub>
                    </m:sSub>
                    <m:d>
                      <m:dPr>
                        <m:ctrlP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</m:d>
                    <m:r>
                      <a:rPr lang="en-IN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IN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𝒍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𝒆𝒍𝒆𝒄</m:t>
                                </m:r>
                              </m:sub>
                            </m:s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+ 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𝒍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𝝐</m:t>
                                </m:r>
                              </m:e>
                              <m: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𝒇𝒔</m:t>
                                </m:r>
                              </m:sub>
                            </m:s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𝒅</m:t>
                                </m:r>
                              </m:e>
                              <m:sup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&lt; 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m:rPr>
                                <m:nor/>
                              </m:rPr>
                              <a:rPr lang="en-US" sz="20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𝒍</m:t>
                            </m:r>
                            <m:sSub>
                              <m:sSubPr>
                                <m:ctrlPr>
                                  <a:rPr lang="en-US" sz="2000" b="1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∗ 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𝒆𝒍𝒆𝒄</m:t>
                                </m:r>
                              </m:sub>
                            </m:sSub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 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𝒍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sz="2000" b="1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𝝐</m:t>
                                </m:r>
                              </m:e>
                              <m:sub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𝒎𝒑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000" b="1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𝒅</m:t>
                                </m:r>
                              </m:e>
                              <m:sup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p>
                            </m:sSup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≥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_</m:t>
                            </m:r>
                            <m:r>
                              <a:rPr lang="en-IN" sz="20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</a:t>
                </a: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</m:oMath>
                </a14:m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packet length (in bits)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𝒆𝒍𝒆𝒄</m:t>
                        </m:r>
                      </m:sub>
                    </m:sSub>
                    <m:r>
                      <a:rPr lang="en-US" sz="1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Circuitry energy 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            					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𝒇𝒔</m:t>
                        </m:r>
                      </m:sub>
                    </m:sSub>
                    <m:r>
                      <a:rPr lang="en-US" sz="1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Free space amplification energy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                            					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𝝐</m:t>
                        </m:r>
                      </m:e>
                      <m:sub>
                        <m:r>
                          <a:rPr lang="en-IN" sz="14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𝒎𝒑</m:t>
                        </m:r>
                      </m:sub>
                    </m:sSub>
                    <m:r>
                      <a:rPr lang="en-IN" sz="14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Multipath fading amplification energy</a:t>
                </a:r>
                <a:endParaRPr lang="en-I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Reception Energy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𝑹𝑿</m:t>
                          </m:r>
                        </m:sub>
                      </m:sSub>
                      <m:d>
                        <m:d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</m:d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1" i="1" dirty="0" err="1">
                          <a:latin typeface="Cambria Math" panose="02040503050406030204" pitchFamily="18" charset="0"/>
                        </a:rPr>
                        <m:t>𝒍</m:t>
                      </m:r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∗ </m:t>
                          </m:r>
                          <m:r>
                            <a:rPr lang="en-IN" sz="2000" b="1" i="1" dirty="0" err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2000" b="1" i="1" dirty="0" err="1">
                              <a:latin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Energy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𝑻𝑿</m:t>
                          </m:r>
                        </m:sub>
                      </m:sSub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𝑹𝑿</m:t>
                          </m:r>
                        </m:sub>
                      </m:sSub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B0058D-9674-EA03-AB98-AC7C470A3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07621"/>
                <a:ext cx="11074879" cy="5044330"/>
              </a:xfrm>
              <a:prstGeom prst="rect">
                <a:avLst/>
              </a:prstGeom>
              <a:blipFill>
                <a:blip r:embed="rId5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922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65AF-6D69-C28A-118C-8AD06E64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A5239F-875B-1A8E-F121-D7D948E10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290487DD-A1B9-9EAD-1722-1DFB02056DDA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79661-B875-F496-3084-8DA9EBA7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006A-428B-3E48-1F53-B38AC34D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EA1AB48-BD08-8472-87F0-1866B248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876B6-336E-3A0A-5E88-6CA0CA799535}"/>
              </a:ext>
            </a:extLst>
          </p:cNvPr>
          <p:cNvSpPr txBox="1"/>
          <p:nvPr/>
        </p:nvSpPr>
        <p:spPr>
          <a:xfrm>
            <a:off x="2556891" y="880414"/>
            <a:ext cx="707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swarm optimization 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061D8-9582-8600-1B3F-C61CB66A6514}"/>
              </a:ext>
            </a:extLst>
          </p:cNvPr>
          <p:cNvSpPr txBox="1"/>
          <p:nvPr/>
        </p:nvSpPr>
        <p:spPr>
          <a:xfrm>
            <a:off x="1392881" y="2066198"/>
            <a:ext cx="9317736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population-based metaheuristic inspired by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behavior of bird flocking and fish schooling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potential solution is called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represented by a position and velocity in a search space.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Particles move by updating their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own best experience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best solution found by the swarm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94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0ECD-32B7-AC39-AE8E-75E76E27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FF6C1D-32B0-2F0E-5A21-103E64FCD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400" y="26606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1F085AD4-2252-C7C4-1614-2C1E504FD29C}"/>
              </a:ext>
            </a:extLst>
          </p:cNvPr>
          <p:cNvSpPr/>
          <p:nvPr/>
        </p:nvSpPr>
        <p:spPr>
          <a:xfrm>
            <a:off x="9913249" y="266060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54085-A403-6643-77C6-469771A8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28-Aug-25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736EC-1558-7838-09AA-B34E077C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6793CE4-C59E-4868-5B90-78FEF5DD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9C0AF-CF9E-E5CC-D5A3-14CC95E9BF91}"/>
              </a:ext>
            </a:extLst>
          </p:cNvPr>
          <p:cNvSpPr txBox="1"/>
          <p:nvPr/>
        </p:nvSpPr>
        <p:spPr>
          <a:xfrm>
            <a:off x="2558415" y="559085"/>
            <a:ext cx="7075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swarm optimization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745F22-D8C8-1C4D-AF0F-D2CD3A0270E4}"/>
                  </a:ext>
                </a:extLst>
              </p:cNvPr>
              <p:cNvSpPr txBox="1"/>
              <p:nvPr/>
            </p:nvSpPr>
            <p:spPr>
              <a:xfrm>
                <a:off x="1397000" y="1337648"/>
                <a:ext cx="7285482" cy="5056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Particle position</a:t>
                </a:r>
                <a:b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</a:rPr>
                                <m:t>𝒊𝑫</m:t>
                              </m:r>
                            </m:sub>
                          </m:sSub>
                        </m:e>
                      </m:d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Particle velocity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IN" sz="20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</a:rPr>
                                <m:t>𝒊𝑫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local position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IN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IN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IN" sz="2000" b="1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𝒊𝑫</m:t>
                              </m:r>
                            </m:sub>
                          </m:sSub>
                        </m:e>
                      </m:d>
                      <m:r>
                        <a:rPr lang="en-IN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IN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update rule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bSup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,  </m:t>
                      </m:r>
                      <m:r>
                        <a:rPr lang="en-US" sz="2000" b="1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</m:oMath>
                  </m:oMathPara>
                </a14:m>
                <a:endPara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 update rule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r>
                        <a:rPr lang="en-US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</m:d>
                        </m:sup>
                      </m:sSubSup>
                      <m:r>
                        <a:rPr lang="en-US" sz="20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𝒑𝒃𝒆𝒔</m:t>
                          </m:r>
                          <m:sSubSup>
                            <m:sSubSupPr>
                              <m:ctrlP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sz="20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𝒈𝒃𝒆𝒔𝒕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745F22-D8C8-1C4D-AF0F-D2CD3A027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1337648"/>
                <a:ext cx="7285482" cy="5056384"/>
              </a:xfrm>
              <a:prstGeom prst="rect">
                <a:avLst/>
              </a:prstGeom>
              <a:blipFill>
                <a:blip r:embed="rId5"/>
                <a:stretch>
                  <a:fillRect l="-8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E83152-6C89-F095-3AA4-1E269A23C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33985"/>
              </p:ext>
            </p:extLst>
          </p:nvPr>
        </p:nvGraphicFramePr>
        <p:xfrm>
          <a:off x="8221407" y="1515740"/>
          <a:ext cx="3748744" cy="4004612"/>
        </p:xfrm>
        <a:graphic>
          <a:graphicData uri="http://schemas.openxmlformats.org/drawingml/2006/table">
            <a:tbl>
              <a:tblPr/>
              <a:tblGrid>
                <a:gridCol w="636142">
                  <a:extLst>
                    <a:ext uri="{9D8B030D-6E8A-4147-A177-3AD203B41FA5}">
                      <a16:colId xmlns:a16="http://schemas.microsoft.com/office/drawing/2014/main" val="294721247"/>
                    </a:ext>
                  </a:extLst>
                </a:gridCol>
                <a:gridCol w="3112602">
                  <a:extLst>
                    <a:ext uri="{9D8B030D-6E8A-4147-A177-3AD203B41FA5}">
                      <a16:colId xmlns:a16="http://schemas.microsoft.com/office/drawing/2014/main" val="4127657382"/>
                    </a:ext>
                  </a:extLst>
                </a:gridCol>
              </a:tblGrid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88433"/>
                  </a:ext>
                </a:extLst>
              </a:tr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Particle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4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's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position vector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227667"/>
                  </a:ext>
                </a:extLst>
              </a:tr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Particle 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4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's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velocity vector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814066"/>
                  </a:ext>
                </a:extLst>
              </a:tr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4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Particle i</a:t>
                      </a:r>
                      <a:r>
                        <a:rPr lang="en-IN" sz="14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's personal best position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70762"/>
                  </a:ext>
                </a:extLst>
              </a:tr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pbesti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Best-known position for particle </a:t>
                      </a:r>
                      <a:r>
                        <a:rPr lang="en-US" sz="14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3816"/>
                  </a:ext>
                </a:extLst>
              </a:tr>
              <a:tr h="57107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gbest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Best-known position for the entire swarm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17692"/>
                  </a:ext>
                </a:extLst>
              </a:tr>
              <a:tr h="4225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</a:t>
                      </a:r>
                      <a:r>
                        <a:rPr lang="en-IN" sz="14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&amp; social coefficients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81800"/>
                  </a:ext>
                </a:extLst>
              </a:tr>
              <a:tr h="57107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</a:t>
                      </a:r>
                      <a:r>
                        <a:rPr lang="en-IN" sz="14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</a:t>
                      </a: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numbers for stochastic effect</a:t>
                      </a: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267685"/>
                  </a:ext>
                </a:extLst>
              </a:tr>
              <a:tr h="32701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Dimensionality of the problem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36261" marB="3626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53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80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4AD1-8372-E589-84C8-F1DB4EE9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AD-8F8C-E4A9-5533-32986299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34" y="174440"/>
            <a:ext cx="6875253" cy="6572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FB86F-8691-D44A-AFE4-3EE703965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1CFA336F-DEB7-5FCE-C5CA-B1DC84BE6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64F76-28A6-667C-3EA4-0CDB22B6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4D263-403D-FC72-5293-2BD2EDC1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BBF63C0-1781-8F7A-50EB-9E0645D3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pic>
        <p:nvPicPr>
          <p:cNvPr id="2050" name="Picture 2" descr="Clean and professional flowchart image for WSN clustering project steps as specified">
            <a:extLst>
              <a:ext uri="{FF2B5EF4-FFF2-40B4-BE49-F238E27FC236}">
                <a16:creationId xmlns:a16="http://schemas.microsoft.com/office/drawing/2014/main" id="{03E1026C-D7CF-BE1E-AB62-9FE6E84A7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2"/>
          <a:stretch>
            <a:fillRect/>
          </a:stretch>
        </p:blipFill>
        <p:spPr bwMode="auto">
          <a:xfrm>
            <a:off x="3005328" y="1196808"/>
            <a:ext cx="5727192" cy="51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4ABD51-3A41-A16D-1E75-3AF9299A2FCE}"/>
              </a:ext>
            </a:extLst>
          </p:cNvPr>
          <p:cNvSpPr txBox="1"/>
          <p:nvPr/>
        </p:nvSpPr>
        <p:spPr>
          <a:xfrm>
            <a:off x="5562730" y="849406"/>
            <a:ext cx="106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DB6D96-9515-8AE9-252C-822EDCE92738}"/>
              </a:ext>
            </a:extLst>
          </p:cNvPr>
          <p:cNvCxnSpPr/>
          <p:nvPr/>
        </p:nvCxnSpPr>
        <p:spPr>
          <a:xfrm>
            <a:off x="4369308" y="6356350"/>
            <a:ext cx="29992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B6E461-B6ED-1DB9-824C-C33F3B3D9934}"/>
              </a:ext>
            </a:extLst>
          </p:cNvPr>
          <p:cNvCxnSpPr/>
          <p:nvPr/>
        </p:nvCxnSpPr>
        <p:spPr>
          <a:xfrm>
            <a:off x="7368540" y="6099048"/>
            <a:ext cx="6964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47E951-6AF2-AA74-F08A-CBEAEC4A4253}"/>
              </a:ext>
            </a:extLst>
          </p:cNvPr>
          <p:cNvSpPr txBox="1"/>
          <p:nvPr/>
        </p:nvSpPr>
        <p:spPr>
          <a:xfrm>
            <a:off x="8120132" y="5914382"/>
            <a:ext cx="106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C9369F-BE12-709D-5D0B-F0EBD269B9DE}"/>
              </a:ext>
            </a:extLst>
          </p:cNvPr>
          <p:cNvSpPr txBox="1"/>
          <p:nvPr/>
        </p:nvSpPr>
        <p:spPr>
          <a:xfrm>
            <a:off x="6013704" y="2399903"/>
            <a:ext cx="1066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endParaRPr lang="en-IN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4419AE-FC04-3058-9A12-3793285C129E}"/>
              </a:ext>
            </a:extLst>
          </p:cNvPr>
          <p:cNvSpPr txBox="1"/>
          <p:nvPr/>
        </p:nvSpPr>
        <p:spPr>
          <a:xfrm>
            <a:off x="3399978" y="2261403"/>
            <a:ext cx="1066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</a:t>
            </a:r>
            <a:endParaRPr lang="en-IN" sz="1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1BCF75-7DF0-A459-E59F-2E513F6F8636}"/>
              </a:ext>
            </a:extLst>
          </p:cNvPr>
          <p:cNvCxnSpPr>
            <a:cxnSpLocks/>
          </p:cNvCxnSpPr>
          <p:nvPr/>
        </p:nvCxnSpPr>
        <p:spPr>
          <a:xfrm flipV="1">
            <a:off x="3300984" y="6082736"/>
            <a:ext cx="10683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86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of the proposed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0082367-45A0-B29A-7C49-9EE75250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0BB21-958B-653B-C663-FAB821C5E474}"/>
              </a:ext>
            </a:extLst>
          </p:cNvPr>
          <p:cNvSpPr txBox="1"/>
          <p:nvPr/>
        </p:nvSpPr>
        <p:spPr>
          <a:xfrm>
            <a:off x="2631723" y="1368266"/>
            <a:ext cx="591688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Hybrid ISSA+PSO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random population of solutions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Calculate fitness of each solution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Save best solution of each candidate (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Save overall best solution (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maximum iterations: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each candidate: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- Move using ISSA rules (towards 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random reset, local search )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- Move using PSO rules (velocity + position update)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- Compare both moves, keep the better one</a:t>
            </a: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- Update 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improved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Update 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(best among all 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pbests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Repeat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gbest</a:t>
            </a:r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final best solution</a:t>
            </a:r>
          </a:p>
          <a:p>
            <a:endParaRPr lang="en-IN" sz="15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Hybrid ISSA+PSO</a:t>
            </a:r>
          </a:p>
        </p:txBody>
      </p:sp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9F276-6FC9-F532-E093-8C00A51D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AE9F07-289B-7219-AEE7-45F1EF22E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319372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B837E30D-823A-6FBC-72C0-A74CB7616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180" y="451389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81943-0507-A995-8E79-76641C86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1A621-759A-68B0-5F9C-1FB01FB6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B6AB37-9799-D32D-8716-47012DB3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50DD12-7848-2295-64DA-E7283131997B}"/>
              </a:ext>
            </a:extLst>
          </p:cNvPr>
          <p:cNvSpPr txBox="1"/>
          <p:nvPr/>
        </p:nvSpPr>
        <p:spPr>
          <a:xfrm>
            <a:off x="3048719" y="278266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DISCUSSION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21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FA89-7FD1-93FD-2F7D-46979867F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5DFEF8-22A6-1F6A-DDC6-B9F6A9F08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319372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E206E85E-FE8B-35D8-1AB4-99DC35AAB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180" y="451389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64C04-2603-F6DC-318F-4703B1CC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4661D-026B-6E18-3CFD-8F8CFA1D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9548E8E-1D89-3195-7F05-D3322EDE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00CCA6-864B-EE7F-EF5F-43489BC6C3A0}"/>
              </a:ext>
            </a:extLst>
          </p:cNvPr>
          <p:cNvSpPr txBox="1"/>
          <p:nvPr/>
        </p:nvSpPr>
        <p:spPr>
          <a:xfrm>
            <a:off x="3302287" y="745982"/>
            <a:ext cx="51305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SIMULATION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4274F5F-37AD-F7CE-779C-64E85E1F80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7272517"/>
                  </p:ext>
                </p:extLst>
              </p:nvPr>
            </p:nvGraphicFramePr>
            <p:xfrm>
              <a:off x="2140957" y="2322769"/>
              <a:ext cx="7453223" cy="36291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103298">
                      <a:extLst>
                        <a:ext uri="{9D8B030D-6E8A-4147-A177-3AD203B41FA5}">
                          <a16:colId xmlns:a16="http://schemas.microsoft.com/office/drawing/2014/main" val="3232653408"/>
                        </a:ext>
                      </a:extLst>
                    </a:gridCol>
                    <a:gridCol w="3349925">
                      <a:extLst>
                        <a:ext uri="{9D8B030D-6E8A-4147-A177-3AD203B41FA5}">
                          <a16:colId xmlns:a16="http://schemas.microsoft.com/office/drawing/2014/main" val="4744725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200*200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8389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Station Position (scenario 1)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(100,100)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47896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Station Position (scenario 2)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9151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No. of Sensor nodes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100,200,300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6970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Initial energy per node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J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7692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Percentage of CHs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5%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4957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Transmission Range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m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5977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Packet size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640 bytes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0490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14274F5F-37AD-F7CE-779C-64E85E1F80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7272517"/>
                  </p:ext>
                </p:extLst>
              </p:nvPr>
            </p:nvGraphicFramePr>
            <p:xfrm>
              <a:off x="2140957" y="2322769"/>
              <a:ext cx="7453223" cy="36291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103298">
                      <a:extLst>
                        <a:ext uri="{9D8B030D-6E8A-4147-A177-3AD203B41FA5}">
                          <a16:colId xmlns:a16="http://schemas.microsoft.com/office/drawing/2014/main" val="3232653408"/>
                        </a:ext>
                      </a:extLst>
                    </a:gridCol>
                    <a:gridCol w="3349925">
                      <a:extLst>
                        <a:ext uri="{9D8B030D-6E8A-4147-A177-3AD203B41FA5}">
                          <a16:colId xmlns:a16="http://schemas.microsoft.com/office/drawing/2014/main" val="474472590"/>
                        </a:ext>
                      </a:extLst>
                    </a:gridCol>
                  </a:tblGrid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Area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2545" t="-2667" r="-364" b="-7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8389107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Station Position (scenario 1)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(100,100)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4789639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Station Position (scenario 2)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(0,0)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91511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No. of Sensor nodes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100,200,300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697015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Initial energy per node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 J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7692672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Percentage of CHs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5%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49573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Transmission Range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 m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5977659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Packet size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640 bytes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04907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3654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45D1-7A50-0E8D-A4A4-86EF8704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82E5AD-9CA9-0FAE-35D9-74FD62D6D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319372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B90CE526-C8B8-ED56-802C-100AA696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180" y="451389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9B98F-18CB-CF86-A568-D46B9D6E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859F0-B5E5-02F5-AAD4-7BBE1C26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1A470DA-22E9-EDFC-4947-69DF660F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9C3F4-F942-9144-63B0-6352751D2921}"/>
              </a:ext>
            </a:extLst>
          </p:cNvPr>
          <p:cNvSpPr txBox="1"/>
          <p:nvPr/>
        </p:nvSpPr>
        <p:spPr>
          <a:xfrm>
            <a:off x="4446198" y="617834"/>
            <a:ext cx="3584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SETUP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51750FA-3F76-806F-C2A1-CE480E17C1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470" y="1483012"/>
            <a:ext cx="9401354" cy="458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75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4022-F1FA-8FDF-EE85-29EC71E3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5600-467C-888B-2F44-B4FE523F7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 Life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F0802-332C-6C4A-025E-90232FECF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CD5F84B6-1B4B-E0F2-5E3E-0059A0642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990AD-7775-9C16-5B25-DD6EA4B5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C9906-577F-CCAB-4C8B-AEF4605E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E069FDF-7688-9020-DCEB-2A72E7E9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3091284-D1A2-357A-D5DB-C731B7287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036747"/>
              </p:ext>
            </p:extLst>
          </p:nvPr>
        </p:nvGraphicFramePr>
        <p:xfrm>
          <a:off x="750497" y="1587260"/>
          <a:ext cx="10869283" cy="476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78430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05A8-CCCF-9B67-FA49-9339702E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EA17-42FA-6FCE-E8B5-3694D18B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Network Life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D2785-0879-E0FC-A48A-0310AB93F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3E88F8D-286C-E6EA-0515-59D927C20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796BD-0052-6F4C-F767-DE03A6C8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225B0-851D-FCFB-C7A1-76B84EBF7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52E191C-B265-8928-A8A4-C20F36A2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5417EA2-C2C3-9412-06F7-961CA8AF34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8779821"/>
              </p:ext>
            </p:extLst>
          </p:nvPr>
        </p:nvGraphicFramePr>
        <p:xfrm>
          <a:off x="838199" y="1613141"/>
          <a:ext cx="10515599" cy="460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7883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3D40-031B-1433-01D6-13A87875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C588-9FD4-1CBD-4AD0-7EA8D36F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Total Residual Energy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9FCCE-A695-72FB-EE72-4BB279D0B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EDBF9C9B-2EAA-13F6-D4F3-DAC1F91AA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C5050-DDAC-29D1-69DA-E92D16A0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1CF2F-069E-B4C5-BEAB-9673B4E4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DDF777E-5429-7F24-2744-C06EE0C9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DA0EB0B-23BB-6EBF-5E31-0D6AAF5323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104554"/>
              </p:ext>
            </p:extLst>
          </p:nvPr>
        </p:nvGraphicFramePr>
        <p:xfrm>
          <a:off x="232913" y="1705840"/>
          <a:ext cx="11685643" cy="4650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77619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AE7A-90A0-2DE1-50A1-3C426902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5102-BDD3-CF91-D1DE-51A98D24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Total Residual Energy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AE48A-6068-F430-C528-CBB6ADD80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D1CBF95-89DC-E6D7-74BF-DCD6F817A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A8CA4-D623-183E-283E-A2A6C979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661C2-38A3-F4EA-E73A-742F18EA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9C1D6B1-FD3D-E93B-927B-A6C9C4DC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83E69C1-8454-2C38-AF49-6416E9B608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364634"/>
              </p:ext>
            </p:extLst>
          </p:nvPr>
        </p:nvGraphicFramePr>
        <p:xfrm>
          <a:off x="508958" y="1705841"/>
          <a:ext cx="11409598" cy="4513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73019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693860"/>
              </p:ext>
            </p:extLst>
          </p:nvPr>
        </p:nvGraphicFramePr>
        <p:xfrm>
          <a:off x="838200" y="1825623"/>
          <a:ext cx="10515600" cy="336310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968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Work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37">
                <a:tc>
                  <a:txBody>
                    <a:bodyPr/>
                    <a:lstStyle/>
                    <a:p>
                      <a:pPr algn="just"/>
                      <a:r>
                        <a:rPr lang="en-IN" sz="22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Modeling, Algorithm Development and Simulation  For Clustering.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983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IN" sz="22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Development &amp; Simulation for Routing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016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Review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and Hardware Testing 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28-Aug-25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21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748CE9-8450-01C4-8B1C-995ADD30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44" y="1511947"/>
            <a:ext cx="10862912" cy="480218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Alshammri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G.H. Enhancing wireless sensor network lifespan and efficiency through improved cluster head selection using improved squirrel search algorithm. </a:t>
            </a:r>
            <a:r>
              <a:rPr lang="en-US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58, 79 (2025). https://doi.org/10.1007/s10462-024-11088-4.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Shafiq Alam, Gillian Dobbie.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on particle swarm optimization based clustering: A systematic review of literature and techniques, in Elsevier 2014 Swarm and Evolutionary Computation,</a:t>
            </a:r>
            <a:r>
              <a:rPr lang="fr-FR" sz="1200" dirty="0">
                <a:solidFill>
                  <a:srgbClr val="0272B1"/>
                </a:solidFill>
                <a:latin typeface="ElsevierSans"/>
              </a:rPr>
              <a:t>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17</a:t>
            </a:r>
            <a:r>
              <a:rPr lang="fr-FR" sz="17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,Pages 1-13 https://doi.org/10.1016/j.swevo.2014.02.001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Tawfeek, M.A.,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Alrashdi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Alruwaili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 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Improving energy efficiency and routing reliability in wireless sensor networks using modified ant colony optimization. 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Wireless Com Network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2025, 22 (2025). https://doi.org/10.1186/s13638-025-02449-w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C. Wang, X. Liu, H. Hu, Y. Han and M. Yao, "Energy-Efficient and Load-Balanced Clustering Routing Protocol for Wireless Sensor Networks Using a Chaotic Genetic Algorithm," in IEEE Access, vol. 8, pp. 158082-158096, 2020.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10.1109/ACCESS.2020.3020158.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Roy, K.; Kim, M.-K. Applying Quantum Search Algorithm to Select Energy-Efficient Cluster Heads in Wireless Sensor Networks. Electronics 2023, 12, 63. https://doi.org/10.3390/electronics12010063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444E-FE59-45DC-BB9B-AAC024F00222}" type="datetime5">
              <a:rPr lang="en-US" smtClean="0"/>
              <a:t>28-Aug-25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4FFC9D6-1FA1-8219-1E43-4177E7CA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538"/>
            <a:ext cx="10515600" cy="460381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Gupta et al., "Optimizing Cluster Head Selection for E-Commerce-Enabled Wireless Sensor Networks," in IEEE Transactions on Consumer Electronics, vol. 70, no. 1, pp. 1640-1647, Feb. 2024,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10.1109/TCE.2024.3360513.</a:t>
            </a: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Biradar and B.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Mathapathi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‘‘Secure, reliable and energy efficient routing in WSN: A systematic literature survey,’’ in Proc. Int. Conf. Adv.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Commun. Sustain. Technol. (ICAECT), Feb. 2021, pp. 1–13,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10.1109/ICAECT49130.2021.9392561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Shafiq, H. Ashraf, A. Ullah, and S. Tahira, ‘‘Systematic literature review on energy efficient routing schemes in WSN—A survey,’’ Mobile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Appl., vol. 25, no. 3, pp. 882–895, Jun. 2020.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O. A. Khashan, R. Ahmad, and N. M.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Khafajah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‘‘An automated lightweight encryption scheme for secure and energy-efficient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cation in wireless sensor networks,’’ Ad Hoc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115, Apr. 2021, Art. no. 102448.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Umbreen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Shehzad, N. Shafi, B. Khan, and U. Habib, “An energy efficient mobility-based cluster head selection for lifetime enhancement of wireless sensor networks,” IEEE Access, vol. 8, pp. 207779–207793, 2020,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10.1109/ACCESS.2020.3038031.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D49A-224E-41CF-A14E-748916EE6FD7}" type="datetime5">
              <a:rPr lang="en-US" smtClean="0"/>
              <a:t>28-Aug-25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23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4205615-8251-39BB-8E95-DD950317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BF58-157B-4866-9A02-7CA9EAA54E89}" type="datetime5">
              <a:rPr lang="en-US" smtClean="0"/>
              <a:t>28-Aug-25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E414329-C79E-BCC9-CA8C-C33F68E5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3653</TotalTime>
  <Words>1780</Words>
  <Application>Microsoft Office PowerPoint</Application>
  <PresentationFormat>Widescreen</PresentationFormat>
  <Paragraphs>266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ElsevierSans</vt:lpstr>
      <vt:lpstr>Times New Roman</vt:lpstr>
      <vt:lpstr>Wingdings</vt:lpstr>
      <vt:lpstr>Office Theme</vt:lpstr>
      <vt:lpstr>ENHANCED CLUSTERING AND ROUTING MECHANISM FOR ENERGY EFFICIENT COMMUNICATION IN WIRELESS SENSOR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CHART</vt:lpstr>
      <vt:lpstr>Pseudo code of the proposed Method</vt:lpstr>
      <vt:lpstr>PowerPoint Presentation</vt:lpstr>
      <vt:lpstr>PowerPoint Presentation</vt:lpstr>
      <vt:lpstr>PowerPoint Presentation</vt:lpstr>
      <vt:lpstr>Network Life Time</vt:lpstr>
      <vt:lpstr>Network Life Time</vt:lpstr>
      <vt:lpstr>Total Residual Energy</vt:lpstr>
      <vt:lpstr>Total Residual Energy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Srinath S</cp:lastModifiedBy>
  <cp:revision>129</cp:revision>
  <dcterms:created xsi:type="dcterms:W3CDTF">2024-08-14T09:59:13Z</dcterms:created>
  <dcterms:modified xsi:type="dcterms:W3CDTF">2025-08-28T06:33:52Z</dcterms:modified>
</cp:coreProperties>
</file>